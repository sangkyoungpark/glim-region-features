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640080"/>
            <a:ext cx="1371600" cy="1371600"/>
          </a:xfrm>
          <a:prstGeom prst="ellipse">
            <a:avLst/>
          </a:prstGeom>
          <a:noFill/>
          <a:ln w="25400">
            <a:solidFill>
              <a:srgbClr val="5C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229125" y="2606040"/>
            <a:ext cx="1304470" cy="1240624"/>
          </a:xfrm>
          <a:custGeom>
            <a:avLst/>
            <a:gdLst/>
            <a:ahLst/>
            <a:cxnLst/>
            <a:rect l="l" t="t" r="r" b="b"/>
            <a:pathLst>
              <a:path w="1304470" h="1240624">
                <a:moveTo>
                  <a:pt x="652235" y="0"/>
                </a:moveTo>
                <a:lnTo>
                  <a:pt x="824226" y="449075"/>
                </a:lnTo>
                <a:lnTo>
                  <a:pt x="1304470" y="473876"/>
                </a:lnTo>
                <a:lnTo>
                  <a:pt x="930522" y="776221"/>
                </a:lnTo>
                <a:lnTo>
                  <a:pt x="1055338" y="1240624"/>
                </a:lnTo>
                <a:lnTo>
                  <a:pt x="652235" y="978408"/>
                </a:lnTo>
                <a:lnTo>
                  <a:pt x="249132" y="1240624"/>
                </a:lnTo>
                <a:lnTo>
                  <a:pt x="373948" y="776221"/>
                </a:lnTo>
                <a:lnTo>
                  <a:pt x="0" y="473876"/>
                </a:lnTo>
                <a:lnTo>
                  <a:pt x="480244" y="449075"/>
                </a:lnTo>
                <a:close/>
              </a:path>
            </a:pathLst>
          </a:custGeom>
          <a:noFill/>
          <a:ln w="25400">
            <a:solidFill>
              <a:srgbClr val="5C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9800000">
            <a:off x="9601200" y="4480560"/>
            <a:ext cx="1920240" cy="868680"/>
          </a:xfrm>
          <a:prstGeom prst="ellipse">
            <a:avLst/>
          </a:prstGeom>
          <a:noFill/>
          <a:ln w="25400">
            <a:solidFill>
              <a:srgbClr val="5C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88920"/>
            <a:ext cx="87782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87782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GlimRegionFeatures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함수별 기능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85953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D8E0EF"/>
                </a:solidFill>
                <a:latin typeface="맑은 고딕"/>
                <a:ea typeface="맑은 고딕"/>
              </a:rPr>
              <a:t>Halcon 13 Region Features 자체 구현 라이브러리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D8E0EF"/>
                </a:solidFill>
                <a:latin typeface="맑은 고딕"/>
                <a:ea typeface="맑은 고딕"/>
              </a:rPr>
              <a:t>불량 Blob 특징값 계산 → Score(0~100) → 공정별 불량 분류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8229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BFBFBF"/>
                </a:solidFill>
                <a:latin typeface="맑은 고딕"/>
                <a:ea typeface="맑은 고딕"/>
              </a:rPr>
              <a:t>대상: 머신비전 검사기 개발자 / 현장 엔지니어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BFBFBF"/>
                </a:solidFill>
                <a:latin typeface="맑은 고딕"/>
                <a:ea typeface="맑은 고딕"/>
              </a:rPr>
              <a:t>2026. 07.  |  (주)그림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개요 — 왜 만들었고, 무엇을 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Halcon 라이선스 없이(비용 0원) 동일한 형상 특징값 체계로 불량을 분류한다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1051560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81912"/>
            <a:ext cx="59436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Halcon 13 Region Features를 OpenCV + 자체 구현으로 재현 — Halcon SDK 미사용, 라이선스 비용 0원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14600"/>
            <a:ext cx="1051560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동작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42032"/>
            <a:ext cx="59436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불량 Blob(Region)마다 형상 특징값 20+종 계산 → 0~100 Score 정규화 → select_shape 룰로 불량코드 판정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74720"/>
            <a:ext cx="1051560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공정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02151"/>
            <a:ext cx="59436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코터 / 롤프레스 / 슬리터 3개 공정 프로파일(INI) — 코드 수정 없이 임계값·룰 현장 튜닝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434840"/>
            <a:ext cx="1051560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62272"/>
            <a:ext cx="59436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무상태(stateless) 설계로 멀티쓰레드 병렬 안전 — 단위 테스트 30/30 PASS, 1 vs 8 쓰레드 결과 동일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481328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적용 공정과 대표 불량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874519"/>
            <a:ext cx="3886200" cy="1024128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984248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코터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377439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Pinhole · 미도포 · 기포 · Tear/Island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081528"/>
            <a:ext cx="3886200" cy="1024128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3191256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롤프레스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584448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주름 · 크랙 · 이물 압입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288536"/>
            <a:ext cx="3886200" cy="1024128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4398264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슬리터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791455"/>
            <a:ext cx="3566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Burr · 절단면 불량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80644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이 자료는 코드가 아니라 '각 함수가 무엇을 재고, 어떻게 계산하는지'를 그림으로 설명한다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전체 파이프라인 — 그레이 이미지에서 불량코드까지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모든 단계가 라이브러리 안에서 처리되며, 단계별 파라미터는 공정 프로파일 INI로 제어한다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Chevron 7"/>
          <p:cNvSpPr/>
          <p:nvPr/>
        </p:nvSpPr>
        <p:spPr>
          <a:xfrm>
            <a:off x="384048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그레이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이미지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8bit 원본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(검사기 크롭)</a:t>
            </a:r>
          </a:p>
        </p:txBody>
      </p:sp>
      <p:sp>
        <p:nvSpPr>
          <p:cNvPr id="10" name="Chevron 9"/>
          <p:cNvSpPr/>
          <p:nvPr/>
        </p:nvSpPr>
        <p:spPr>
          <a:xfrm>
            <a:off x="2020824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이진화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Bright/Dark ×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고정·Otsu·평균±offset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0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Region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8-연결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연결성분 분해</a:t>
            </a:r>
          </a:p>
        </p:txBody>
      </p:sp>
      <p:sp>
        <p:nvSpPr>
          <p:cNvPr id="14" name="Chevron 13"/>
          <p:cNvSpPr/>
          <p:nvPr/>
        </p:nvSpPr>
        <p:spPr>
          <a:xfrm>
            <a:off x="5294376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특징값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면적·형상·타원 등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20+종</a:t>
            </a:r>
          </a:p>
        </p:txBody>
      </p:sp>
      <p:sp>
        <p:nvSpPr>
          <p:cNvPr id="16" name="Chevron 15"/>
          <p:cNvSpPr/>
          <p:nvPr/>
        </p:nvSpPr>
        <p:spPr>
          <a:xfrm>
            <a:off x="6931152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Score 정규화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0~100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vMin/vMax는 INI</a:t>
            </a:r>
          </a:p>
        </p:txBody>
      </p:sp>
      <p:sp>
        <p:nvSpPr>
          <p:cNvPr id="18" name="Chevron 17"/>
          <p:cNvSpPr/>
          <p:nvPr/>
        </p:nvSpPr>
        <p:spPr>
          <a:xfrm>
            <a:off x="8567928" y="1691640"/>
            <a:ext cx="1783080" cy="96012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select_shape 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[min,max] 조건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AND/OR 결합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04704" y="1691640"/>
            <a:ext cx="1783080" cy="96012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불량코드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51008" y="2770632"/>
            <a:ext cx="1636776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PINHOLE, TEAR,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BURR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39"/>
            <a:ext cx="5760720" cy="205740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297679"/>
            <a:ext cx="1143000" cy="11430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07008" y="4800600"/>
            <a:ext cx="146304" cy="91440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13831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그레이 원본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48840" y="4864607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697480" y="4297679"/>
            <a:ext cx="1143000" cy="11430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27248" y="4800600"/>
            <a:ext cx="146304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5513831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이진화(Dark)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9080" y="4864607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617720" y="4297679"/>
            <a:ext cx="114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4782312"/>
            <a:ext cx="182880" cy="118872"/>
          </a:xfrm>
          <a:prstGeom prst="ellipse">
            <a:avLst/>
          </a:prstGeom>
          <a:noFill/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074920" y="4841748"/>
            <a:ext cx="91439" cy="0"/>
          </a:xfrm>
          <a:prstGeom prst="line">
            <a:avLst/>
          </a:prstGeom>
          <a:ln w="158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4796028"/>
            <a:ext cx="0" cy="91440"/>
          </a:xfrm>
          <a:prstGeom prst="line">
            <a:avLst/>
          </a:prstGeom>
          <a:ln w="158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80560" y="5513831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Region + 특징값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69079"/>
            <a:ext cx="53035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이진화는 IPreprocessor 인터페이스로 분리 → GPU(CUDA) 전처리기로 교체 가능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Region = 연결성분 1개 (런렝스 + 외곽 컨투어 + 픽셀 수)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좌표계는 Halcon 관례 (row, col) — OpenCV (x, y)와 반대 순서 주의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모든 원시값/Score는 CSV로 덤프 가능 → 데이터 수집·튜닝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area_center · area_holes — 면적, 무게중심, 구멍 면적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가장 기본이 되는 크기 특징값 — 모든 판정 룰에서 면적(A) 조건과 함께 쓰인다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62356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area_center:  A = Region 픽셀 수,  중심 (r̄, c̄) = 픽셀 좌표 평균</a:t>
            </a:r>
          </a:p>
        </p:txBody>
      </p:sp>
      <p:sp>
        <p:nvSpPr>
          <p:cNvPr id="10" name="Freeform 9"/>
          <p:cNvSpPr/>
          <p:nvPr/>
        </p:nvSpPr>
        <p:spPr>
          <a:xfrm>
            <a:off x="1497253" y="2363256"/>
            <a:ext cx="2420865" cy="2225765"/>
          </a:xfrm>
          <a:custGeom>
            <a:avLst/>
            <a:gdLst/>
            <a:ahLst/>
            <a:cxnLst/>
            <a:rect l="l" t="t" r="r" b="b"/>
            <a:pathLst>
              <a:path w="2420865" h="2225765">
                <a:moveTo>
                  <a:pt x="2405571" y="1157184"/>
                </a:moveTo>
                <a:lnTo>
                  <a:pt x="2420865" y="1267976"/>
                </a:lnTo>
                <a:lnTo>
                  <a:pt x="2420266" y="1380371"/>
                </a:lnTo>
                <a:lnTo>
                  <a:pt x="2403371" y="1491816"/>
                </a:lnTo>
                <a:lnTo>
                  <a:pt x="2370490" y="1599766"/>
                </a:lnTo>
                <a:lnTo>
                  <a:pt x="2322605" y="1701877"/>
                </a:lnTo>
                <a:lnTo>
                  <a:pt x="2261267" y="1796172"/>
                </a:lnTo>
                <a:lnTo>
                  <a:pt x="2188455" y="1881162"/>
                </a:lnTo>
                <a:lnTo>
                  <a:pt x="2106394" y="1955912"/>
                </a:lnTo>
                <a:lnTo>
                  <a:pt x="2017380" y="2020057"/>
                </a:lnTo>
                <a:lnTo>
                  <a:pt x="1923598" y="2073751"/>
                </a:lnTo>
                <a:lnTo>
                  <a:pt x="1826982" y="2117578"/>
                </a:lnTo>
                <a:lnTo>
                  <a:pt x="1729109" y="2152424"/>
                </a:lnTo>
                <a:lnTo>
                  <a:pt x="1631138" y="2179323"/>
                </a:lnTo>
                <a:lnTo>
                  <a:pt x="1533812" y="2199317"/>
                </a:lnTo>
                <a:lnTo>
                  <a:pt x="1437497" y="2213317"/>
                </a:lnTo>
                <a:lnTo>
                  <a:pt x="1342263" y="2222004"/>
                </a:lnTo>
                <a:lnTo>
                  <a:pt x="1247996" y="2225765"/>
                </a:lnTo>
                <a:lnTo>
                  <a:pt x="1154507" y="2224677"/>
                </a:lnTo>
                <a:lnTo>
                  <a:pt x="1061651" y="2218529"/>
                </a:lnTo>
                <a:lnTo>
                  <a:pt x="969416" y="2206888"/>
                </a:lnTo>
                <a:lnTo>
                  <a:pt x="877982" y="2189190"/>
                </a:lnTo>
                <a:lnTo>
                  <a:pt x="787752" y="2164836"/>
                </a:lnTo>
                <a:lnTo>
                  <a:pt x="699336" y="2133302"/>
                </a:lnTo>
                <a:lnTo>
                  <a:pt x="613508" y="2094222"/>
                </a:lnTo>
                <a:lnTo>
                  <a:pt x="531138" y="2047447"/>
                </a:lnTo>
                <a:lnTo>
                  <a:pt x="453107" y="1993080"/>
                </a:lnTo>
                <a:lnTo>
                  <a:pt x="380225" y="1931466"/>
                </a:lnTo>
                <a:lnTo>
                  <a:pt x="313161" y="1863157"/>
                </a:lnTo>
                <a:lnTo>
                  <a:pt x="252397" y="1788848"/>
                </a:lnTo>
                <a:lnTo>
                  <a:pt x="198208" y="1709303"/>
                </a:lnTo>
                <a:lnTo>
                  <a:pt x="150680" y="1625276"/>
                </a:lnTo>
                <a:lnTo>
                  <a:pt x="109754" y="1537443"/>
                </a:lnTo>
                <a:lnTo>
                  <a:pt x="75296" y="1446358"/>
                </a:lnTo>
                <a:lnTo>
                  <a:pt x="47178" y="1352436"/>
                </a:lnTo>
                <a:lnTo>
                  <a:pt x="25364" y="1255971"/>
                </a:lnTo>
                <a:lnTo>
                  <a:pt x="9975" y="1157184"/>
                </a:lnTo>
                <a:lnTo>
                  <a:pt x="1339" y="1056295"/>
                </a:lnTo>
                <a:lnTo>
                  <a:pt x="0" y="953613"/>
                </a:lnTo>
                <a:lnTo>
                  <a:pt x="6695" y="849629"/>
                </a:lnTo>
                <a:lnTo>
                  <a:pt x="22283" y="745088"/>
                </a:lnTo>
                <a:lnTo>
                  <a:pt x="47656" y="641051"/>
                </a:lnTo>
                <a:lnTo>
                  <a:pt x="83615" y="538904"/>
                </a:lnTo>
                <a:lnTo>
                  <a:pt x="130744" y="440338"/>
                </a:lnTo>
                <a:lnTo>
                  <a:pt x="189292" y="347273"/>
                </a:lnTo>
                <a:lnTo>
                  <a:pt x="259077" y="261754"/>
                </a:lnTo>
                <a:lnTo>
                  <a:pt x="339424" y="185806"/>
                </a:lnTo>
                <a:lnTo>
                  <a:pt x="429158" y="121278"/>
                </a:lnTo>
                <a:lnTo>
                  <a:pt x="526639" y="69685"/>
                </a:lnTo>
                <a:lnTo>
                  <a:pt x="629857" y="32069"/>
                </a:lnTo>
                <a:lnTo>
                  <a:pt x="736564" y="8896"/>
                </a:lnTo>
                <a:lnTo>
                  <a:pt x="844440" y="0"/>
                </a:lnTo>
                <a:lnTo>
                  <a:pt x="951272" y="4584"/>
                </a:lnTo>
                <a:lnTo>
                  <a:pt x="1055128" y="21281"/>
                </a:lnTo>
                <a:lnTo>
                  <a:pt x="1154507" y="48274"/>
                </a:lnTo>
                <a:lnTo>
                  <a:pt x="1248446" y="83453"/>
                </a:lnTo>
                <a:lnTo>
                  <a:pt x="1336577" y="124613"/>
                </a:lnTo>
                <a:lnTo>
                  <a:pt x="1419115" y="169652"/>
                </a:lnTo>
                <a:lnTo>
                  <a:pt x="1496791" y="216768"/>
                </a:lnTo>
                <a:lnTo>
                  <a:pt x="1570720" y="264611"/>
                </a:lnTo>
                <a:lnTo>
                  <a:pt x="1642240" y="312406"/>
                </a:lnTo>
                <a:lnTo>
                  <a:pt x="1712705" y="359995"/>
                </a:lnTo>
                <a:lnTo>
                  <a:pt x="1783292" y="407827"/>
                </a:lnTo>
                <a:lnTo>
                  <a:pt x="1854814" y="456877"/>
                </a:lnTo>
                <a:lnTo>
                  <a:pt x="1927572" y="508506"/>
                </a:lnTo>
                <a:lnTo>
                  <a:pt x="2001260" y="564281"/>
                </a:lnTo>
                <a:lnTo>
                  <a:pt x="2074937" y="625773"/>
                </a:lnTo>
                <a:lnTo>
                  <a:pt x="2147065" y="694347"/>
                </a:lnTo>
                <a:lnTo>
                  <a:pt x="2215608" y="770975"/>
                </a:lnTo>
                <a:lnTo>
                  <a:pt x="2278192" y="856093"/>
                </a:lnTo>
                <a:lnTo>
                  <a:pt x="2332299" y="949507"/>
                </a:lnTo>
                <a:lnTo>
                  <a:pt x="2375482" y="1050363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537133" y="3516977"/>
            <a:ext cx="237744" cy="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56005" y="3398105"/>
            <a:ext cx="0" cy="237744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93165" y="2377440"/>
            <a:ext cx="1778835" cy="1002377"/>
          </a:xfrm>
          <a:prstGeom prst="line">
            <a:avLst/>
          </a:prstGeom>
          <a:ln w="1587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69080" y="1874519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무게중심 (r̄, c̄)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1737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A = 픽셀 수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(면적)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2377440"/>
            <a:ext cx="411480" cy="457200"/>
          </a:xfrm>
          <a:prstGeom prst="line">
            <a:avLst/>
          </a:prstGeom>
          <a:ln w="15875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89204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위치 보고·거리 계산의 기준점이자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크기 필터(minArea)의 기본값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63040"/>
            <a:ext cx="562356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area_holes:  구멍 면적 = 채운(fill_up) 면적 − A</a:t>
            </a:r>
          </a:p>
        </p:txBody>
      </p:sp>
      <p:sp>
        <p:nvSpPr>
          <p:cNvPr id="20" name="Freeform 19"/>
          <p:cNvSpPr/>
          <p:nvPr/>
        </p:nvSpPr>
        <p:spPr>
          <a:xfrm>
            <a:off x="6738233" y="2615881"/>
            <a:ext cx="1794014" cy="1717678"/>
          </a:xfrm>
          <a:custGeom>
            <a:avLst/>
            <a:gdLst/>
            <a:ahLst/>
            <a:cxnLst/>
            <a:rect l="l" t="t" r="r" b="b"/>
            <a:pathLst>
              <a:path w="1794014" h="1717678">
                <a:moveTo>
                  <a:pt x="1786224" y="858839"/>
                </a:moveTo>
                <a:lnTo>
                  <a:pt x="1794014" y="937317"/>
                </a:lnTo>
                <a:lnTo>
                  <a:pt x="1793857" y="1016978"/>
                </a:lnTo>
                <a:lnTo>
                  <a:pt x="1785331" y="1096865"/>
                </a:lnTo>
                <a:lnTo>
                  <a:pt x="1768184" y="1175922"/>
                </a:lnTo>
                <a:lnTo>
                  <a:pt x="1742356" y="1253032"/>
                </a:lnTo>
                <a:lnTo>
                  <a:pt x="1707992" y="1327061"/>
                </a:lnTo>
                <a:lnTo>
                  <a:pt x="1665446" y="1396906"/>
                </a:lnTo>
                <a:lnTo>
                  <a:pt x="1615272" y="1461535"/>
                </a:lnTo>
                <a:lnTo>
                  <a:pt x="1558202" y="1520034"/>
                </a:lnTo>
                <a:lnTo>
                  <a:pt x="1495118" y="1571640"/>
                </a:lnTo>
                <a:lnTo>
                  <a:pt x="1427016" y="1615770"/>
                </a:lnTo>
                <a:lnTo>
                  <a:pt x="1354961" y="1652038"/>
                </a:lnTo>
                <a:lnTo>
                  <a:pt x="1280042" y="1680259"/>
                </a:lnTo>
                <a:lnTo>
                  <a:pt x="1203328" y="1700449"/>
                </a:lnTo>
                <a:lnTo>
                  <a:pt x="1125826" y="1712804"/>
                </a:lnTo>
                <a:lnTo>
                  <a:pt x="1048444" y="1717678"/>
                </a:lnTo>
                <a:lnTo>
                  <a:pt x="971960" y="1715550"/>
                </a:lnTo>
                <a:lnTo>
                  <a:pt x="897007" y="1706982"/>
                </a:lnTo>
                <a:lnTo>
                  <a:pt x="824064" y="1692581"/>
                </a:lnTo>
                <a:lnTo>
                  <a:pt x="753456" y="1672955"/>
                </a:lnTo>
                <a:lnTo>
                  <a:pt x="685371" y="1648676"/>
                </a:lnTo>
                <a:lnTo>
                  <a:pt x="619877" y="1620246"/>
                </a:lnTo>
                <a:lnTo>
                  <a:pt x="556959" y="1588073"/>
                </a:lnTo>
                <a:lnTo>
                  <a:pt x="496549" y="1552452"/>
                </a:lnTo>
                <a:lnTo>
                  <a:pt x="438565" y="1513562"/>
                </a:lnTo>
                <a:lnTo>
                  <a:pt x="382949" y="1471469"/>
                </a:lnTo>
                <a:lnTo>
                  <a:pt x="329703" y="1426143"/>
                </a:lnTo>
                <a:lnTo>
                  <a:pt x="278913" y="1377481"/>
                </a:lnTo>
                <a:lnTo>
                  <a:pt x="230776" y="1325339"/>
                </a:lnTo>
                <a:lnTo>
                  <a:pt x="185608" y="1269565"/>
                </a:lnTo>
                <a:lnTo>
                  <a:pt x="143845" y="1210044"/>
                </a:lnTo>
                <a:lnTo>
                  <a:pt x="106033" y="1146730"/>
                </a:lnTo>
                <a:lnTo>
                  <a:pt x="72811" y="1079682"/>
                </a:lnTo>
                <a:lnTo>
                  <a:pt x="44881" y="1009092"/>
                </a:lnTo>
                <a:lnTo>
                  <a:pt x="22969" y="935307"/>
                </a:lnTo>
                <a:lnTo>
                  <a:pt x="7790" y="858839"/>
                </a:lnTo>
                <a:lnTo>
                  <a:pt x="0" y="780361"/>
                </a:lnTo>
                <a:lnTo>
                  <a:pt x="157" y="700700"/>
                </a:lnTo>
                <a:lnTo>
                  <a:pt x="8683" y="620813"/>
                </a:lnTo>
                <a:lnTo>
                  <a:pt x="25830" y="541756"/>
                </a:lnTo>
                <a:lnTo>
                  <a:pt x="51658" y="464646"/>
                </a:lnTo>
                <a:lnTo>
                  <a:pt x="86022" y="390617"/>
                </a:lnTo>
                <a:lnTo>
                  <a:pt x="128568" y="320772"/>
                </a:lnTo>
                <a:lnTo>
                  <a:pt x="178742" y="256143"/>
                </a:lnTo>
                <a:lnTo>
                  <a:pt x="235812" y="197644"/>
                </a:lnTo>
                <a:lnTo>
                  <a:pt x="298896" y="146038"/>
                </a:lnTo>
                <a:lnTo>
                  <a:pt x="366998" y="101908"/>
                </a:lnTo>
                <a:lnTo>
                  <a:pt x="439053" y="65640"/>
                </a:lnTo>
                <a:lnTo>
                  <a:pt x="513972" y="37419"/>
                </a:lnTo>
                <a:lnTo>
                  <a:pt x="590686" y="17229"/>
                </a:lnTo>
                <a:lnTo>
                  <a:pt x="668188" y="4874"/>
                </a:lnTo>
                <a:lnTo>
                  <a:pt x="745570" y="0"/>
                </a:lnTo>
                <a:lnTo>
                  <a:pt x="822054" y="2128"/>
                </a:lnTo>
                <a:lnTo>
                  <a:pt x="897007" y="10696"/>
                </a:lnTo>
                <a:lnTo>
                  <a:pt x="969950" y="25097"/>
                </a:lnTo>
                <a:lnTo>
                  <a:pt x="1040558" y="44723"/>
                </a:lnTo>
                <a:lnTo>
                  <a:pt x="1108643" y="69002"/>
                </a:lnTo>
                <a:lnTo>
                  <a:pt x="1174137" y="97432"/>
                </a:lnTo>
                <a:lnTo>
                  <a:pt x="1237055" y="129605"/>
                </a:lnTo>
                <a:lnTo>
                  <a:pt x="1297465" y="165226"/>
                </a:lnTo>
                <a:lnTo>
                  <a:pt x="1355449" y="204116"/>
                </a:lnTo>
                <a:lnTo>
                  <a:pt x="1411065" y="246209"/>
                </a:lnTo>
                <a:lnTo>
                  <a:pt x="1464311" y="291535"/>
                </a:lnTo>
                <a:lnTo>
                  <a:pt x="1515101" y="340197"/>
                </a:lnTo>
                <a:lnTo>
                  <a:pt x="1563238" y="392339"/>
                </a:lnTo>
                <a:lnTo>
                  <a:pt x="1608406" y="448113"/>
                </a:lnTo>
                <a:lnTo>
                  <a:pt x="1650169" y="507634"/>
                </a:lnTo>
                <a:lnTo>
                  <a:pt x="1687981" y="570948"/>
                </a:lnTo>
                <a:lnTo>
                  <a:pt x="1721203" y="637996"/>
                </a:lnTo>
                <a:lnTo>
                  <a:pt x="1749133" y="708586"/>
                </a:lnTo>
                <a:lnTo>
                  <a:pt x="1771045" y="782371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24927" y="3246120"/>
            <a:ext cx="566928" cy="457200"/>
          </a:xfrm>
          <a:prstGeom prst="ellipse">
            <a:avLst/>
          </a:prstGeom>
          <a:solidFill>
            <a:srgbClr val="F4F5F7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5262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원본 (구멍 있음)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3474720"/>
            <a:ext cx="54864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9298553" y="2615881"/>
            <a:ext cx="1794014" cy="1717678"/>
          </a:xfrm>
          <a:custGeom>
            <a:avLst/>
            <a:gdLst/>
            <a:ahLst/>
            <a:cxnLst/>
            <a:rect l="l" t="t" r="r" b="b"/>
            <a:pathLst>
              <a:path w="1794014" h="1717678">
                <a:moveTo>
                  <a:pt x="1786224" y="858839"/>
                </a:moveTo>
                <a:lnTo>
                  <a:pt x="1794014" y="937317"/>
                </a:lnTo>
                <a:lnTo>
                  <a:pt x="1793857" y="1016978"/>
                </a:lnTo>
                <a:lnTo>
                  <a:pt x="1785331" y="1096865"/>
                </a:lnTo>
                <a:lnTo>
                  <a:pt x="1768184" y="1175922"/>
                </a:lnTo>
                <a:lnTo>
                  <a:pt x="1742356" y="1253032"/>
                </a:lnTo>
                <a:lnTo>
                  <a:pt x="1707992" y="1327061"/>
                </a:lnTo>
                <a:lnTo>
                  <a:pt x="1665446" y="1396906"/>
                </a:lnTo>
                <a:lnTo>
                  <a:pt x="1615272" y="1461535"/>
                </a:lnTo>
                <a:lnTo>
                  <a:pt x="1558202" y="1520034"/>
                </a:lnTo>
                <a:lnTo>
                  <a:pt x="1495118" y="1571640"/>
                </a:lnTo>
                <a:lnTo>
                  <a:pt x="1427016" y="1615770"/>
                </a:lnTo>
                <a:lnTo>
                  <a:pt x="1354961" y="1652038"/>
                </a:lnTo>
                <a:lnTo>
                  <a:pt x="1280042" y="1680259"/>
                </a:lnTo>
                <a:lnTo>
                  <a:pt x="1203328" y="1700449"/>
                </a:lnTo>
                <a:lnTo>
                  <a:pt x="1125826" y="1712804"/>
                </a:lnTo>
                <a:lnTo>
                  <a:pt x="1048444" y="1717678"/>
                </a:lnTo>
                <a:lnTo>
                  <a:pt x="971960" y="1715550"/>
                </a:lnTo>
                <a:lnTo>
                  <a:pt x="897007" y="1706982"/>
                </a:lnTo>
                <a:lnTo>
                  <a:pt x="824064" y="1692581"/>
                </a:lnTo>
                <a:lnTo>
                  <a:pt x="753456" y="1672955"/>
                </a:lnTo>
                <a:lnTo>
                  <a:pt x="685371" y="1648676"/>
                </a:lnTo>
                <a:lnTo>
                  <a:pt x="619877" y="1620246"/>
                </a:lnTo>
                <a:lnTo>
                  <a:pt x="556959" y="1588073"/>
                </a:lnTo>
                <a:lnTo>
                  <a:pt x="496549" y="1552452"/>
                </a:lnTo>
                <a:lnTo>
                  <a:pt x="438565" y="1513562"/>
                </a:lnTo>
                <a:lnTo>
                  <a:pt x="382949" y="1471469"/>
                </a:lnTo>
                <a:lnTo>
                  <a:pt x="329703" y="1426143"/>
                </a:lnTo>
                <a:lnTo>
                  <a:pt x="278913" y="1377481"/>
                </a:lnTo>
                <a:lnTo>
                  <a:pt x="230776" y="1325339"/>
                </a:lnTo>
                <a:lnTo>
                  <a:pt x="185608" y="1269565"/>
                </a:lnTo>
                <a:lnTo>
                  <a:pt x="143845" y="1210044"/>
                </a:lnTo>
                <a:lnTo>
                  <a:pt x="106033" y="1146730"/>
                </a:lnTo>
                <a:lnTo>
                  <a:pt x="72811" y="1079682"/>
                </a:lnTo>
                <a:lnTo>
                  <a:pt x="44881" y="1009092"/>
                </a:lnTo>
                <a:lnTo>
                  <a:pt x="22969" y="935307"/>
                </a:lnTo>
                <a:lnTo>
                  <a:pt x="7790" y="858839"/>
                </a:lnTo>
                <a:lnTo>
                  <a:pt x="0" y="780361"/>
                </a:lnTo>
                <a:lnTo>
                  <a:pt x="157" y="700700"/>
                </a:lnTo>
                <a:lnTo>
                  <a:pt x="8683" y="620813"/>
                </a:lnTo>
                <a:lnTo>
                  <a:pt x="25830" y="541756"/>
                </a:lnTo>
                <a:lnTo>
                  <a:pt x="51658" y="464646"/>
                </a:lnTo>
                <a:lnTo>
                  <a:pt x="86022" y="390617"/>
                </a:lnTo>
                <a:lnTo>
                  <a:pt x="128568" y="320772"/>
                </a:lnTo>
                <a:lnTo>
                  <a:pt x="178742" y="256143"/>
                </a:lnTo>
                <a:lnTo>
                  <a:pt x="235812" y="197644"/>
                </a:lnTo>
                <a:lnTo>
                  <a:pt x="298896" y="146038"/>
                </a:lnTo>
                <a:lnTo>
                  <a:pt x="366998" y="101908"/>
                </a:lnTo>
                <a:lnTo>
                  <a:pt x="439053" y="65640"/>
                </a:lnTo>
                <a:lnTo>
                  <a:pt x="513972" y="37419"/>
                </a:lnTo>
                <a:lnTo>
                  <a:pt x="590686" y="17229"/>
                </a:lnTo>
                <a:lnTo>
                  <a:pt x="668188" y="4874"/>
                </a:lnTo>
                <a:lnTo>
                  <a:pt x="745570" y="0"/>
                </a:lnTo>
                <a:lnTo>
                  <a:pt x="822054" y="2128"/>
                </a:lnTo>
                <a:lnTo>
                  <a:pt x="897007" y="10696"/>
                </a:lnTo>
                <a:lnTo>
                  <a:pt x="969950" y="25097"/>
                </a:lnTo>
                <a:lnTo>
                  <a:pt x="1040558" y="44723"/>
                </a:lnTo>
                <a:lnTo>
                  <a:pt x="1108643" y="69002"/>
                </a:lnTo>
                <a:lnTo>
                  <a:pt x="1174137" y="97432"/>
                </a:lnTo>
                <a:lnTo>
                  <a:pt x="1237055" y="129605"/>
                </a:lnTo>
                <a:lnTo>
                  <a:pt x="1297465" y="165226"/>
                </a:lnTo>
                <a:lnTo>
                  <a:pt x="1355449" y="204116"/>
                </a:lnTo>
                <a:lnTo>
                  <a:pt x="1411065" y="246209"/>
                </a:lnTo>
                <a:lnTo>
                  <a:pt x="1464311" y="291535"/>
                </a:lnTo>
                <a:lnTo>
                  <a:pt x="1515101" y="340197"/>
                </a:lnTo>
                <a:lnTo>
                  <a:pt x="1563238" y="392339"/>
                </a:lnTo>
                <a:lnTo>
                  <a:pt x="1608406" y="448113"/>
                </a:lnTo>
                <a:lnTo>
                  <a:pt x="1650169" y="507634"/>
                </a:lnTo>
                <a:lnTo>
                  <a:pt x="1687981" y="570948"/>
                </a:lnTo>
                <a:lnTo>
                  <a:pt x="1721203" y="637996"/>
                </a:lnTo>
                <a:lnTo>
                  <a:pt x="1749133" y="708586"/>
                </a:lnTo>
                <a:lnTo>
                  <a:pt x="1771045" y="782371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5262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fill_up (구멍 채움)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828800"/>
            <a:ext cx="4114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구멍 면적 = 채운 면적 −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기포·다공성 불량 판정의 기초 (euler_number와 함께 사용)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contlength · diameter_region — 둘레와 최대 지름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둘레는 체인코드 거리 합, 지름은 가장 먼 경계점 쌍 — 불량의 '크기'를 서로 다른 관점에서 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62356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contlength:  L = Σ (수평·수직 = 1,  대각 = √2)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9659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1640" y="19659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9659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9659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965960"/>
            <a:ext cx="457200" cy="457200"/>
          </a:xfrm>
          <a:prstGeom prst="rect">
            <a:avLst/>
          </a:prstGeom>
          <a:solidFill>
            <a:srgbClr val="C9D8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24231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91640" y="24231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48840" y="2423160"/>
            <a:ext cx="457200" cy="457200"/>
          </a:xfrm>
          <a:prstGeom prst="rect">
            <a:avLst/>
          </a:prstGeom>
          <a:solidFill>
            <a:srgbClr val="C9D8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423160"/>
            <a:ext cx="457200" cy="457200"/>
          </a:xfrm>
          <a:prstGeom prst="rect">
            <a:avLst/>
          </a:prstGeom>
          <a:solidFill>
            <a:srgbClr val="C9D8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24231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4440" y="2880360"/>
            <a:ext cx="457200" cy="457200"/>
          </a:xfrm>
          <a:prstGeom prst="rect">
            <a:avLst/>
          </a:prstGeom>
          <a:solidFill>
            <a:srgbClr val="C9D8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2880360"/>
            <a:ext cx="457200" cy="457200"/>
          </a:xfrm>
          <a:prstGeom prst="rect">
            <a:avLst/>
          </a:prstGeom>
          <a:solidFill>
            <a:srgbClr val="C9D8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28803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28803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3240" y="28803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4440" y="33375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33375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33375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6040" y="33375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3240" y="333756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463040" y="3108960"/>
            <a:ext cx="457200" cy="0"/>
          </a:xfrm>
          <a:prstGeom prst="line">
            <a:avLst/>
          </a:prstGeom>
          <a:ln w="3175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20240" y="2651760"/>
            <a:ext cx="457200" cy="457200"/>
          </a:xfrm>
          <a:prstGeom prst="line">
            <a:avLst/>
          </a:prstGeom>
          <a:ln w="3175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77440" y="2651760"/>
            <a:ext cx="457200" cy="0"/>
          </a:xfrm>
          <a:prstGeom prst="line">
            <a:avLst/>
          </a:prstGeom>
          <a:ln w="3175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834640" y="2194560"/>
            <a:ext cx="457200" cy="457200"/>
          </a:xfrm>
          <a:prstGeom prst="line">
            <a:avLst/>
          </a:prstGeom>
          <a:ln w="3175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417320" y="306324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74520" y="306324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31720" y="260604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88920" y="260604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46120" y="214884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18488" y="320040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276148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√2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2888" y="2267712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1256" y="244144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16052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외곽 컨투어를 픽셀 단위로 따라가며 이동 거리를 합산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→ 픽셀 계단 현상을 √2 로 보정한 둘레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1463040"/>
            <a:ext cx="562356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diameter_region:  경계점 쌍 최대 거리 + 두 점 좌표 반환</a:t>
            </a:r>
          </a:p>
        </p:txBody>
      </p:sp>
      <p:sp>
        <p:nvSpPr>
          <p:cNvPr id="46" name="Freeform 45"/>
          <p:cNvSpPr/>
          <p:nvPr/>
        </p:nvSpPr>
        <p:spPr>
          <a:xfrm>
            <a:off x="7575300" y="2439314"/>
            <a:ext cx="2771640" cy="1705052"/>
          </a:xfrm>
          <a:custGeom>
            <a:avLst/>
            <a:gdLst/>
            <a:ahLst/>
            <a:cxnLst/>
            <a:rect l="l" t="t" r="r" b="b"/>
            <a:pathLst>
              <a:path w="2771640" h="1705052">
                <a:moveTo>
                  <a:pt x="2765299" y="1356075"/>
                </a:moveTo>
                <a:lnTo>
                  <a:pt x="2745963" y="1419940"/>
                </a:lnTo>
                <a:lnTo>
                  <a:pt x="2713526" y="1479129"/>
                </a:lnTo>
                <a:lnTo>
                  <a:pt x="2668165" y="1532758"/>
                </a:lnTo>
                <a:lnTo>
                  <a:pt x="2610353" y="1580042"/>
                </a:lnTo>
                <a:lnTo>
                  <a:pt x="2540837" y="1620321"/>
                </a:lnTo>
                <a:lnTo>
                  <a:pt x="2460616" y="1653091"/>
                </a:lnTo>
                <a:lnTo>
                  <a:pt x="2370903" y="1678017"/>
                </a:lnTo>
                <a:lnTo>
                  <a:pt x="2273070" y="1694942"/>
                </a:lnTo>
                <a:lnTo>
                  <a:pt x="2168597" y="1703891"/>
                </a:lnTo>
                <a:lnTo>
                  <a:pt x="2059002" y="1705052"/>
                </a:lnTo>
                <a:lnTo>
                  <a:pt x="1945790" y="1698763"/>
                </a:lnTo>
                <a:lnTo>
                  <a:pt x="1830386" y="1685486"/>
                </a:lnTo>
                <a:lnTo>
                  <a:pt x="1714095" y="1665770"/>
                </a:lnTo>
                <a:lnTo>
                  <a:pt x="1598056" y="1640224"/>
                </a:lnTo>
                <a:lnTo>
                  <a:pt x="1483220" y="1609472"/>
                </a:lnTo>
                <a:lnTo>
                  <a:pt x="1370335" y="1574129"/>
                </a:lnTo>
                <a:lnTo>
                  <a:pt x="1259953" y="1534762"/>
                </a:lnTo>
                <a:lnTo>
                  <a:pt x="1152442" y="1491868"/>
                </a:lnTo>
                <a:lnTo>
                  <a:pt x="1048020" y="1445860"/>
                </a:lnTo>
                <a:lnTo>
                  <a:pt x="946791" y="1397054"/>
                </a:lnTo>
                <a:lnTo>
                  <a:pt x="848792" y="1345670"/>
                </a:lnTo>
                <a:lnTo>
                  <a:pt x="754044" y="1291840"/>
                </a:lnTo>
                <a:lnTo>
                  <a:pt x="662599" y="1235629"/>
                </a:lnTo>
                <a:lnTo>
                  <a:pt x="574587" y="1177050"/>
                </a:lnTo>
                <a:lnTo>
                  <a:pt x="490253" y="1116100"/>
                </a:lnTo>
                <a:lnTo>
                  <a:pt x="409984" y="1052786"/>
                </a:lnTo>
                <a:lnTo>
                  <a:pt x="334325" y="987158"/>
                </a:lnTo>
                <a:lnTo>
                  <a:pt x="263975" y="919336"/>
                </a:lnTo>
                <a:lnTo>
                  <a:pt x="199778" y="849538"/>
                </a:lnTo>
                <a:lnTo>
                  <a:pt x="142694" y="778097"/>
                </a:lnTo>
                <a:lnTo>
                  <a:pt x="93759" y="705471"/>
                </a:lnTo>
                <a:lnTo>
                  <a:pt x="54034" y="632247"/>
                </a:lnTo>
                <a:lnTo>
                  <a:pt x="24557" y="559133"/>
                </a:lnTo>
                <a:lnTo>
                  <a:pt x="6276" y="486943"/>
                </a:lnTo>
                <a:lnTo>
                  <a:pt x="0" y="416576"/>
                </a:lnTo>
                <a:lnTo>
                  <a:pt x="6341" y="348977"/>
                </a:lnTo>
                <a:lnTo>
                  <a:pt x="25677" y="285112"/>
                </a:lnTo>
                <a:lnTo>
                  <a:pt x="58114" y="225923"/>
                </a:lnTo>
                <a:lnTo>
                  <a:pt x="103475" y="172294"/>
                </a:lnTo>
                <a:lnTo>
                  <a:pt x="161287" y="125010"/>
                </a:lnTo>
                <a:lnTo>
                  <a:pt x="230803" y="84731"/>
                </a:lnTo>
                <a:lnTo>
                  <a:pt x="311024" y="51961"/>
                </a:lnTo>
                <a:lnTo>
                  <a:pt x="400737" y="27035"/>
                </a:lnTo>
                <a:lnTo>
                  <a:pt x="498570" y="10110"/>
                </a:lnTo>
                <a:lnTo>
                  <a:pt x="603043" y="1161"/>
                </a:lnTo>
                <a:lnTo>
                  <a:pt x="712638" y="0"/>
                </a:lnTo>
                <a:lnTo>
                  <a:pt x="825850" y="6289"/>
                </a:lnTo>
                <a:lnTo>
                  <a:pt x="941254" y="19566"/>
                </a:lnTo>
                <a:lnTo>
                  <a:pt x="1057545" y="39282"/>
                </a:lnTo>
                <a:lnTo>
                  <a:pt x="1173584" y="64828"/>
                </a:lnTo>
                <a:lnTo>
                  <a:pt x="1288420" y="95580"/>
                </a:lnTo>
                <a:lnTo>
                  <a:pt x="1401305" y="130923"/>
                </a:lnTo>
                <a:lnTo>
                  <a:pt x="1511687" y="170290"/>
                </a:lnTo>
                <a:lnTo>
                  <a:pt x="1619198" y="213184"/>
                </a:lnTo>
                <a:lnTo>
                  <a:pt x="1723620" y="259192"/>
                </a:lnTo>
                <a:lnTo>
                  <a:pt x="1824849" y="307998"/>
                </a:lnTo>
                <a:lnTo>
                  <a:pt x="1922848" y="359382"/>
                </a:lnTo>
                <a:lnTo>
                  <a:pt x="2017596" y="413212"/>
                </a:lnTo>
                <a:lnTo>
                  <a:pt x="2109041" y="469423"/>
                </a:lnTo>
                <a:lnTo>
                  <a:pt x="2197053" y="528002"/>
                </a:lnTo>
                <a:lnTo>
                  <a:pt x="2281387" y="588952"/>
                </a:lnTo>
                <a:lnTo>
                  <a:pt x="2361656" y="652266"/>
                </a:lnTo>
                <a:lnTo>
                  <a:pt x="2437315" y="717894"/>
                </a:lnTo>
                <a:lnTo>
                  <a:pt x="2507665" y="785716"/>
                </a:lnTo>
                <a:lnTo>
                  <a:pt x="2571862" y="855514"/>
                </a:lnTo>
                <a:lnTo>
                  <a:pt x="2628946" y="926955"/>
                </a:lnTo>
                <a:lnTo>
                  <a:pt x="2677881" y="999581"/>
                </a:lnTo>
                <a:lnTo>
                  <a:pt x="2717606" y="1072805"/>
                </a:lnTo>
                <a:lnTo>
                  <a:pt x="2747083" y="1145919"/>
                </a:lnTo>
                <a:lnTo>
                  <a:pt x="2765364" y="1218109"/>
                </a:lnTo>
                <a:lnTo>
                  <a:pt x="2771640" y="1288476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7600976" y="2724425"/>
            <a:ext cx="2720287" cy="1134829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266399" y="380439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46112" y="2669561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18288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맑은 고딕"/>
                <a:ea typeface="맑은 고딕"/>
              </a:rPr>
              <a:t>최대 지름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572000"/>
            <a:ext cx="50292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볼록껍질 위 점들만 검사하면 되므로 빠르게 계산 가능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→ 불량의 '가장 긴 방향 길이' — 규격(mm) 환산 크기 판정에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circularity — 얼마나 원에 가까운가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중심에서 가장 먼 경계점으로 그린 원과 실제 면적을 비교 — 뾰족하게 튀어나오면 급감한다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54864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1F3864"/>
                </a:solidFill>
                <a:latin typeface="맑은 고딕"/>
                <a:ea typeface="맑은 고딕"/>
              </a:rPr>
              <a:t>circularity = A / (π · max²)     범위 0~1, 원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원: 실제 면적 = 원 면적  →  ≈ 1.0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2743200"/>
            <a:ext cx="2103120" cy="2103120"/>
          </a:xfrm>
          <a:prstGeom prst="ellipse">
            <a:avLst/>
          </a:pr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0784" y="2706624"/>
            <a:ext cx="2176272" cy="2176272"/>
          </a:xfrm>
          <a:prstGeom prst="ellipse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88920" y="3201004"/>
            <a:ext cx="867889" cy="593756"/>
          </a:xfrm>
          <a:prstGeom prst="line">
            <a:avLst/>
          </a:prstGeom>
          <a:ln w="28575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0" y="301752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맑은 고딕"/>
                <a:ea typeface="맑은 고딕"/>
              </a:rPr>
              <a:t>max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06624" y="3794760"/>
            <a:ext cx="164591" cy="0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88920" y="3712464"/>
            <a:ext cx="0" cy="164592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49435"/>
                </a:solidFill>
                <a:latin typeface="맑은 고딕"/>
                <a:ea typeface="맑은 고딕"/>
              </a:rPr>
              <a:t>≈ 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별: π·max² 대비 실제 면적이 작음  →  낮음</a:t>
            </a:r>
          </a:p>
        </p:txBody>
      </p:sp>
      <p:sp>
        <p:nvSpPr>
          <p:cNvPr id="20" name="Freeform 19"/>
          <p:cNvSpPr/>
          <p:nvPr/>
        </p:nvSpPr>
        <p:spPr>
          <a:xfrm>
            <a:off x="7506065" y="2743200"/>
            <a:ext cx="2087150" cy="1984998"/>
          </a:xfrm>
          <a:custGeom>
            <a:avLst/>
            <a:gdLst/>
            <a:ahLst/>
            <a:cxnLst/>
            <a:rect l="l" t="t" r="r" b="b"/>
            <a:pathLst>
              <a:path w="2087150" h="1984998">
                <a:moveTo>
                  <a:pt x="1043575" y="0"/>
                </a:moveTo>
                <a:lnTo>
                  <a:pt x="1301561" y="742193"/>
                </a:lnTo>
                <a:lnTo>
                  <a:pt x="2087150" y="758202"/>
                </a:lnTo>
                <a:lnTo>
                  <a:pt x="1461005" y="1232911"/>
                </a:lnTo>
                <a:lnTo>
                  <a:pt x="1688540" y="1984998"/>
                </a:lnTo>
                <a:lnTo>
                  <a:pt x="1043575" y="1536192"/>
                </a:lnTo>
                <a:lnTo>
                  <a:pt x="398610" y="1984998"/>
                </a:lnTo>
                <a:lnTo>
                  <a:pt x="626145" y="1232911"/>
                </a:lnTo>
                <a:lnTo>
                  <a:pt x="0" y="758202"/>
                </a:lnTo>
                <a:lnTo>
                  <a:pt x="785589" y="742193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2360" y="2743200"/>
            <a:ext cx="2194560" cy="2194560"/>
          </a:xfrm>
          <a:prstGeom prst="ellipse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8549640" y="3501401"/>
            <a:ext cx="1043575" cy="339079"/>
          </a:xfrm>
          <a:prstGeom prst="line">
            <a:avLst/>
          </a:prstGeom>
          <a:ln w="28575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69680" y="4096512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맑은 고딕"/>
                <a:ea typeface="맑은 고딕"/>
              </a:rPr>
              <a:t>max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67344" y="3840480"/>
            <a:ext cx="164592" cy="0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9640" y="3758184"/>
            <a:ext cx="0" cy="164592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104120" y="3017520"/>
            <a:ext cx="1600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빈 영역이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많음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ED7D31"/>
                </a:solidFill>
                <a:latin typeface="맑은 고딕"/>
                <a:ea typeface="맑은 고딕"/>
              </a:rPr>
              <a:t>≈ 0.3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35508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핀홀(원형 흑점) 판별 주력 특징값 — 코터 룰 예: circularity ∈ [0.7, 1.0]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compactness — 윤곽이 얼마나 단순한가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같은 면적이라도 둘레가 길수록 커진다 — circularity와 보완 관계인 '윤곽 복잡도' 척도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417320"/>
            <a:ext cx="59436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1F3864"/>
                </a:solidFill>
                <a:latin typeface="맑은 고딕"/>
                <a:ea typeface="맑은 고딕"/>
              </a:rPr>
              <a:t>compactness = L² / (4π · A)     원 = 1, 상한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매끈한 원: 최소 둘레  →  = 1.0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2743200"/>
            <a:ext cx="2103120" cy="2103120"/>
          </a:xfrm>
          <a:prstGeom prst="ellipse">
            <a:avLst/>
          </a:prstGeom>
          <a:solidFill>
            <a:srgbClr val="C9D8F0"/>
          </a:solidFill>
          <a:ln w="317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566160"/>
            <a:ext cx="1737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면적 A 대비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둘레 L 최소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49435"/>
                </a:solidFill>
                <a:latin typeface="맑은 고딕"/>
                <a:ea typeface="맑은 고딕"/>
              </a:rPr>
              <a:t>= 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복잡한 윤곽: 같은 면적, 둘레는 훨씬 김  →  ≫ 1</a:t>
            </a:r>
          </a:p>
        </p:txBody>
      </p:sp>
      <p:sp>
        <p:nvSpPr>
          <p:cNvPr id="16" name="Freeform 15"/>
          <p:cNvSpPr/>
          <p:nvPr/>
        </p:nvSpPr>
        <p:spPr>
          <a:xfrm>
            <a:off x="7369863" y="2690714"/>
            <a:ext cx="2302516" cy="2282964"/>
          </a:xfrm>
          <a:custGeom>
            <a:avLst/>
            <a:gdLst/>
            <a:ahLst/>
            <a:cxnLst/>
            <a:rect l="l" t="t" r="r" b="b"/>
            <a:pathLst>
              <a:path w="2302516" h="2282964">
                <a:moveTo>
                  <a:pt x="2182216" y="1104046"/>
                </a:moveTo>
                <a:lnTo>
                  <a:pt x="2277052" y="1204045"/>
                </a:lnTo>
                <a:lnTo>
                  <a:pt x="2302516" y="1310077"/>
                </a:lnTo>
                <a:lnTo>
                  <a:pt x="2238103" y="1399874"/>
                </a:lnTo>
                <a:lnTo>
                  <a:pt x="2111289" y="1459729"/>
                </a:lnTo>
                <a:lnTo>
                  <a:pt x="1979452" y="1498260"/>
                </a:lnTo>
                <a:lnTo>
                  <a:pt x="1893954" y="1542773"/>
                </a:lnTo>
                <a:lnTo>
                  <a:pt x="1870006" y="1619363"/>
                </a:lnTo>
                <a:lnTo>
                  <a:pt x="1881231" y="1731000"/>
                </a:lnTo>
                <a:lnTo>
                  <a:pt x="1880749" y="1850738"/>
                </a:lnTo>
                <a:lnTo>
                  <a:pt x="1833113" y="1937149"/>
                </a:lnTo>
                <a:lnTo>
                  <a:pt x="1735404" y="1962858"/>
                </a:lnTo>
                <a:lnTo>
                  <a:pt x="1614631" y="1936425"/>
                </a:lnTo>
                <a:lnTo>
                  <a:pt x="1505653" y="1900936"/>
                </a:lnTo>
                <a:lnTo>
                  <a:pt x="1426713" y="1908112"/>
                </a:lnTo>
                <a:lnTo>
                  <a:pt x="1369843" y="1984011"/>
                </a:lnTo>
                <a:lnTo>
                  <a:pt x="1311316" y="2109330"/>
                </a:lnTo>
                <a:lnTo>
                  <a:pt x="1232436" y="2228525"/>
                </a:lnTo>
                <a:lnTo>
                  <a:pt x="1134057" y="2282964"/>
                </a:lnTo>
                <a:lnTo>
                  <a:pt x="1034058" y="2247041"/>
                </a:lnTo>
                <a:lnTo>
                  <a:pt x="950732" y="2143732"/>
                </a:lnTo>
                <a:lnTo>
                  <a:pt x="886090" y="2029472"/>
                </a:lnTo>
                <a:lnTo>
                  <a:pt x="823096" y="1958405"/>
                </a:lnTo>
                <a:lnTo>
                  <a:pt x="739843" y="1949441"/>
                </a:lnTo>
                <a:lnTo>
                  <a:pt x="629951" y="1977184"/>
                </a:lnTo>
                <a:lnTo>
                  <a:pt x="512674" y="1991473"/>
                </a:lnTo>
                <a:lnTo>
                  <a:pt x="423053" y="1951388"/>
                </a:lnTo>
                <a:lnTo>
                  <a:pt x="387365" y="1850738"/>
                </a:lnTo>
                <a:lnTo>
                  <a:pt x="401122" y="1719052"/>
                </a:lnTo>
                <a:lnTo>
                  <a:pt x="426724" y="1599326"/>
                </a:lnTo>
                <a:lnTo>
                  <a:pt x="414919" y="1519240"/>
                </a:lnTo>
                <a:lnTo>
                  <a:pt x="337167" y="1475642"/>
                </a:lnTo>
                <a:lnTo>
                  <a:pt x="207117" y="1441424"/>
                </a:lnTo>
                <a:lnTo>
                  <a:pt x="75472" y="1387693"/>
                </a:lnTo>
                <a:lnTo>
                  <a:pt x="0" y="1304011"/>
                </a:lnTo>
                <a:lnTo>
                  <a:pt x="9578" y="1202425"/>
                </a:lnTo>
                <a:lnTo>
                  <a:pt x="85898" y="1104046"/>
                </a:lnTo>
                <a:lnTo>
                  <a:pt x="175279" y="1020164"/>
                </a:lnTo>
                <a:lnTo>
                  <a:pt x="223144" y="943427"/>
                </a:lnTo>
                <a:lnTo>
                  <a:pt x="208631" y="856079"/>
                </a:lnTo>
                <a:lnTo>
                  <a:pt x="156825" y="748363"/>
                </a:lnTo>
                <a:lnTo>
                  <a:pt x="121066" y="631680"/>
                </a:lnTo>
                <a:lnTo>
                  <a:pt x="147678" y="534560"/>
                </a:lnTo>
                <a:lnTo>
                  <a:pt x="246630" y="482663"/>
                </a:lnTo>
                <a:lnTo>
                  <a:pt x="386883" y="477092"/>
                </a:lnTo>
                <a:lnTo>
                  <a:pt x="518125" y="488114"/>
                </a:lnTo>
                <a:lnTo>
                  <a:pt x="603102" y="471278"/>
                </a:lnTo>
                <a:lnTo>
                  <a:pt x="638777" y="396713"/>
                </a:lnTo>
                <a:lnTo>
                  <a:pt x="653483" y="271667"/>
                </a:lnTo>
                <a:lnTo>
                  <a:pt x="684310" y="139561"/>
                </a:lnTo>
                <a:lnTo>
                  <a:pt x="751956" y="54233"/>
                </a:lnTo>
                <a:lnTo>
                  <a:pt x="850410" y="45461"/>
                </a:lnTo>
                <a:lnTo>
                  <a:pt x="956798" y="98762"/>
                </a:lnTo>
                <a:lnTo>
                  <a:pt x="1051795" y="163785"/>
                </a:lnTo>
                <a:lnTo>
                  <a:pt x="1134057" y="186646"/>
                </a:lnTo>
                <a:lnTo>
                  <a:pt x="1217939" y="145268"/>
                </a:lnTo>
                <a:lnTo>
                  <a:pt x="1317382" y="64360"/>
                </a:lnTo>
                <a:lnTo>
                  <a:pt x="1429885" y="0"/>
                </a:lnTo>
                <a:lnTo>
                  <a:pt x="1534463" y="3940"/>
                </a:lnTo>
                <a:lnTo>
                  <a:pt x="1606423" y="91055"/>
                </a:lnTo>
                <a:lnTo>
                  <a:pt x="1638163" y="230908"/>
                </a:lnTo>
                <a:lnTo>
                  <a:pt x="1649374" y="368097"/>
                </a:lnTo>
                <a:lnTo>
                  <a:pt x="1676960" y="457039"/>
                </a:lnTo>
                <a:lnTo>
                  <a:pt x="1749989" y="488114"/>
                </a:lnTo>
                <a:lnTo>
                  <a:pt x="1866992" y="489040"/>
                </a:lnTo>
                <a:lnTo>
                  <a:pt x="1992869" y="502699"/>
                </a:lnTo>
                <a:lnTo>
                  <a:pt x="2079676" y="558092"/>
                </a:lnTo>
                <a:lnTo>
                  <a:pt x="2098542" y="654299"/>
                </a:lnTo>
                <a:lnTo>
                  <a:pt x="2060997" y="766668"/>
                </a:lnTo>
                <a:lnTo>
                  <a:pt x="2014022" y="868260"/>
                </a:lnTo>
                <a:lnTo>
                  <a:pt x="2010568" y="949493"/>
                </a:lnTo>
                <a:lnTo>
                  <a:pt x="2074318" y="1021784"/>
                </a:lnTo>
                <a:close/>
              </a:path>
            </a:pathLst>
          </a:custGeom>
          <a:solidFill>
            <a:srgbClr val="C9D8F0"/>
          </a:solidFill>
          <a:ln w="317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3520440"/>
            <a:ext cx="1691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울퉁불퉁한 경계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→ L² 이 급증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ED7D31"/>
                </a:solidFill>
                <a:latin typeface="맑은 고딕"/>
                <a:ea typeface="맑은 고딕"/>
              </a:rPr>
              <a:t>≫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35508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circularity는 '뾰족한 돌출'에, compactness는 '경계의 잔주름'에 민감 — 둘을 함께 보면 형상이 잡힌다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convexity — 볼록껍질(고무줄) 대비 충진율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Region을 고무줄로 감쌌을 때 생기는 빈 공간이 클수록 감소 — Tear(찢김) 판별의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90372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668426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패임이 깊을수록 A_convex 와의 차이(빈 공간)가 커진다</a:t>
            </a:r>
          </a:p>
        </p:txBody>
      </p:sp>
      <p:sp>
        <p:nvSpPr>
          <p:cNvPr id="10" name="Freeform 9"/>
          <p:cNvSpPr/>
          <p:nvPr/>
        </p:nvSpPr>
        <p:spPr>
          <a:xfrm>
            <a:off x="2619555" y="2146330"/>
            <a:ext cx="2560482" cy="2653176"/>
          </a:xfrm>
          <a:custGeom>
            <a:avLst/>
            <a:gdLst/>
            <a:ahLst/>
            <a:cxnLst/>
            <a:rect l="l" t="t" r="r" b="b"/>
            <a:pathLst>
              <a:path w="2560482" h="2653176">
                <a:moveTo>
                  <a:pt x="2552334" y="1374110"/>
                </a:moveTo>
                <a:lnTo>
                  <a:pt x="2560482" y="1470978"/>
                </a:lnTo>
                <a:lnTo>
                  <a:pt x="2559052" y="1568597"/>
                </a:lnTo>
                <a:lnTo>
                  <a:pt x="2547649" y="1665832"/>
                </a:lnTo>
                <a:lnTo>
                  <a:pt x="2526152" y="1761488"/>
                </a:lnTo>
                <a:lnTo>
                  <a:pt x="2494720" y="1854374"/>
                </a:lnTo>
                <a:lnTo>
                  <a:pt x="2453789" y="1943372"/>
                </a:lnTo>
                <a:lnTo>
                  <a:pt x="2404046" y="2027497"/>
                </a:lnTo>
                <a:lnTo>
                  <a:pt x="2346389" y="2105947"/>
                </a:lnTo>
                <a:lnTo>
                  <a:pt x="2281868" y="2178148"/>
                </a:lnTo>
                <a:lnTo>
                  <a:pt x="2211624" y="2243769"/>
                </a:lnTo>
                <a:lnTo>
                  <a:pt x="2136822" y="2302732"/>
                </a:lnTo>
                <a:lnTo>
                  <a:pt x="2058579" y="2355197"/>
                </a:lnTo>
                <a:lnTo>
                  <a:pt x="1977910" y="2401526"/>
                </a:lnTo>
                <a:lnTo>
                  <a:pt x="1895670" y="2442243"/>
                </a:lnTo>
                <a:lnTo>
                  <a:pt x="1812520" y="2477973"/>
                </a:lnTo>
                <a:lnTo>
                  <a:pt x="1728912" y="2509377"/>
                </a:lnTo>
                <a:lnTo>
                  <a:pt x="1645079" y="2537089"/>
                </a:lnTo>
                <a:lnTo>
                  <a:pt x="1561060" y="2561651"/>
                </a:lnTo>
                <a:lnTo>
                  <a:pt x="1476729" y="2583458"/>
                </a:lnTo>
                <a:lnTo>
                  <a:pt x="1391842" y="2602718"/>
                </a:lnTo>
                <a:lnTo>
                  <a:pt x="1306093" y="2619426"/>
                </a:lnTo>
                <a:lnTo>
                  <a:pt x="1219179" y="2633352"/>
                </a:lnTo>
                <a:lnTo>
                  <a:pt x="1130857" y="2644059"/>
                </a:lnTo>
                <a:lnTo>
                  <a:pt x="1041007" y="2650921"/>
                </a:lnTo>
                <a:lnTo>
                  <a:pt x="949671" y="2653176"/>
                </a:lnTo>
                <a:lnTo>
                  <a:pt x="857096" y="2649975"/>
                </a:lnTo>
                <a:lnTo>
                  <a:pt x="763747" y="2640449"/>
                </a:lnTo>
                <a:lnTo>
                  <a:pt x="670310" y="2623768"/>
                </a:lnTo>
                <a:lnTo>
                  <a:pt x="577685" y="2599207"/>
                </a:lnTo>
                <a:lnTo>
                  <a:pt x="486957" y="2566191"/>
                </a:lnTo>
                <a:lnTo>
                  <a:pt x="399367" y="2524337"/>
                </a:lnTo>
                <a:lnTo>
                  <a:pt x="316288" y="2473473"/>
                </a:lnTo>
                <a:lnTo>
                  <a:pt x="239202" y="2413646"/>
                </a:lnTo>
                <a:lnTo>
                  <a:pt x="169697" y="2345118"/>
                </a:lnTo>
                <a:lnTo>
                  <a:pt x="109473" y="2268365"/>
                </a:lnTo>
                <a:lnTo>
                  <a:pt x="60367" y="2184087"/>
                </a:lnTo>
                <a:lnTo>
                  <a:pt x="24356" y="2093240"/>
                </a:lnTo>
                <a:lnTo>
                  <a:pt x="3532" y="1997099"/>
                </a:lnTo>
                <a:lnTo>
                  <a:pt x="0" y="1897345"/>
                </a:lnTo>
                <a:lnTo>
                  <a:pt x="15669" y="1796147"/>
                </a:lnTo>
                <a:lnTo>
                  <a:pt x="51927" y="1696205"/>
                </a:lnTo>
                <a:lnTo>
                  <a:pt x="109207" y="1600695"/>
                </a:lnTo>
                <a:lnTo>
                  <a:pt x="186519" y="1513061"/>
                </a:lnTo>
                <a:lnTo>
                  <a:pt x="281034" y="1436637"/>
                </a:lnTo>
                <a:lnTo>
                  <a:pt x="387881" y="1374110"/>
                </a:lnTo>
                <a:lnTo>
                  <a:pt x="500258" y="1326913"/>
                </a:lnTo>
                <a:lnTo>
                  <a:pt x="609959" y="1294670"/>
                </a:lnTo>
                <a:lnTo>
                  <a:pt x="708288" y="1274864"/>
                </a:lnTo>
                <a:lnTo>
                  <a:pt x="787245" y="1262864"/>
                </a:lnTo>
                <a:lnTo>
                  <a:pt x="840774" y="1252387"/>
                </a:lnTo>
                <a:lnTo>
                  <a:pt x="865791" y="1236350"/>
                </a:lnTo>
                <a:lnTo>
                  <a:pt x="862765" y="1207982"/>
                </a:lnTo>
                <a:lnTo>
                  <a:pt x="835690" y="1161957"/>
                </a:lnTo>
                <a:lnTo>
                  <a:pt x="791451" y="1095296"/>
                </a:lnTo>
                <a:lnTo>
                  <a:pt x="738715" y="1007852"/>
                </a:lnTo>
                <a:lnTo>
                  <a:pt x="686596" y="902266"/>
                </a:lnTo>
                <a:lnTo>
                  <a:pt x="643373" y="783451"/>
                </a:lnTo>
                <a:lnTo>
                  <a:pt x="615509" y="657732"/>
                </a:lnTo>
                <a:lnTo>
                  <a:pt x="607101" y="531860"/>
                </a:lnTo>
                <a:lnTo>
                  <a:pt x="619800" y="412120"/>
                </a:lnTo>
                <a:lnTo>
                  <a:pt x="653111" y="303659"/>
                </a:lnTo>
                <a:lnTo>
                  <a:pt x="704933" y="210146"/>
                </a:lnTo>
                <a:lnTo>
                  <a:pt x="772174" y="133708"/>
                </a:lnTo>
                <a:lnTo>
                  <a:pt x="851328" y="75111"/>
                </a:lnTo>
                <a:lnTo>
                  <a:pt x="938917" y="34055"/>
                </a:lnTo>
                <a:lnTo>
                  <a:pt x="1031779" y="9507"/>
                </a:lnTo>
                <a:lnTo>
                  <a:pt x="1127220" y="0"/>
                </a:lnTo>
                <a:lnTo>
                  <a:pt x="1223055" y="3863"/>
                </a:lnTo>
                <a:lnTo>
                  <a:pt x="1317594" y="19370"/>
                </a:lnTo>
                <a:lnTo>
                  <a:pt x="1409592" y="44838"/>
                </a:lnTo>
                <a:lnTo>
                  <a:pt x="1498195" y="78669"/>
                </a:lnTo>
                <a:lnTo>
                  <a:pt x="1582889" y="119386"/>
                </a:lnTo>
                <a:lnTo>
                  <a:pt x="1663453" y="165654"/>
                </a:lnTo>
                <a:lnTo>
                  <a:pt x="1739907" y="216299"/>
                </a:lnTo>
                <a:lnTo>
                  <a:pt x="1812469" y="270337"/>
                </a:lnTo>
                <a:lnTo>
                  <a:pt x="1881495" y="326992"/>
                </a:lnTo>
                <a:lnTo>
                  <a:pt x="1947425" y="385714"/>
                </a:lnTo>
                <a:lnTo>
                  <a:pt x="2010712" y="446186"/>
                </a:lnTo>
                <a:lnTo>
                  <a:pt x="2071766" y="508311"/>
                </a:lnTo>
                <a:lnTo>
                  <a:pt x="2130892" y="572194"/>
                </a:lnTo>
                <a:lnTo>
                  <a:pt x="2188236" y="638100"/>
                </a:lnTo>
                <a:lnTo>
                  <a:pt x="2243755" y="706406"/>
                </a:lnTo>
                <a:lnTo>
                  <a:pt x="2297189" y="777541"/>
                </a:lnTo>
                <a:lnTo>
                  <a:pt x="2348060" y="851921"/>
                </a:lnTo>
                <a:lnTo>
                  <a:pt x="2395688" y="929890"/>
                </a:lnTo>
                <a:lnTo>
                  <a:pt x="2439221" y="1011659"/>
                </a:lnTo>
                <a:lnTo>
                  <a:pt x="2477684" y="1097259"/>
                </a:lnTo>
                <a:lnTo>
                  <a:pt x="2510037" y="1186512"/>
                </a:lnTo>
                <a:lnTo>
                  <a:pt x="2535243" y="1279007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619555" y="2146330"/>
            <a:ext cx="2560482" cy="2653176"/>
          </a:xfrm>
          <a:custGeom>
            <a:avLst/>
            <a:gdLst/>
            <a:ahLst/>
            <a:cxnLst/>
            <a:rect l="l" t="t" r="r" b="b"/>
            <a:pathLst>
              <a:path w="2560482" h="2653176">
                <a:moveTo>
                  <a:pt x="0" y="1897345"/>
                </a:moveTo>
                <a:lnTo>
                  <a:pt x="15669" y="1796147"/>
                </a:lnTo>
                <a:lnTo>
                  <a:pt x="51927" y="1696205"/>
                </a:lnTo>
                <a:lnTo>
                  <a:pt x="653111" y="303659"/>
                </a:lnTo>
                <a:lnTo>
                  <a:pt x="704933" y="210146"/>
                </a:lnTo>
                <a:lnTo>
                  <a:pt x="772174" y="133708"/>
                </a:lnTo>
                <a:lnTo>
                  <a:pt x="851328" y="75111"/>
                </a:lnTo>
                <a:lnTo>
                  <a:pt x="938917" y="34055"/>
                </a:lnTo>
                <a:lnTo>
                  <a:pt x="1031779" y="9507"/>
                </a:lnTo>
                <a:lnTo>
                  <a:pt x="1127220" y="0"/>
                </a:lnTo>
                <a:lnTo>
                  <a:pt x="1223055" y="3863"/>
                </a:lnTo>
                <a:lnTo>
                  <a:pt x="1317594" y="19370"/>
                </a:lnTo>
                <a:lnTo>
                  <a:pt x="1409592" y="44838"/>
                </a:lnTo>
                <a:lnTo>
                  <a:pt x="1498195" y="78669"/>
                </a:lnTo>
                <a:lnTo>
                  <a:pt x="1582889" y="119386"/>
                </a:lnTo>
                <a:lnTo>
                  <a:pt x="1663453" y="165654"/>
                </a:lnTo>
                <a:lnTo>
                  <a:pt x="1739907" y="216299"/>
                </a:lnTo>
                <a:lnTo>
                  <a:pt x="1812469" y="270337"/>
                </a:lnTo>
                <a:lnTo>
                  <a:pt x="1881495" y="326992"/>
                </a:lnTo>
                <a:lnTo>
                  <a:pt x="1947425" y="385714"/>
                </a:lnTo>
                <a:lnTo>
                  <a:pt x="2010712" y="446186"/>
                </a:lnTo>
                <a:lnTo>
                  <a:pt x="2071766" y="508311"/>
                </a:lnTo>
                <a:lnTo>
                  <a:pt x="2130892" y="572194"/>
                </a:lnTo>
                <a:lnTo>
                  <a:pt x="2188236" y="638100"/>
                </a:lnTo>
                <a:lnTo>
                  <a:pt x="2243755" y="706406"/>
                </a:lnTo>
                <a:lnTo>
                  <a:pt x="2297189" y="777541"/>
                </a:lnTo>
                <a:lnTo>
                  <a:pt x="2348060" y="851921"/>
                </a:lnTo>
                <a:lnTo>
                  <a:pt x="2395688" y="929890"/>
                </a:lnTo>
                <a:lnTo>
                  <a:pt x="2439221" y="1011659"/>
                </a:lnTo>
                <a:lnTo>
                  <a:pt x="2477684" y="1097259"/>
                </a:lnTo>
                <a:lnTo>
                  <a:pt x="2510037" y="1186512"/>
                </a:lnTo>
                <a:lnTo>
                  <a:pt x="2535243" y="1279007"/>
                </a:lnTo>
                <a:lnTo>
                  <a:pt x="2552334" y="1374110"/>
                </a:lnTo>
                <a:lnTo>
                  <a:pt x="2560482" y="1470978"/>
                </a:lnTo>
                <a:lnTo>
                  <a:pt x="2559052" y="1568597"/>
                </a:lnTo>
                <a:lnTo>
                  <a:pt x="2547649" y="1665832"/>
                </a:lnTo>
                <a:lnTo>
                  <a:pt x="2526152" y="1761488"/>
                </a:lnTo>
                <a:lnTo>
                  <a:pt x="2494720" y="1854374"/>
                </a:lnTo>
                <a:lnTo>
                  <a:pt x="2453789" y="1943372"/>
                </a:lnTo>
                <a:lnTo>
                  <a:pt x="2404046" y="2027497"/>
                </a:lnTo>
                <a:lnTo>
                  <a:pt x="2346389" y="2105947"/>
                </a:lnTo>
                <a:lnTo>
                  <a:pt x="2281868" y="2178148"/>
                </a:lnTo>
                <a:lnTo>
                  <a:pt x="2211624" y="2243769"/>
                </a:lnTo>
                <a:lnTo>
                  <a:pt x="2136822" y="2302732"/>
                </a:lnTo>
                <a:lnTo>
                  <a:pt x="2058579" y="2355197"/>
                </a:lnTo>
                <a:lnTo>
                  <a:pt x="1977910" y="2401526"/>
                </a:lnTo>
                <a:lnTo>
                  <a:pt x="1895670" y="2442243"/>
                </a:lnTo>
                <a:lnTo>
                  <a:pt x="1812520" y="2477973"/>
                </a:lnTo>
                <a:lnTo>
                  <a:pt x="1728912" y="2509377"/>
                </a:lnTo>
                <a:lnTo>
                  <a:pt x="1645079" y="2537089"/>
                </a:lnTo>
                <a:lnTo>
                  <a:pt x="1561060" y="2561651"/>
                </a:lnTo>
                <a:lnTo>
                  <a:pt x="1476729" y="2583458"/>
                </a:lnTo>
                <a:lnTo>
                  <a:pt x="1391842" y="2602718"/>
                </a:lnTo>
                <a:lnTo>
                  <a:pt x="1306093" y="2619426"/>
                </a:lnTo>
                <a:lnTo>
                  <a:pt x="1219179" y="2633352"/>
                </a:lnTo>
                <a:lnTo>
                  <a:pt x="1130857" y="2644059"/>
                </a:lnTo>
                <a:lnTo>
                  <a:pt x="1041007" y="2650921"/>
                </a:lnTo>
                <a:lnTo>
                  <a:pt x="949671" y="2653176"/>
                </a:lnTo>
                <a:lnTo>
                  <a:pt x="857096" y="2649975"/>
                </a:lnTo>
                <a:lnTo>
                  <a:pt x="763747" y="2640449"/>
                </a:lnTo>
                <a:lnTo>
                  <a:pt x="670310" y="2623768"/>
                </a:lnTo>
                <a:lnTo>
                  <a:pt x="577685" y="2599207"/>
                </a:lnTo>
                <a:lnTo>
                  <a:pt x="486957" y="2566191"/>
                </a:lnTo>
                <a:lnTo>
                  <a:pt x="399367" y="2524337"/>
                </a:lnTo>
                <a:lnTo>
                  <a:pt x="316288" y="2473473"/>
                </a:lnTo>
                <a:lnTo>
                  <a:pt x="239202" y="2413646"/>
                </a:lnTo>
                <a:lnTo>
                  <a:pt x="169697" y="2345118"/>
                </a:lnTo>
                <a:lnTo>
                  <a:pt x="109473" y="2268365"/>
                </a:lnTo>
                <a:lnTo>
                  <a:pt x="60367" y="2184087"/>
                </a:lnTo>
                <a:lnTo>
                  <a:pt x="24356" y="2093240"/>
                </a:lnTo>
                <a:lnTo>
                  <a:pt x="3532" y="1997099"/>
                </a:lnTo>
                <a:close/>
              </a:path>
            </a:pathLst>
          </a:custGeom>
          <a:noFill/>
          <a:ln w="317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83080"/>
            <a:ext cx="2011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볼록껍질 A_convex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(고무줄)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663440" y="2331720"/>
            <a:ext cx="594360" cy="411480"/>
          </a:xfrm>
          <a:prstGeom prst="line">
            <a:avLst/>
          </a:prstGeom>
          <a:ln w="15875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423160"/>
            <a:ext cx="1737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오목 패임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(찢김 자국)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788920"/>
            <a:ext cx="594360" cy="365760"/>
          </a:xfrm>
          <a:prstGeom prst="line">
            <a:avLst/>
          </a:prstGeom>
          <a:ln w="15875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489204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빈 공간(껍질 안쪽 − Region) 이 클수록 convexity 감소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691640"/>
            <a:ext cx="41148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convexity = A / A_convex     (0~1)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514600"/>
            <a:ext cx="416052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볼록 도형(원·타원·사각형) = 1.0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패임·가지·갈라짐이 있으면 감소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Tear(찢김)·Island 경계 판별에 유효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실측: 원형 흑점은 convexity = 1.000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  (패임 없음 → 찢김 아님을 수치로 확인)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rectangularity — 최소 회전 사각형 대비 충진율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Region을 가장 작게 감싸는 회전 사각형과 면적을 비교 — 띠·직사각 이물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61264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50" b="1">
                <a:solidFill>
                  <a:srgbClr val="1F3864"/>
                </a:solidFill>
                <a:latin typeface="맑은 고딕"/>
                <a:ea typeface="맑은 고딕"/>
              </a:rPr>
              <a:t>rectangularity = A / A_rect (최소 회전 사각형 면적)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직사각형에 가까움 (미도포 띠 등)  →  ≈ 0.95</a:t>
            </a:r>
          </a:p>
        </p:txBody>
      </p:sp>
      <p:sp>
        <p:nvSpPr>
          <p:cNvPr id="11" name="Freeform 10"/>
          <p:cNvSpPr/>
          <p:nvPr/>
        </p:nvSpPr>
        <p:spPr>
          <a:xfrm>
            <a:off x="1383719" y="3130180"/>
            <a:ext cx="2870738" cy="1411931"/>
          </a:xfrm>
          <a:custGeom>
            <a:avLst/>
            <a:gdLst/>
            <a:ahLst/>
            <a:cxnLst/>
            <a:rect l="l" t="t" r="r" b="b"/>
            <a:pathLst>
              <a:path w="2870738" h="1411931">
                <a:moveTo>
                  <a:pt x="2835541" y="189699"/>
                </a:moveTo>
                <a:lnTo>
                  <a:pt x="2861326" y="227899"/>
                </a:lnTo>
                <a:lnTo>
                  <a:pt x="2870738" y="272394"/>
                </a:lnTo>
                <a:lnTo>
                  <a:pt x="2861570" y="322897"/>
                </a:lnTo>
                <a:lnTo>
                  <a:pt x="2833422" y="378403"/>
                </a:lnTo>
                <a:lnTo>
                  <a:pt x="2787801" y="437418"/>
                </a:lnTo>
                <a:lnTo>
                  <a:pt x="2727771" y="498302"/>
                </a:lnTo>
                <a:lnTo>
                  <a:pt x="2657250" y="559623"/>
                </a:lnTo>
                <a:lnTo>
                  <a:pt x="2580142" y="620436"/>
                </a:lnTo>
                <a:lnTo>
                  <a:pt x="2499516" y="680401"/>
                </a:lnTo>
                <a:lnTo>
                  <a:pt x="2417038" y="739721"/>
                </a:lnTo>
                <a:lnTo>
                  <a:pt x="2332799" y="798911"/>
                </a:lnTo>
                <a:lnTo>
                  <a:pt x="2245561" y="858478"/>
                </a:lnTo>
                <a:lnTo>
                  <a:pt x="2153341" y="918601"/>
                </a:lnTo>
                <a:lnTo>
                  <a:pt x="2054170" y="978903"/>
                </a:lnTo>
                <a:lnTo>
                  <a:pt x="1946814" y="1038390"/>
                </a:lnTo>
                <a:lnTo>
                  <a:pt x="1831268" y="1095579"/>
                </a:lnTo>
                <a:lnTo>
                  <a:pt x="1708888" y="1148773"/>
                </a:lnTo>
                <a:lnTo>
                  <a:pt x="1582140" y="1196435"/>
                </a:lnTo>
                <a:lnTo>
                  <a:pt x="1454051" y="1237531"/>
                </a:lnTo>
                <a:lnTo>
                  <a:pt x="1327510" y="1271773"/>
                </a:lnTo>
                <a:lnTo>
                  <a:pt x="1204633" y="1299668"/>
                </a:lnTo>
                <a:lnTo>
                  <a:pt x="1086362" y="1322374"/>
                </a:lnTo>
                <a:lnTo>
                  <a:pt x="972424" y="1341374"/>
                </a:lnTo>
                <a:lnTo>
                  <a:pt x="861659" y="1358068"/>
                </a:lnTo>
                <a:lnTo>
                  <a:pt x="752617" y="1373373"/>
                </a:lnTo>
                <a:lnTo>
                  <a:pt x="644273" y="1387441"/>
                </a:lnTo>
                <a:lnTo>
                  <a:pt x="536644" y="1399573"/>
                </a:lnTo>
                <a:lnTo>
                  <a:pt x="431126" y="1408346"/>
                </a:lnTo>
                <a:lnTo>
                  <a:pt x="330451" y="1411931"/>
                </a:lnTo>
                <a:lnTo>
                  <a:pt x="238251" y="1408523"/>
                </a:lnTo>
                <a:lnTo>
                  <a:pt x="158334" y="1396766"/>
                </a:lnTo>
                <a:lnTo>
                  <a:pt x="93860" y="1376085"/>
                </a:lnTo>
                <a:lnTo>
                  <a:pt x="46620" y="1346819"/>
                </a:lnTo>
                <a:lnTo>
                  <a:pt x="16627" y="1310146"/>
                </a:lnTo>
                <a:lnTo>
                  <a:pt x="2119" y="1267816"/>
                </a:lnTo>
                <a:lnTo>
                  <a:pt x="0" y="1221751"/>
                </a:lnTo>
                <a:lnTo>
                  <a:pt x="6591" y="1173647"/>
                </a:lnTo>
                <a:lnTo>
                  <a:pt x="18537" y="1124638"/>
                </a:lnTo>
                <a:lnTo>
                  <a:pt x="33609" y="1075152"/>
                </a:lnTo>
                <a:lnTo>
                  <a:pt x="51224" y="1024944"/>
                </a:lnTo>
                <a:lnTo>
                  <a:pt x="72540" y="973325"/>
                </a:lnTo>
                <a:lnTo>
                  <a:pt x="100111" y="919496"/>
                </a:lnTo>
                <a:lnTo>
                  <a:pt x="137190" y="862898"/>
                </a:lnTo>
                <a:lnTo>
                  <a:pt x="186862" y="803484"/>
                </a:lnTo>
                <a:lnTo>
                  <a:pt x="251228" y="741829"/>
                </a:lnTo>
                <a:lnTo>
                  <a:pt x="330854" y="679061"/>
                </a:lnTo>
                <a:lnTo>
                  <a:pt x="424596" y="616626"/>
                </a:lnTo>
                <a:lnTo>
                  <a:pt x="529862" y="555954"/>
                </a:lnTo>
                <a:lnTo>
                  <a:pt x="643203" y="498141"/>
                </a:lnTo>
                <a:lnTo>
                  <a:pt x="761087" y="443706"/>
                </a:lnTo>
                <a:lnTo>
                  <a:pt x="880627" y="392531"/>
                </a:lnTo>
                <a:lnTo>
                  <a:pt x="1000091" y="343972"/>
                </a:lnTo>
                <a:lnTo>
                  <a:pt x="1119045" y="297139"/>
                </a:lnTo>
                <a:lnTo>
                  <a:pt x="1238122" y="251254"/>
                </a:lnTo>
                <a:lnTo>
                  <a:pt x="1358476" y="205998"/>
                </a:lnTo>
                <a:lnTo>
                  <a:pt x="1481105" y="161738"/>
                </a:lnTo>
                <a:lnTo>
                  <a:pt x="1606229" y="119579"/>
                </a:lnTo>
                <a:lnTo>
                  <a:pt x="1732903" y="81212"/>
                </a:lnTo>
                <a:lnTo>
                  <a:pt x="1858990" y="48585"/>
                </a:lnTo>
                <a:lnTo>
                  <a:pt x="1981502" y="23491"/>
                </a:lnTo>
                <a:lnTo>
                  <a:pt x="2097214" y="7165"/>
                </a:lnTo>
                <a:lnTo>
                  <a:pt x="2203391" y="0"/>
                </a:lnTo>
                <a:lnTo>
                  <a:pt x="2298417" y="1458"/>
                </a:lnTo>
                <a:lnTo>
                  <a:pt x="2382147" y="10197"/>
                </a:lnTo>
                <a:lnTo>
                  <a:pt x="2455870" y="24390"/>
                </a:lnTo>
                <a:lnTo>
                  <a:pt x="2521893" y="42149"/>
                </a:lnTo>
                <a:lnTo>
                  <a:pt x="2582819" y="61959"/>
                </a:lnTo>
                <a:lnTo>
                  <a:pt x="2640736" y="83002"/>
                </a:lnTo>
                <a:lnTo>
                  <a:pt x="2696504" y="105302"/>
                </a:lnTo>
                <a:lnTo>
                  <a:pt x="2749352" y="129644"/>
                </a:lnTo>
                <a:lnTo>
                  <a:pt x="2796887" y="157312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202818" y="2843778"/>
            <a:ext cx="3202839" cy="2012680"/>
          </a:xfrm>
          <a:custGeom>
            <a:avLst/>
            <a:gdLst/>
            <a:ahLst/>
            <a:cxnLst/>
            <a:rect l="l" t="t" r="r" b="b"/>
            <a:pathLst>
              <a:path w="3202839" h="2012680">
                <a:moveTo>
                  <a:pt x="3202839" y="941424"/>
                </a:moveTo>
                <a:lnTo>
                  <a:pt x="354007" y="2012680"/>
                </a:lnTo>
                <a:lnTo>
                  <a:pt x="0" y="1071256"/>
                </a:lnTo>
                <a:lnTo>
                  <a:pt x="2848832" y="0"/>
                </a:lnTo>
                <a:close/>
              </a:path>
            </a:pathLst>
          </a:custGeom>
          <a:noFill/>
          <a:ln w="285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549435"/>
                </a:solidFill>
                <a:latin typeface="맑은 고딕"/>
                <a:ea typeface="맑은 고딕"/>
              </a:rPr>
              <a:t>≈ 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불규칙 blob: 사각형 안이 많이 빔  →  ≈ 0.5</a:t>
            </a:r>
          </a:p>
        </p:txBody>
      </p:sp>
      <p:sp>
        <p:nvSpPr>
          <p:cNvPr id="16" name="Freeform 15"/>
          <p:cNvSpPr/>
          <p:nvPr/>
        </p:nvSpPr>
        <p:spPr>
          <a:xfrm>
            <a:off x="7684368" y="2645184"/>
            <a:ext cx="2195932" cy="2114483"/>
          </a:xfrm>
          <a:custGeom>
            <a:avLst/>
            <a:gdLst/>
            <a:ahLst/>
            <a:cxnLst/>
            <a:rect l="l" t="t" r="r" b="b"/>
            <a:pathLst>
              <a:path w="2195932" h="2114483">
                <a:moveTo>
                  <a:pt x="2177831" y="1195296"/>
                </a:moveTo>
                <a:lnTo>
                  <a:pt x="2195932" y="1295714"/>
                </a:lnTo>
                <a:lnTo>
                  <a:pt x="2184760" y="1395711"/>
                </a:lnTo>
                <a:lnTo>
                  <a:pt x="2149167" y="1490312"/>
                </a:lnTo>
                <a:lnTo>
                  <a:pt x="2096122" y="1576726"/>
                </a:lnTo>
                <a:lnTo>
                  <a:pt x="2032881" y="1654483"/>
                </a:lnTo>
                <a:lnTo>
                  <a:pt x="1965349" y="1724840"/>
                </a:lnTo>
                <a:lnTo>
                  <a:pt x="1897040" y="1789693"/>
                </a:lnTo>
                <a:lnTo>
                  <a:pt x="1828833" y="1850365"/>
                </a:lnTo>
                <a:lnTo>
                  <a:pt x="1759534" y="1906678"/>
                </a:lnTo>
                <a:lnTo>
                  <a:pt x="1686984" y="1956627"/>
                </a:lnTo>
                <a:lnTo>
                  <a:pt x="1609358" y="1996782"/>
                </a:lnTo>
                <a:lnTo>
                  <a:pt x="1526211" y="2023319"/>
                </a:lnTo>
                <a:lnTo>
                  <a:pt x="1438966" y="2033400"/>
                </a:lnTo>
                <a:lnTo>
                  <a:pt x="1350677" y="2026476"/>
                </a:lnTo>
                <a:lnTo>
                  <a:pt x="1265139" y="2005104"/>
                </a:lnTo>
                <a:lnTo>
                  <a:pt x="1185629" y="1974969"/>
                </a:lnTo>
                <a:lnTo>
                  <a:pt x="1113658" y="1944028"/>
                </a:lnTo>
                <a:lnTo>
                  <a:pt x="1048152" y="1920909"/>
                </a:lnTo>
                <a:lnTo>
                  <a:pt x="985367" y="1912933"/>
                </a:lnTo>
                <a:lnTo>
                  <a:pt x="919618" y="1924250"/>
                </a:lnTo>
                <a:lnTo>
                  <a:pt x="844709" y="1954556"/>
                </a:lnTo>
                <a:lnTo>
                  <a:pt x="755711" y="1998771"/>
                </a:lnTo>
                <a:lnTo>
                  <a:pt x="650628" y="2047788"/>
                </a:lnTo>
                <a:lnTo>
                  <a:pt x="531489" y="2090182"/>
                </a:lnTo>
                <a:lnTo>
                  <a:pt x="404530" y="2114483"/>
                </a:lnTo>
                <a:lnTo>
                  <a:pt x="279355" y="2111513"/>
                </a:lnTo>
                <a:lnTo>
                  <a:pt x="167211" y="2076237"/>
                </a:lnTo>
                <a:lnTo>
                  <a:pt x="78770" y="2008704"/>
                </a:lnTo>
                <a:lnTo>
                  <a:pt x="21901" y="1913885"/>
                </a:lnTo>
                <a:lnTo>
                  <a:pt x="0" y="1800447"/>
                </a:lnTo>
                <a:lnTo>
                  <a:pt x="11245" y="1678813"/>
                </a:lnTo>
                <a:lnTo>
                  <a:pt x="48985" y="1558963"/>
                </a:lnTo>
                <a:lnTo>
                  <a:pt x="103152" y="1448508"/>
                </a:lnTo>
                <a:lnTo>
                  <a:pt x="162381" y="1351481"/>
                </a:lnTo>
                <a:lnTo>
                  <a:pt x="216318" y="1268072"/>
                </a:lnTo>
                <a:lnTo>
                  <a:pt x="257591" y="1195296"/>
                </a:lnTo>
                <a:lnTo>
                  <a:pt x="282999" y="1128354"/>
                </a:lnTo>
                <a:lnTo>
                  <a:pt x="293692" y="1062264"/>
                </a:lnTo>
                <a:lnTo>
                  <a:pt x="294358" y="993317"/>
                </a:lnTo>
                <a:lnTo>
                  <a:pt x="291687" y="919965"/>
                </a:lnTo>
                <a:lnTo>
                  <a:pt x="292552" y="842954"/>
                </a:lnTo>
                <a:lnTo>
                  <a:pt x="302372" y="764720"/>
                </a:lnTo>
                <a:lnTo>
                  <a:pt x="324071" y="688289"/>
                </a:lnTo>
                <a:lnTo>
                  <a:pt x="357844" y="616059"/>
                </a:lnTo>
                <a:lnTo>
                  <a:pt x="401719" y="548863"/>
                </a:lnTo>
                <a:lnTo>
                  <a:pt x="452678" y="485638"/>
                </a:lnTo>
                <a:lnTo>
                  <a:pt x="507954" y="423813"/>
                </a:lnTo>
                <a:lnTo>
                  <a:pt x="566091" y="360342"/>
                </a:lnTo>
                <a:lnTo>
                  <a:pt x="627438" y="293072"/>
                </a:lnTo>
                <a:lnTo>
                  <a:pt x="693916" y="222041"/>
                </a:lnTo>
                <a:lnTo>
                  <a:pt x="768145" y="150294"/>
                </a:lnTo>
                <a:lnTo>
                  <a:pt x="852183" y="83902"/>
                </a:lnTo>
                <a:lnTo>
                  <a:pt x="946298" y="31095"/>
                </a:lnTo>
                <a:lnTo>
                  <a:pt x="1048152" y="669"/>
                </a:lnTo>
                <a:lnTo>
                  <a:pt x="1152727" y="0"/>
                </a:lnTo>
                <a:lnTo>
                  <a:pt x="1253064" y="33183"/>
                </a:lnTo>
                <a:lnTo>
                  <a:pt x="1341703" y="99747"/>
                </a:lnTo>
                <a:lnTo>
                  <a:pt x="1412472" y="194336"/>
                </a:lnTo>
                <a:lnTo>
                  <a:pt x="1462157" y="307460"/>
                </a:lnTo>
                <a:lnTo>
                  <a:pt x="1491609" y="427206"/>
                </a:lnTo>
                <a:lnTo>
                  <a:pt x="1505935" y="541515"/>
                </a:lnTo>
                <a:lnTo>
                  <a:pt x="1513661" y="640524"/>
                </a:lnTo>
                <a:lnTo>
                  <a:pt x="1525026" y="718422"/>
                </a:lnTo>
                <a:lnTo>
                  <a:pt x="1549759" y="774398"/>
                </a:lnTo>
                <a:lnTo>
                  <a:pt x="1594869" y="812480"/>
                </a:lnTo>
                <a:lnTo>
                  <a:pt x="1662976" y="840327"/>
                </a:lnTo>
                <a:lnTo>
                  <a:pt x="1751574" y="867285"/>
                </a:lnTo>
                <a:lnTo>
                  <a:pt x="1853420" y="902202"/>
                </a:lnTo>
                <a:lnTo>
                  <a:pt x="1957961" y="951513"/>
                </a:lnTo>
                <a:lnTo>
                  <a:pt x="2053448" y="1018035"/>
                </a:lnTo>
                <a:lnTo>
                  <a:pt x="2129251" y="1100712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123472" y="2497256"/>
            <a:ext cx="2940454" cy="2910401"/>
          </a:xfrm>
          <a:custGeom>
            <a:avLst/>
            <a:gdLst/>
            <a:ahLst/>
            <a:cxnLst/>
            <a:rect l="l" t="t" r="r" b="b"/>
            <a:pathLst>
              <a:path w="2940454" h="2910401">
                <a:moveTo>
                  <a:pt x="1707732" y="0"/>
                </a:moveTo>
                <a:lnTo>
                  <a:pt x="2940454" y="1566778"/>
                </a:lnTo>
                <a:lnTo>
                  <a:pt x="1232722" y="2910401"/>
                </a:lnTo>
                <a:lnTo>
                  <a:pt x="0" y="1343623"/>
                </a:lnTo>
                <a:close/>
              </a:path>
            </a:pathLst>
          </a:custGeom>
          <a:noFill/>
          <a:ln w="2857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37744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ED7D31"/>
                </a:solidFill>
                <a:latin typeface="맑은 고딕"/>
                <a:ea typeface="맑은 고딕"/>
              </a:rPr>
              <a:t>≈ 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35508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파생 Score: 종횡비(사각형 장변/단변) · 충진율(A/사각형 면적) — 길쭉한 띠성 불량 구분에 함께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roundness — 윤곽이 얼마나 매끄러운가 (Burr 검출 핵심)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중심→경계 거리들의 '흔들림(표준편차)'을 잰다 — circularity와 달리 톱니 경계에 민감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99669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Distance = mean(dᵢ)     Sigma = √mean((dᵢ − Distance)²)     Roundness = 1 − Sigma/Distance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매끈한 원: 모든 dᵢ 가 같음 → Sigma ≈ 0 → ≈ 1.0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2743200"/>
            <a:ext cx="2103120" cy="2103120"/>
          </a:xfrm>
          <a:prstGeom prst="ellipse">
            <a:avLst/>
          </a:pr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788920" y="3794760"/>
            <a:ext cx="1030598" cy="20891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88920" y="3794760"/>
            <a:ext cx="581019" cy="876467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580007" y="3794760"/>
            <a:ext cx="208913" cy="103059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912452" y="3794760"/>
            <a:ext cx="876468" cy="58101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758321" y="3585847"/>
            <a:ext cx="1030599" cy="20891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207900" y="2918292"/>
            <a:ext cx="581020" cy="87646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88920" y="2764161"/>
            <a:ext cx="208912" cy="103059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88920" y="3213740"/>
            <a:ext cx="876467" cy="5810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15768" y="3794760"/>
            <a:ext cx="146304" cy="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88920" y="3721608"/>
            <a:ext cx="0" cy="146304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37744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  <a:ea typeface="맑은 고딕"/>
              </a:rPr>
              <a:t>dᵢ 모두 동일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33172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549435"/>
                </a:solidFill>
                <a:latin typeface="맑은 고딕"/>
                <a:ea typeface="맑은 고딕"/>
              </a:rPr>
              <a:t>≈ 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톱니 원(Burr): dᵢ 가 들쭉날쭉 → Sigma ↑ → 급감</a:t>
            </a:r>
          </a:p>
        </p:txBody>
      </p:sp>
      <p:sp>
        <p:nvSpPr>
          <p:cNvPr id="26" name="Freeform 25"/>
          <p:cNvSpPr/>
          <p:nvPr/>
        </p:nvSpPr>
        <p:spPr>
          <a:xfrm>
            <a:off x="7436376" y="2715768"/>
            <a:ext cx="2237976" cy="2237976"/>
          </a:xfrm>
          <a:custGeom>
            <a:avLst/>
            <a:gdLst/>
            <a:ahLst/>
            <a:cxnLst/>
            <a:rect l="l" t="t" r="r" b="b"/>
            <a:pathLst>
              <a:path w="2237976" h="2237976">
                <a:moveTo>
                  <a:pt x="2237976" y="1124712"/>
                </a:moveTo>
                <a:lnTo>
                  <a:pt x="2226528" y="1284775"/>
                </a:lnTo>
                <a:lnTo>
                  <a:pt x="1876568" y="1348838"/>
                </a:lnTo>
                <a:lnTo>
                  <a:pt x="1836902" y="1455186"/>
                </a:lnTo>
                <a:lnTo>
                  <a:pt x="2059432" y="1732777"/>
                </a:lnTo>
                <a:lnTo>
                  <a:pt x="1963265" y="1861242"/>
                </a:lnTo>
                <a:lnTo>
                  <a:pt x="1634224" y="1725932"/>
                </a:lnTo>
                <a:lnTo>
                  <a:pt x="1543359" y="1793953"/>
                </a:lnTo>
                <a:lnTo>
                  <a:pt x="1580486" y="2147786"/>
                </a:lnTo>
                <a:lnTo>
                  <a:pt x="1430132" y="2203865"/>
                </a:lnTo>
                <a:lnTo>
                  <a:pt x="1226479" y="1912143"/>
                </a:lnTo>
                <a:lnTo>
                  <a:pt x="1113264" y="1920240"/>
                </a:lnTo>
                <a:lnTo>
                  <a:pt x="953201" y="2237976"/>
                </a:lnTo>
                <a:lnTo>
                  <a:pt x="796396" y="2203865"/>
                </a:lnTo>
                <a:lnTo>
                  <a:pt x="782790" y="1848350"/>
                </a:lnTo>
                <a:lnTo>
                  <a:pt x="683169" y="1793953"/>
                </a:lnTo>
                <a:lnTo>
                  <a:pt x="376734" y="1974713"/>
                </a:lnTo>
                <a:lnTo>
                  <a:pt x="263263" y="1861242"/>
                </a:lnTo>
                <a:lnTo>
                  <a:pt x="444023" y="1554807"/>
                </a:lnTo>
                <a:lnTo>
                  <a:pt x="389626" y="1455186"/>
                </a:lnTo>
                <a:lnTo>
                  <a:pt x="34111" y="1441580"/>
                </a:lnTo>
                <a:lnTo>
                  <a:pt x="0" y="1284775"/>
                </a:lnTo>
                <a:lnTo>
                  <a:pt x="317736" y="1124712"/>
                </a:lnTo>
                <a:lnTo>
                  <a:pt x="325833" y="1011497"/>
                </a:lnTo>
                <a:lnTo>
                  <a:pt x="34111" y="807844"/>
                </a:lnTo>
                <a:lnTo>
                  <a:pt x="90190" y="657490"/>
                </a:lnTo>
                <a:lnTo>
                  <a:pt x="444023" y="694617"/>
                </a:lnTo>
                <a:lnTo>
                  <a:pt x="512044" y="603752"/>
                </a:lnTo>
                <a:lnTo>
                  <a:pt x="376734" y="274711"/>
                </a:lnTo>
                <a:lnTo>
                  <a:pt x="505199" y="178544"/>
                </a:lnTo>
                <a:lnTo>
                  <a:pt x="782790" y="401074"/>
                </a:lnTo>
                <a:lnTo>
                  <a:pt x="889138" y="361408"/>
                </a:lnTo>
                <a:lnTo>
                  <a:pt x="953201" y="11448"/>
                </a:lnTo>
                <a:lnTo>
                  <a:pt x="1113264" y="0"/>
                </a:lnTo>
                <a:lnTo>
                  <a:pt x="1226479" y="337281"/>
                </a:lnTo>
                <a:lnTo>
                  <a:pt x="1337390" y="361408"/>
                </a:lnTo>
                <a:lnTo>
                  <a:pt x="1580486" y="101638"/>
                </a:lnTo>
                <a:lnTo>
                  <a:pt x="1721329" y="178544"/>
                </a:lnTo>
                <a:lnTo>
                  <a:pt x="1634224" y="523492"/>
                </a:lnTo>
                <a:lnTo>
                  <a:pt x="1714484" y="603752"/>
                </a:lnTo>
                <a:lnTo>
                  <a:pt x="2059432" y="516647"/>
                </a:lnTo>
                <a:lnTo>
                  <a:pt x="2136338" y="657490"/>
                </a:lnTo>
                <a:lnTo>
                  <a:pt x="1876568" y="900586"/>
                </a:lnTo>
                <a:lnTo>
                  <a:pt x="1900695" y="1011497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549640" y="3840480"/>
            <a:ext cx="1112082" cy="168074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49640" y="3840480"/>
            <a:ext cx="472144" cy="64026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381565" y="3840480"/>
            <a:ext cx="168075" cy="111208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644431" y="3840480"/>
            <a:ext cx="905209" cy="667514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763044" y="3721597"/>
            <a:ext cx="786596" cy="11888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882125" y="2935271"/>
            <a:ext cx="667515" cy="90520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49640" y="3053884"/>
            <a:ext cx="118882" cy="786596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49640" y="3368335"/>
            <a:ext cx="640269" cy="472145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76488" y="3840480"/>
            <a:ext cx="146304" cy="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549640" y="3767328"/>
            <a:ext cx="0" cy="146304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332720" y="2331720"/>
            <a:ext cx="12344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ED7D31"/>
                </a:solidFill>
                <a:latin typeface="맑은 고딕"/>
                <a:ea typeface="맑은 고딕"/>
              </a:rPr>
              <a:t>낮음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635508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Sides = 1.4111·(Distance/Sigma)^0.4724 — 다각형 '변 수' 추정. 슬리터 Burr(윤곽 톱니화) 검출의 핵심 지표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elliptic_axis · eccentricity — 등가 타원과 길쭉함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Region과 같은 2차 모멘트를 갖는 '등가 타원'을 구해 장반경/단반경/방향각을 얻는다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49224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6272783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elliptic_axis:  등가 타원  →  Ra(장반경), Rb(단반경), Phi(방향각)</a:t>
            </a:r>
          </a:p>
        </p:txBody>
      </p:sp>
      <p:sp>
        <p:nvSpPr>
          <p:cNvPr id="10" name="Oval 9"/>
          <p:cNvSpPr/>
          <p:nvPr/>
        </p:nvSpPr>
        <p:spPr>
          <a:xfrm rot="19800000">
            <a:off x="1737360" y="2834639"/>
            <a:ext cx="3291840" cy="1463040"/>
          </a:xfrm>
          <a:prstGeom prst="ellipse">
            <a:avLst/>
          </a:pr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97280" y="3566160"/>
            <a:ext cx="4572000" cy="0"/>
          </a:xfrm>
          <a:prstGeom prst="line">
            <a:avLst/>
          </a:prstGeom>
          <a:ln w="15875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3280" y="2743200"/>
            <a:ext cx="1425408" cy="82296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3317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맑은 고딕"/>
                <a:ea typeface="맑은 고딕"/>
              </a:rPr>
              <a:t>Ra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017520" y="2932645"/>
            <a:ext cx="365760" cy="633515"/>
          </a:xfrm>
          <a:prstGeom prst="line">
            <a:avLst/>
          </a:prstGeom>
          <a:ln w="31750">
            <a:solidFill>
              <a:srgbClr val="5494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14600" y="265176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49435"/>
                </a:solidFill>
                <a:latin typeface="맑은 고딕"/>
                <a:ea typeface="맑은 고딕"/>
              </a:rPr>
              <a:t>Rb</a:t>
            </a:r>
          </a:p>
        </p:txBody>
      </p:sp>
      <p:sp>
        <p:nvSpPr>
          <p:cNvPr id="16" name="Freeform 15"/>
          <p:cNvSpPr/>
          <p:nvPr/>
        </p:nvSpPr>
        <p:spPr>
          <a:xfrm>
            <a:off x="3977200" y="3223260"/>
            <a:ext cx="91880" cy="342900"/>
          </a:xfrm>
          <a:custGeom>
            <a:avLst/>
            <a:gdLst/>
            <a:ahLst/>
            <a:cxnLst/>
            <a:rect l="l" t="t" r="r" b="b"/>
            <a:pathLst>
              <a:path w="91880" h="342900">
                <a:moveTo>
                  <a:pt x="91880" y="342900"/>
                </a:moveTo>
                <a:lnTo>
                  <a:pt x="91590" y="322954"/>
                </a:lnTo>
                <a:lnTo>
                  <a:pt x="90720" y="303024"/>
                </a:lnTo>
                <a:lnTo>
                  <a:pt x="89270" y="283129"/>
                </a:lnTo>
                <a:lnTo>
                  <a:pt x="87243" y="263283"/>
                </a:lnTo>
                <a:lnTo>
                  <a:pt x="84639" y="243506"/>
                </a:lnTo>
                <a:lnTo>
                  <a:pt x="81461" y="223812"/>
                </a:lnTo>
                <a:lnTo>
                  <a:pt x="77712" y="204219"/>
                </a:lnTo>
                <a:lnTo>
                  <a:pt x="73394" y="184744"/>
                </a:lnTo>
                <a:lnTo>
                  <a:pt x="68512" y="165402"/>
                </a:lnTo>
                <a:lnTo>
                  <a:pt x="63069" y="146210"/>
                </a:lnTo>
                <a:lnTo>
                  <a:pt x="57071" y="127185"/>
                </a:lnTo>
                <a:lnTo>
                  <a:pt x="50521" y="108343"/>
                </a:lnTo>
                <a:lnTo>
                  <a:pt x="43427" y="89698"/>
                </a:lnTo>
                <a:lnTo>
                  <a:pt x="35793" y="71268"/>
                </a:lnTo>
                <a:lnTo>
                  <a:pt x="27626" y="53068"/>
                </a:lnTo>
                <a:lnTo>
                  <a:pt x="18933" y="35114"/>
                </a:lnTo>
                <a:lnTo>
                  <a:pt x="9722" y="17419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182112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5597"/>
                </a:solidFill>
                <a:latin typeface="맑은 고딕"/>
                <a:ea typeface="맑은 고딕"/>
              </a:rPr>
              <a:t>Phi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10128" y="3566160"/>
            <a:ext cx="146304" cy="0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83280" y="3493008"/>
            <a:ext cx="0" cy="146304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5029200"/>
            <a:ext cx="5760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중심 2차 모멘트(μ20, μ02, μ11)에서 닫힌 식으로 계산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합성 타원(장축 100·단축 40·30도) 검증 오차 2% 미만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600200"/>
            <a:ext cx="46634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Anisometry = Ra / Rb   (길쭉함, ≥ 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240280"/>
            <a:ext cx="46634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Bulkiness = π·Ra·Rb /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880360"/>
            <a:ext cx="46634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StructureFactor = Aniso·Bulk − 1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3794760"/>
            <a:ext cx="685800" cy="68580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57200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  <a:ea typeface="맑은 고딕"/>
              </a:rPr>
              <a:t>1.0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931920"/>
            <a:ext cx="1280160" cy="45720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457200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  <a:ea typeface="맑은 고딕"/>
              </a:rPr>
              <a:t>2.5</a:t>
            </a:r>
          </a:p>
        </p:txBody>
      </p:sp>
      <p:sp>
        <p:nvSpPr>
          <p:cNvPr id="28" name="Oval 27"/>
          <p:cNvSpPr/>
          <p:nvPr/>
        </p:nvSpPr>
        <p:spPr>
          <a:xfrm>
            <a:off x="10149840" y="4050792"/>
            <a:ext cx="1554480" cy="14630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4572000"/>
            <a:ext cx="1463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ED7D31"/>
                </a:solidFill>
                <a:latin typeface="맑은 고딕"/>
                <a:ea typeface="맑은 고딕"/>
              </a:rPr>
              <a:t>&gt; 10 스크래치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120640"/>
            <a:ext cx="4663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세로줄 스크래치·주름은 Anisometry가 매우 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→ 롤프레스 주름 / 코터 줄무늬 판별 주력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orientation_region — 불량의 방향각 (MD/TD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등가 타원의 Phi에 '가장 먼 경계점 방향'으로 부호를 정한 방향각 — 범위 (−π, π]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49224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6272783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이미지 좌표에서 본 방향각 — 진행(MD) / 폭(TD)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874519"/>
            <a:ext cx="420624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097280" y="2148839"/>
            <a:ext cx="0" cy="2834641"/>
          </a:xfrm>
          <a:prstGeom prst="line">
            <a:avLst/>
          </a:prstGeom>
          <a:ln w="31750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063239"/>
            <a:ext cx="868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E5597"/>
                </a:solidFill>
                <a:latin typeface="맑은 고딕"/>
                <a:ea typeface="맑은 고딕"/>
              </a:rPr>
              <a:t>MD</a:t>
            </a:r>
          </a:p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E5597"/>
                </a:solidFill>
                <a:latin typeface="맑은 고딕"/>
                <a:ea typeface="맑은 고딕"/>
              </a:rPr>
              <a:t>(진행)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91640" y="5477256"/>
            <a:ext cx="3657600" cy="0"/>
          </a:xfrm>
          <a:prstGeom prst="line">
            <a:avLst/>
          </a:prstGeom>
          <a:ln w="31750">
            <a:solidFill>
              <a:srgbClr val="5494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79" y="532180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49435"/>
                </a:solidFill>
                <a:latin typeface="맑은 고딕"/>
                <a:ea typeface="맑은 고딕"/>
              </a:rPr>
              <a:t>TD (폭)</a:t>
            </a:r>
          </a:p>
        </p:txBody>
      </p:sp>
      <p:sp>
        <p:nvSpPr>
          <p:cNvPr id="15" name="Oval 14"/>
          <p:cNvSpPr/>
          <p:nvPr/>
        </p:nvSpPr>
        <p:spPr>
          <a:xfrm>
            <a:off x="2194560" y="2377439"/>
            <a:ext cx="201168" cy="237744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84632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5597"/>
                </a:solidFill>
                <a:latin typeface="맑은 고딕"/>
                <a:ea typeface="맑은 고딕"/>
              </a:rPr>
              <a:t>Phi ≈ ±90°</a:t>
            </a:r>
          </a:p>
        </p:txBody>
      </p:sp>
      <p:sp>
        <p:nvSpPr>
          <p:cNvPr id="17" name="Oval 16"/>
          <p:cNvSpPr/>
          <p:nvPr/>
        </p:nvSpPr>
        <p:spPr>
          <a:xfrm>
            <a:off x="3154680" y="3246120"/>
            <a:ext cx="2148840" cy="18288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566160"/>
            <a:ext cx="1463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49435"/>
                </a:solidFill>
                <a:latin typeface="맑은 고딕"/>
                <a:ea typeface="맑은 고딕"/>
              </a:rPr>
              <a:t>Phi ≈ 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91640"/>
            <a:ext cx="466344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MD(세로) 불량: 스크래치·줄무늬·코팅 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  → 롤·바 등 '연속 원인' 의심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TD(가로) 불량: 횡 주름·횡 크랙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  → 장력·순간 이벤트 원인 의심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· Anisometry(길쭉함)와 조합하면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  "길쭉한가?" + "어느 방향인가?" 로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  원인 계통까지 좁힐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외접·내접 도형 — 하나의 Region을 네 가지 틀로 감싸고 채운다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smallest_rectangle1/2 · smallest_circle · inner_circle — 파생 Score(종횡비·충진율·내외접비)의 재료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7223760" cy="47091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5641848"/>
            <a:ext cx="70043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한 Region 위에 겹쳐 본 외접·내접 도형</a:t>
            </a:r>
          </a:p>
        </p:txBody>
      </p:sp>
      <p:sp>
        <p:nvSpPr>
          <p:cNvPr id="10" name="Freeform 9"/>
          <p:cNvSpPr/>
          <p:nvPr/>
        </p:nvSpPr>
        <p:spPr>
          <a:xfrm>
            <a:off x="2595384" y="2492783"/>
            <a:ext cx="2851341" cy="2210734"/>
          </a:xfrm>
          <a:custGeom>
            <a:avLst/>
            <a:gdLst/>
            <a:ahLst/>
            <a:cxnLst/>
            <a:rect l="l" t="t" r="r" b="b"/>
            <a:pathLst>
              <a:path w="2851341" h="2210734">
                <a:moveTo>
                  <a:pt x="2851341" y="1805266"/>
                </a:moveTo>
                <a:lnTo>
                  <a:pt x="2829667" y="1895367"/>
                </a:lnTo>
                <a:lnTo>
                  <a:pt x="2786079" y="1976713"/>
                </a:lnTo>
                <a:lnTo>
                  <a:pt x="2721996" y="2047263"/>
                </a:lnTo>
                <a:lnTo>
                  <a:pt x="2639699" y="2105577"/>
                </a:lnTo>
                <a:lnTo>
                  <a:pt x="2542110" y="2150887"/>
                </a:lnTo>
                <a:lnTo>
                  <a:pt x="2432510" y="2183094"/>
                </a:lnTo>
                <a:lnTo>
                  <a:pt x="2314267" y="2202709"/>
                </a:lnTo>
                <a:lnTo>
                  <a:pt x="2190575" y="2210734"/>
                </a:lnTo>
                <a:lnTo>
                  <a:pt x="2064243" y="2208506"/>
                </a:lnTo>
                <a:lnTo>
                  <a:pt x="1937553" y="2197532"/>
                </a:lnTo>
                <a:lnTo>
                  <a:pt x="1812186" y="2179314"/>
                </a:lnTo>
                <a:lnTo>
                  <a:pt x="1689228" y="2155209"/>
                </a:lnTo>
                <a:lnTo>
                  <a:pt x="1569247" y="2126318"/>
                </a:lnTo>
                <a:lnTo>
                  <a:pt x="1452408" y="2093424"/>
                </a:lnTo>
                <a:lnTo>
                  <a:pt x="1338633" y="2056978"/>
                </a:lnTo>
                <a:lnTo>
                  <a:pt x="1227753" y="2017132"/>
                </a:lnTo>
                <a:lnTo>
                  <a:pt x="1119652" y="1973810"/>
                </a:lnTo>
                <a:lnTo>
                  <a:pt x="1014374" y="1926802"/>
                </a:lnTo>
                <a:lnTo>
                  <a:pt x="912176" y="1875867"/>
                </a:lnTo>
                <a:lnTo>
                  <a:pt x="813541" y="1820827"/>
                </a:lnTo>
                <a:lnTo>
                  <a:pt x="719127" y="1761640"/>
                </a:lnTo>
                <a:lnTo>
                  <a:pt x="629690" y="1698446"/>
                </a:lnTo>
                <a:lnTo>
                  <a:pt x="545972" y="1631570"/>
                </a:lnTo>
                <a:lnTo>
                  <a:pt x="468597" y="1561492"/>
                </a:lnTo>
                <a:lnTo>
                  <a:pt x="397968" y="1488793"/>
                </a:lnTo>
                <a:lnTo>
                  <a:pt x="334214" y="1414072"/>
                </a:lnTo>
                <a:lnTo>
                  <a:pt x="277168" y="1337867"/>
                </a:lnTo>
                <a:lnTo>
                  <a:pt x="226407" y="1260577"/>
                </a:lnTo>
                <a:lnTo>
                  <a:pt x="181334" y="1182420"/>
                </a:lnTo>
                <a:lnTo>
                  <a:pt x="141302" y="1103406"/>
                </a:lnTo>
                <a:lnTo>
                  <a:pt x="105764" y="1023369"/>
                </a:lnTo>
                <a:lnTo>
                  <a:pt x="74426" y="942025"/>
                </a:lnTo>
                <a:lnTo>
                  <a:pt x="47373" y="859069"/>
                </a:lnTo>
                <a:lnTo>
                  <a:pt x="25163" y="774297"/>
                </a:lnTo>
                <a:lnTo>
                  <a:pt x="8861" y="687732"/>
                </a:lnTo>
                <a:lnTo>
                  <a:pt x="0" y="599738"/>
                </a:lnTo>
                <a:lnTo>
                  <a:pt x="475" y="511118"/>
                </a:lnTo>
                <a:lnTo>
                  <a:pt x="12378" y="423150"/>
                </a:lnTo>
                <a:lnTo>
                  <a:pt x="37771" y="337589"/>
                </a:lnTo>
                <a:lnTo>
                  <a:pt x="78449" y="256598"/>
                </a:lnTo>
                <a:lnTo>
                  <a:pt x="135698" y="182621"/>
                </a:lnTo>
                <a:lnTo>
                  <a:pt x="210079" y="118218"/>
                </a:lnTo>
                <a:lnTo>
                  <a:pt x="301281" y="65861"/>
                </a:lnTo>
                <a:lnTo>
                  <a:pt x="408040" y="27714"/>
                </a:lnTo>
                <a:lnTo>
                  <a:pt x="528162" y="5435"/>
                </a:lnTo>
                <a:lnTo>
                  <a:pt x="658638" y="0"/>
                </a:lnTo>
                <a:lnTo>
                  <a:pt x="795841" y="11589"/>
                </a:lnTo>
                <a:lnTo>
                  <a:pt x="935807" y="39534"/>
                </a:lnTo>
                <a:lnTo>
                  <a:pt x="1074549" y="82353"/>
                </a:lnTo>
                <a:lnTo>
                  <a:pt x="1208391" y="137852"/>
                </a:lnTo>
                <a:lnTo>
                  <a:pt x="1334276" y="203302"/>
                </a:lnTo>
                <a:lnTo>
                  <a:pt x="1450020" y="275667"/>
                </a:lnTo>
                <a:lnTo>
                  <a:pt x="1554482" y="351862"/>
                </a:lnTo>
                <a:lnTo>
                  <a:pt x="1647627" y="429018"/>
                </a:lnTo>
                <a:lnTo>
                  <a:pt x="1730484" y="504724"/>
                </a:lnTo>
                <a:lnTo>
                  <a:pt x="1804989" y="577222"/>
                </a:lnTo>
                <a:lnTo>
                  <a:pt x="1873733" y="645531"/>
                </a:lnTo>
                <a:lnTo>
                  <a:pt x="1939646" y="709503"/>
                </a:lnTo>
                <a:lnTo>
                  <a:pt x="2005637" y="769777"/>
                </a:lnTo>
                <a:lnTo>
                  <a:pt x="2074243" y="827662"/>
                </a:lnTo>
                <a:lnTo>
                  <a:pt x="2147310" y="884953"/>
                </a:lnTo>
                <a:lnTo>
                  <a:pt x="2225746" y="943690"/>
                </a:lnTo>
                <a:lnTo>
                  <a:pt x="2309373" y="1005902"/>
                </a:lnTo>
                <a:lnTo>
                  <a:pt x="2396887" y="1073350"/>
                </a:lnTo>
                <a:lnTo>
                  <a:pt x="2485941" y="1147303"/>
                </a:lnTo>
                <a:lnTo>
                  <a:pt x="2573325" y="1228363"/>
                </a:lnTo>
                <a:lnTo>
                  <a:pt x="2655244" y="1316371"/>
                </a:lnTo>
                <a:lnTo>
                  <a:pt x="2727646" y="1410380"/>
                </a:lnTo>
                <a:lnTo>
                  <a:pt x="2786577" y="1508720"/>
                </a:lnTo>
                <a:lnTo>
                  <a:pt x="2828526" y="1609123"/>
                </a:lnTo>
                <a:lnTo>
                  <a:pt x="2850719" y="1708922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5383" y="2492783"/>
            <a:ext cx="2851341" cy="2210733"/>
          </a:xfrm>
          <a:prstGeom prst="rect">
            <a:avLst/>
          </a:prstGeom>
          <a:noFill/>
          <a:ln w="222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8860" y="2070463"/>
            <a:ext cx="3475344" cy="3306817"/>
          </a:xfrm>
          <a:custGeom>
            <a:avLst/>
            <a:gdLst/>
            <a:ahLst/>
            <a:cxnLst/>
            <a:rect l="l" t="t" r="r" b="b"/>
            <a:pathLst>
              <a:path w="3475344" h="3306817">
                <a:moveTo>
                  <a:pt x="1060548" y="0"/>
                </a:moveTo>
                <a:lnTo>
                  <a:pt x="3475344" y="2069045"/>
                </a:lnTo>
                <a:lnTo>
                  <a:pt x="2414796" y="3306817"/>
                </a:lnTo>
                <a:lnTo>
                  <a:pt x="0" y="1237772"/>
                </a:lnTo>
                <a:close/>
              </a:path>
            </a:pathLst>
          </a:custGeom>
          <a:noFill/>
          <a:ln w="25400">
            <a:solidFill>
              <a:srgbClr val="2E55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23742" y="2005532"/>
            <a:ext cx="3207812" cy="3207812"/>
          </a:xfrm>
          <a:prstGeom prst="ellipse">
            <a:avLst/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63701" y="2771677"/>
            <a:ext cx="1607253" cy="1607253"/>
          </a:xfrm>
          <a:prstGeom prst="ellipse">
            <a:avLst/>
          </a:prstGeom>
          <a:noFill/>
          <a:ln w="2857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703320" y="3575304"/>
            <a:ext cx="128016" cy="0"/>
          </a:xfrm>
          <a:prstGeom prst="line">
            <a:avLst/>
          </a:prstGeom>
          <a:ln w="28575">
            <a:solidFill>
              <a:srgbClr val="5494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67328" y="3511296"/>
            <a:ext cx="0" cy="128016"/>
          </a:xfrm>
          <a:prstGeom prst="line">
            <a:avLst/>
          </a:prstGeom>
          <a:ln w="28575">
            <a:solidFill>
              <a:srgbClr val="5494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1837944"/>
            <a:ext cx="457200" cy="0"/>
          </a:xfrm>
          <a:prstGeom prst="line">
            <a:avLst/>
          </a:prstGeom>
          <a:ln w="3175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58200" y="169164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smallest_rectangle1 — 축평행 바운딩박스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2404872"/>
            <a:ext cx="457200" cy="0"/>
          </a:xfrm>
          <a:prstGeom prst="line">
            <a:avLst/>
          </a:prstGeom>
          <a:ln w="31750">
            <a:solidFill>
              <a:srgbClr val="2E559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8200" y="2258568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smallest_rectangle2 — 최소 회전 사각형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2971800"/>
            <a:ext cx="457200" cy="0"/>
          </a:xfrm>
          <a:prstGeom prst="line">
            <a:avLst/>
          </a:prstGeom>
          <a:ln w="3175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58200" y="2825496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smallest_circle — 최소 외접원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3538728"/>
            <a:ext cx="457200" cy="0"/>
          </a:xfrm>
          <a:prstGeom prst="line">
            <a:avLst/>
          </a:prstGeom>
          <a:ln w="31750">
            <a:solidFill>
              <a:srgbClr val="5494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58200" y="3392424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inner_circle — 최대 내접원 (거리변환 최대점)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114800"/>
            <a:ext cx="3977639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파생 Score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종횡비 = 회전사각형 장변/단변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충진율 = A / 회전사각형 면적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· 내외접비 = r내접 / r외접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  (1에 가까울수록 원형·꽉 찬 형상)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euler_number · connect_and_holes — 성분 수와 구멍 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형상이 아니라 '위상(topology)'을 센다 — 기포 군집과 단일 핀홀을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17320"/>
            <a:ext cx="5029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1F3864"/>
                </a:solidFill>
                <a:latin typeface="맑은 고딕"/>
                <a:ea typeface="맑은 고딕"/>
              </a:rPr>
              <a:t>Euler = 연결 성분 수 − 구멍 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구멍 2개짜리 Region:  성분 1 − 구멍 2  →  Euler = −1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00794" y="2675183"/>
            <a:ext cx="2484812" cy="2330594"/>
          </a:xfrm>
          <a:custGeom>
            <a:avLst/>
            <a:gdLst/>
            <a:ahLst/>
            <a:cxnLst/>
            <a:rect l="l" t="t" r="r" b="b"/>
            <a:pathLst>
              <a:path w="2484812" h="2330594">
                <a:moveTo>
                  <a:pt x="2472788" y="1165297"/>
                </a:moveTo>
                <a:lnTo>
                  <a:pt x="2484521" y="1273968"/>
                </a:lnTo>
                <a:lnTo>
                  <a:pt x="2484812" y="1384367"/>
                </a:lnTo>
                <a:lnTo>
                  <a:pt x="2473063" y="1495051"/>
                </a:lnTo>
                <a:lnTo>
                  <a:pt x="2448948" y="1604442"/>
                </a:lnTo>
                <a:lnTo>
                  <a:pt x="2412436" y="1710891"/>
                </a:lnTo>
                <a:lnTo>
                  <a:pt x="2363812" y="1812741"/>
                </a:lnTo>
                <a:lnTo>
                  <a:pt x="2303672" y="1908403"/>
                </a:lnTo>
                <a:lnTo>
                  <a:pt x="2232899" y="1996419"/>
                </a:lnTo>
                <a:lnTo>
                  <a:pt x="2152636" y="2075527"/>
                </a:lnTo>
                <a:lnTo>
                  <a:pt x="2064228" y="2144706"/>
                </a:lnTo>
                <a:lnTo>
                  <a:pt x="1969166" y="2203218"/>
                </a:lnTo>
                <a:lnTo>
                  <a:pt x="1869019" y="2250623"/>
                </a:lnTo>
                <a:lnTo>
                  <a:pt x="1765365" y="2286786"/>
                </a:lnTo>
                <a:lnTo>
                  <a:pt x="1659720" y="2311858"/>
                </a:lnTo>
                <a:lnTo>
                  <a:pt x="1553483" y="2326252"/>
                </a:lnTo>
                <a:lnTo>
                  <a:pt x="1447879" y="2330594"/>
                </a:lnTo>
                <a:lnTo>
                  <a:pt x="1343925" y="2325667"/>
                </a:lnTo>
                <a:lnTo>
                  <a:pt x="1242406" y="2312355"/>
                </a:lnTo>
                <a:lnTo>
                  <a:pt x="1143869" y="2291575"/>
                </a:lnTo>
                <a:lnTo>
                  <a:pt x="1048638" y="2264213"/>
                </a:lnTo>
                <a:lnTo>
                  <a:pt x="956833" y="2231071"/>
                </a:lnTo>
                <a:lnTo>
                  <a:pt x="868419" y="2192818"/>
                </a:lnTo>
                <a:lnTo>
                  <a:pt x="783250" y="2149959"/>
                </a:lnTo>
                <a:lnTo>
                  <a:pt x="701130" y="2102814"/>
                </a:lnTo>
                <a:lnTo>
                  <a:pt x="621869" y="2051516"/>
                </a:lnTo>
                <a:lnTo>
                  <a:pt x="545339" y="1996029"/>
                </a:lnTo>
                <a:lnTo>
                  <a:pt x="471532" y="1936171"/>
                </a:lnTo>
                <a:lnTo>
                  <a:pt x="400591" y="1871664"/>
                </a:lnTo>
                <a:lnTo>
                  <a:pt x="332842" y="1802180"/>
                </a:lnTo>
                <a:lnTo>
                  <a:pt x="268809" y="1727404"/>
                </a:lnTo>
                <a:lnTo>
                  <a:pt x="209202" y="1647088"/>
                </a:lnTo>
                <a:lnTo>
                  <a:pt x="154905" y="1561115"/>
                </a:lnTo>
                <a:lnTo>
                  <a:pt x="106931" y="1469547"/>
                </a:lnTo>
                <a:lnTo>
                  <a:pt x="66381" y="1372662"/>
                </a:lnTo>
                <a:lnTo>
                  <a:pt x="34383" y="1270985"/>
                </a:lnTo>
                <a:lnTo>
                  <a:pt x="12024" y="1165297"/>
                </a:lnTo>
                <a:lnTo>
                  <a:pt x="291" y="1056626"/>
                </a:lnTo>
                <a:lnTo>
                  <a:pt x="0" y="946227"/>
                </a:lnTo>
                <a:lnTo>
                  <a:pt x="11749" y="835543"/>
                </a:lnTo>
                <a:lnTo>
                  <a:pt x="35864" y="726152"/>
                </a:lnTo>
                <a:lnTo>
                  <a:pt x="72376" y="619703"/>
                </a:lnTo>
                <a:lnTo>
                  <a:pt x="121000" y="517853"/>
                </a:lnTo>
                <a:lnTo>
                  <a:pt x="181140" y="422191"/>
                </a:lnTo>
                <a:lnTo>
                  <a:pt x="251913" y="334175"/>
                </a:lnTo>
                <a:lnTo>
                  <a:pt x="332176" y="255067"/>
                </a:lnTo>
                <a:lnTo>
                  <a:pt x="420584" y="185888"/>
                </a:lnTo>
                <a:lnTo>
                  <a:pt x="515646" y="127376"/>
                </a:lnTo>
                <a:lnTo>
                  <a:pt x="615793" y="79971"/>
                </a:lnTo>
                <a:lnTo>
                  <a:pt x="719447" y="43808"/>
                </a:lnTo>
                <a:lnTo>
                  <a:pt x="825092" y="18736"/>
                </a:lnTo>
                <a:lnTo>
                  <a:pt x="931329" y="4342"/>
                </a:lnTo>
                <a:lnTo>
                  <a:pt x="1036933" y="0"/>
                </a:lnTo>
                <a:lnTo>
                  <a:pt x="1140887" y="4927"/>
                </a:lnTo>
                <a:lnTo>
                  <a:pt x="1242406" y="18239"/>
                </a:lnTo>
                <a:lnTo>
                  <a:pt x="1340943" y="39019"/>
                </a:lnTo>
                <a:lnTo>
                  <a:pt x="1436174" y="66381"/>
                </a:lnTo>
                <a:lnTo>
                  <a:pt x="1527979" y="99523"/>
                </a:lnTo>
                <a:lnTo>
                  <a:pt x="1616393" y="137776"/>
                </a:lnTo>
                <a:lnTo>
                  <a:pt x="1701562" y="180635"/>
                </a:lnTo>
                <a:lnTo>
                  <a:pt x="1783682" y="227780"/>
                </a:lnTo>
                <a:lnTo>
                  <a:pt x="1862943" y="279078"/>
                </a:lnTo>
                <a:lnTo>
                  <a:pt x="1939473" y="334565"/>
                </a:lnTo>
                <a:lnTo>
                  <a:pt x="2013280" y="394423"/>
                </a:lnTo>
                <a:lnTo>
                  <a:pt x="2084221" y="458930"/>
                </a:lnTo>
                <a:lnTo>
                  <a:pt x="2151970" y="528414"/>
                </a:lnTo>
                <a:lnTo>
                  <a:pt x="2216003" y="603190"/>
                </a:lnTo>
                <a:lnTo>
                  <a:pt x="2275610" y="683506"/>
                </a:lnTo>
                <a:lnTo>
                  <a:pt x="2329907" y="769479"/>
                </a:lnTo>
                <a:lnTo>
                  <a:pt x="2377881" y="861047"/>
                </a:lnTo>
                <a:lnTo>
                  <a:pt x="2418431" y="957932"/>
                </a:lnTo>
                <a:lnTo>
                  <a:pt x="2450429" y="1059609"/>
                </a:lnTo>
                <a:close/>
              </a:path>
            </a:pathLst>
          </a:custGeom>
          <a:solidFill>
            <a:srgbClr val="C9D8F0"/>
          </a:solidFill>
          <a:ln w="254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3429000"/>
            <a:ext cx="548640" cy="457200"/>
          </a:xfrm>
          <a:prstGeom prst="ellipse">
            <a:avLst/>
          </a:prstGeom>
          <a:solidFill>
            <a:srgbClr val="F4F5F7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3240" y="3977639"/>
            <a:ext cx="457200" cy="384048"/>
          </a:xfrm>
          <a:prstGeom prst="ellipse">
            <a:avLst/>
          </a:prstGeom>
          <a:solidFill>
            <a:srgbClr val="F4F5F7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377440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성분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017520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구멍 2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429000" y="3310128"/>
            <a:ext cx="640080" cy="393192"/>
          </a:xfrm>
          <a:prstGeom prst="line">
            <a:avLst/>
          </a:prstGeom>
          <a:ln w="15875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2200" y="2148840"/>
            <a:ext cx="562356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5641848"/>
            <a:ext cx="5404104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단일 핀홀 (1, 0 → Euler 1)   vs   기포 군집 (1, 5 → Euler −4)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3657600"/>
            <a:ext cx="457200" cy="457200"/>
          </a:xfrm>
          <a:prstGeom prst="ellipse">
            <a:avLst/>
          </a:prstGeom>
          <a:solidFill>
            <a:srgbClr val="C9D8F0"/>
          </a:solidFill>
          <a:ln w="2222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4340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  <a:ea typeface="맑은 고딕"/>
              </a:rPr>
              <a:t>단일 핀홀</a:t>
            </a:r>
          </a:p>
        </p:txBody>
      </p:sp>
      <p:sp>
        <p:nvSpPr>
          <p:cNvPr id="21" name="Freeform 20"/>
          <p:cNvSpPr/>
          <p:nvPr/>
        </p:nvSpPr>
        <p:spPr>
          <a:xfrm>
            <a:off x="9134984" y="2854386"/>
            <a:ext cx="1871621" cy="1832613"/>
          </a:xfrm>
          <a:custGeom>
            <a:avLst/>
            <a:gdLst/>
            <a:ahLst/>
            <a:cxnLst/>
            <a:rect l="l" t="t" r="r" b="b"/>
            <a:pathLst>
              <a:path w="1871621" h="1832613">
                <a:moveTo>
                  <a:pt x="1852349" y="986094"/>
                </a:moveTo>
                <a:lnTo>
                  <a:pt x="1866806" y="1068630"/>
                </a:lnTo>
                <a:lnTo>
                  <a:pt x="1871621" y="1153288"/>
                </a:lnTo>
                <a:lnTo>
                  <a:pt x="1865553" y="1238539"/>
                </a:lnTo>
                <a:lnTo>
                  <a:pt x="1847844" y="1322558"/>
                </a:lnTo>
                <a:lnTo>
                  <a:pt x="1818316" y="1403392"/>
                </a:lnTo>
                <a:lnTo>
                  <a:pt x="1777398" y="1479141"/>
                </a:lnTo>
                <a:lnTo>
                  <a:pt x="1726094" y="1548136"/>
                </a:lnTo>
                <a:lnTo>
                  <a:pt x="1665883" y="1609098"/>
                </a:lnTo>
                <a:lnTo>
                  <a:pt x="1598575" y="1661253"/>
                </a:lnTo>
                <a:lnTo>
                  <a:pt x="1526133" y="1704384"/>
                </a:lnTo>
                <a:lnTo>
                  <a:pt x="1450486" y="1738827"/>
                </a:lnTo>
                <a:lnTo>
                  <a:pt x="1373349" y="1765402"/>
                </a:lnTo>
                <a:lnTo>
                  <a:pt x="1296083" y="1785282"/>
                </a:lnTo>
                <a:lnTo>
                  <a:pt x="1219594" y="1799837"/>
                </a:lnTo>
                <a:lnTo>
                  <a:pt x="1144300" y="1810443"/>
                </a:lnTo>
                <a:lnTo>
                  <a:pt x="1070156" y="1818301"/>
                </a:lnTo>
                <a:lnTo>
                  <a:pt x="996748" y="1824280"/>
                </a:lnTo>
                <a:lnTo>
                  <a:pt x="923416" y="1828800"/>
                </a:lnTo>
                <a:lnTo>
                  <a:pt x="849429" y="1831774"/>
                </a:lnTo>
                <a:lnTo>
                  <a:pt x="774152" y="1832613"/>
                </a:lnTo>
                <a:lnTo>
                  <a:pt x="697213" y="1830295"/>
                </a:lnTo>
                <a:lnTo>
                  <a:pt x="618628" y="1823491"/>
                </a:lnTo>
                <a:lnTo>
                  <a:pt x="538883" y="1810727"/>
                </a:lnTo>
                <a:lnTo>
                  <a:pt x="458949" y="1790574"/>
                </a:lnTo>
                <a:lnTo>
                  <a:pt x="380243" y="1761826"/>
                </a:lnTo>
                <a:lnTo>
                  <a:pt x="304519" y="1723667"/>
                </a:lnTo>
                <a:lnTo>
                  <a:pt x="233724" y="1675786"/>
                </a:lnTo>
                <a:lnTo>
                  <a:pt x="169816" y="1618440"/>
                </a:lnTo>
                <a:lnTo>
                  <a:pt x="114575" y="1552450"/>
                </a:lnTo>
                <a:lnTo>
                  <a:pt x="69434" y="1479141"/>
                </a:lnTo>
                <a:lnTo>
                  <a:pt x="35335" y="1400213"/>
                </a:lnTo>
                <a:lnTo>
                  <a:pt x="12645" y="1317587"/>
                </a:lnTo>
                <a:lnTo>
                  <a:pt x="1132" y="1233219"/>
                </a:lnTo>
                <a:lnTo>
                  <a:pt x="0" y="1148917"/>
                </a:lnTo>
                <a:lnTo>
                  <a:pt x="7995" y="1066183"/>
                </a:lnTo>
                <a:lnTo>
                  <a:pt x="23549" y="986094"/>
                </a:lnTo>
                <a:lnTo>
                  <a:pt x="44965" y="909240"/>
                </a:lnTo>
                <a:lnTo>
                  <a:pt x="70605" y="835720"/>
                </a:lnTo>
                <a:lnTo>
                  <a:pt x="99067" y="765210"/>
                </a:lnTo>
                <a:lnTo>
                  <a:pt x="129334" y="697072"/>
                </a:lnTo>
                <a:lnTo>
                  <a:pt x="160860" y="630508"/>
                </a:lnTo>
                <a:lnTo>
                  <a:pt x="193611" y="564741"/>
                </a:lnTo>
                <a:lnTo>
                  <a:pt x="228029" y="499179"/>
                </a:lnTo>
                <a:lnTo>
                  <a:pt x="264941" y="433568"/>
                </a:lnTo>
                <a:lnTo>
                  <a:pt x="305418" y="368096"/>
                </a:lnTo>
                <a:lnTo>
                  <a:pt x="350603" y="303442"/>
                </a:lnTo>
                <a:lnTo>
                  <a:pt x="401529" y="240762"/>
                </a:lnTo>
                <a:lnTo>
                  <a:pt x="458949" y="181614"/>
                </a:lnTo>
                <a:lnTo>
                  <a:pt x="523199" y="127826"/>
                </a:lnTo>
                <a:lnTo>
                  <a:pt x="594108" y="81327"/>
                </a:lnTo>
                <a:lnTo>
                  <a:pt x="670971" y="43957"/>
                </a:lnTo>
                <a:lnTo>
                  <a:pt x="752589" y="17284"/>
                </a:lnTo>
                <a:lnTo>
                  <a:pt x="837357" y="2439"/>
                </a:lnTo>
                <a:lnTo>
                  <a:pt x="923416" y="0"/>
                </a:lnTo>
                <a:lnTo>
                  <a:pt x="1008819" y="9933"/>
                </a:lnTo>
                <a:lnTo>
                  <a:pt x="1091720" y="31597"/>
                </a:lnTo>
                <a:lnTo>
                  <a:pt x="1170541" y="63810"/>
                </a:lnTo>
                <a:lnTo>
                  <a:pt x="1244115" y="104981"/>
                </a:lnTo>
                <a:lnTo>
                  <a:pt x="1311767" y="153272"/>
                </a:lnTo>
                <a:lnTo>
                  <a:pt x="1373349" y="206786"/>
                </a:lnTo>
                <a:lnTo>
                  <a:pt x="1429199" y="263760"/>
                </a:lnTo>
                <a:lnTo>
                  <a:pt x="1480049" y="322725"/>
                </a:lnTo>
                <a:lnTo>
                  <a:pt x="1526881" y="382629"/>
                </a:lnTo>
                <a:lnTo>
                  <a:pt x="1570758" y="442910"/>
                </a:lnTo>
                <a:lnTo>
                  <a:pt x="1612640" y="503494"/>
                </a:lnTo>
                <a:lnTo>
                  <a:pt x="1653221" y="564741"/>
                </a:lnTo>
                <a:lnTo>
                  <a:pt x="1692790" y="627329"/>
                </a:lnTo>
                <a:lnTo>
                  <a:pt x="1731155" y="692101"/>
                </a:lnTo>
                <a:lnTo>
                  <a:pt x="1767617" y="759891"/>
                </a:lnTo>
                <a:lnTo>
                  <a:pt x="1801017" y="831349"/>
                </a:lnTo>
                <a:lnTo>
                  <a:pt x="1829836" y="906793"/>
                </a:lnTo>
                <a:close/>
              </a:path>
            </a:pathLst>
          </a:custGeom>
          <a:solidFill>
            <a:srgbClr val="C9D8F0"/>
          </a:solidFill>
          <a:ln w="2222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46920" y="3474720"/>
            <a:ext cx="292608" cy="248716"/>
          </a:xfrm>
          <a:prstGeom prst="ellipse">
            <a:avLst/>
          </a:prstGeom>
          <a:solidFill>
            <a:srgbClr val="F4F5F7"/>
          </a:solidFill>
          <a:ln w="127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5560" y="3291840"/>
            <a:ext cx="237744" cy="202082"/>
          </a:xfrm>
          <a:prstGeom prst="ellipse">
            <a:avLst/>
          </a:prstGeom>
          <a:solidFill>
            <a:srgbClr val="F4F5F7"/>
          </a:solidFill>
          <a:ln w="127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24160" y="3886200"/>
            <a:ext cx="274320" cy="233172"/>
          </a:xfrm>
          <a:prstGeom prst="ellipse">
            <a:avLst/>
          </a:prstGeom>
          <a:solidFill>
            <a:srgbClr val="F4F5F7"/>
          </a:solidFill>
          <a:ln w="127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4069080"/>
            <a:ext cx="237744" cy="202082"/>
          </a:xfrm>
          <a:prstGeom prst="ellipse">
            <a:avLst/>
          </a:prstGeom>
          <a:solidFill>
            <a:srgbClr val="F4F5F7"/>
          </a:solidFill>
          <a:ln w="127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3703320"/>
            <a:ext cx="201168" cy="170992"/>
          </a:xfrm>
          <a:prstGeom prst="ellipse">
            <a:avLst/>
          </a:prstGeom>
          <a:solidFill>
            <a:srgbClr val="F4F5F7"/>
          </a:solidFill>
          <a:ln w="1270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9834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  <a:ea typeface="맑은 고딕"/>
              </a:rPr>
              <a:t>기포 군집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35508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area·circularity가 비슷해도 구멍 수가 다르면 다른 불량 — 기포(다공) 판정은 위상 특징값으로 가른다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Score 정규화 — 단위가 제각각인 원시값을 0~100 한 눈금으로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특징값마다 vMin/vMax 구간을 INI에 정의 — 증가형/감소형 두 방향을 지원한다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2148840"/>
            <a:ext cx="923544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59" y="173736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</a:rPr>
              <a:t>원시값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020824"/>
            <a:ext cx="4754880" cy="256032"/>
          </a:xfrm>
          <a:prstGeom prst="rect">
            <a:avLst/>
          </a:prstGeom>
          <a:solidFill>
            <a:srgbClr val="FB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840480" y="1965960"/>
            <a:ext cx="0" cy="365760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2386584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vMin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1965960"/>
            <a:ext cx="0" cy="365760"/>
          </a:xfrm>
          <a:prstGeom prst="line">
            <a:avLst/>
          </a:prstGeom>
          <a:ln w="2857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2386584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vMax</a:t>
            </a:r>
          </a:p>
        </p:txBody>
      </p:sp>
      <p:sp>
        <p:nvSpPr>
          <p:cNvPr id="15" name="Oval 14"/>
          <p:cNvSpPr/>
          <p:nvPr/>
        </p:nvSpPr>
        <p:spPr>
          <a:xfrm>
            <a:off x="5916168" y="208483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68696" y="169164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ED7D31"/>
                </a:solidFill>
                <a:latin typeface="맑은 고딕"/>
                <a:ea typeface="맑은 고딕"/>
              </a:rPr>
              <a:t>측정 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176" y="2651760"/>
            <a:ext cx="0" cy="64008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40480" y="3337560"/>
            <a:ext cx="47548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3337560"/>
            <a:ext cx="2139696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392424"/>
            <a:ext cx="457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9242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840480"/>
            <a:ext cx="1463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Score = 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343400"/>
            <a:ext cx="78638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50" b="1">
                <a:solidFill>
                  <a:srgbClr val="1F3864"/>
                </a:solidFill>
                <a:latin typeface="맑은 고딕"/>
                <a:ea typeface="맑은 고딕"/>
              </a:rPr>
              <a:t>score = 100 · clamp((v − vMin) / (vMax − vMin), 0, 1)      감소형: 100 −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120640"/>
            <a:ext cx="5623560" cy="123444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822960" y="5440680"/>
            <a:ext cx="1097280" cy="594360"/>
          </a:xfrm>
          <a:prstGeom prst="line">
            <a:avLst/>
          </a:prstGeom>
          <a:ln w="31750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3120" y="5257800"/>
            <a:ext cx="384048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증가형 — 값이 클수록 위험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5597"/>
                </a:solidFill>
                <a:latin typeface="맑은 고딕"/>
                <a:ea typeface="맑은 고딕"/>
              </a:rPr>
              <a:t>area, anisometry, compactness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120640"/>
            <a:ext cx="5623560" cy="123444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583680" y="5440680"/>
            <a:ext cx="1097280" cy="59436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63840" y="5257800"/>
            <a:ext cx="384048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감소형 — 값이 작을수록 위험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D7D31"/>
                </a:solidFill>
                <a:latin typeface="맑은 고딕"/>
                <a:ea typeface="맑은 고딕"/>
              </a:rPr>
              <a:t>roundness, convexity, circularity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select_shape 룰 엔진 — 조건 조합으로 불량코드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Halcon select_shape 재현: 특징값 이름 + [min, max] 구간 + AND/OR — 룰 목록은 공정 INI가 소유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1089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  <a:ea typeface="맑은 고딕"/>
              </a:rPr>
              <a:t>FeatureVector (특징값 20+종)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057400"/>
            <a:ext cx="0" cy="27432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2377440"/>
            <a:ext cx="5394960" cy="1143000"/>
          </a:xfrm>
          <a:prstGeom prst="rect">
            <a:avLst/>
          </a:prstGeom>
          <a:solidFill>
            <a:srgbClr val="F4F5F7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맑은 고딕"/>
                <a:ea typeface="맑은 고딕"/>
              </a:rPr>
              <a:t>룰 1 — PINHOLE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21488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3864"/>
                </a:solidFill>
                <a:latin typeface="맑은 고딕"/>
                <a:ea typeface="맑은 고딕"/>
              </a:rPr>
              <a:t>circularity ∈ [0.7, 1.0]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92608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  <a:ea typeface="맑은 고딕"/>
              </a:rPr>
              <a:t>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880360"/>
            <a:ext cx="17830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3864"/>
                </a:solidFill>
                <a:latin typeface="맑은 고딕"/>
                <a:ea typeface="맑은 고딕"/>
              </a:rPr>
              <a:t>area ∈ [5, 300]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944368"/>
            <a:ext cx="594360" cy="0"/>
          </a:xfrm>
          <a:prstGeom prst="line">
            <a:avLst/>
          </a:prstGeom>
          <a:ln w="28575">
            <a:solidFill>
              <a:srgbClr val="5494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257860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549435"/>
                </a:solidFill>
                <a:latin typeface="맑은 고딕"/>
                <a:ea typeface="맑은 고딕"/>
              </a:rPr>
              <a:t>충족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670048"/>
            <a:ext cx="1737360" cy="5486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PINHOLE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3520440"/>
            <a:ext cx="0" cy="32004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31720" y="354787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맑은 고딕"/>
                <a:ea typeface="맑은 고딕"/>
              </a:rPr>
              <a:t>불충족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5394960" cy="1143000"/>
          </a:xfrm>
          <a:prstGeom prst="rect">
            <a:avLst/>
          </a:prstGeom>
          <a:solidFill>
            <a:srgbClr val="F4F5F7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77639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맑은 고딕"/>
                <a:ea typeface="맑은 고딕"/>
              </a:rPr>
              <a:t>룰 2 — TEAR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21488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3864"/>
                </a:solidFill>
                <a:latin typeface="맑은 고딕"/>
                <a:ea typeface="맑은 고딕"/>
              </a:rPr>
              <a:t>convexity ∈ [0, 0.85]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43484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  <a:ea typeface="맑은 고딕"/>
              </a:rPr>
              <a:t>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389120"/>
            <a:ext cx="17830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3864"/>
                </a:solidFill>
                <a:latin typeface="맑은 고딕"/>
                <a:ea typeface="맑은 고딕"/>
              </a:rPr>
              <a:t>area ≥ 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4453128"/>
            <a:ext cx="594360" cy="0"/>
          </a:xfrm>
          <a:prstGeom prst="line">
            <a:avLst/>
          </a:prstGeom>
          <a:ln w="28575">
            <a:solidFill>
              <a:srgbClr val="5494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4178808"/>
            <a:ext cx="1737360" cy="5486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TEAR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5029200"/>
            <a:ext cx="0" cy="32004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" y="5394960"/>
            <a:ext cx="53949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모든 룰 불충족  →  기본 코드 (OK)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377440"/>
            <a:ext cx="301752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· 룰 순서 = 우선순위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  (첫 번째 충족 룰 채택)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· 조건 = 특징값 이름 +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  [min, max] 구간 배열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· 룰 추가/수정은 INI만 변경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  → 재빌드 없이 현장 튜닝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실데이터 사례 — 흑점 크롭이 PINHOLE이 되기까지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D:\128Crop\BlackPoint 실측 4장 전부 동일 흐름으로 검출·분류 성공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pic>
        <p:nvPicPr>
          <p:cNvPr id="8" name="Picture 7" descr="Crop_Frame(2)_DefectIdx(0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20574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783080"/>
            <a:ext cx="2057400" cy="2057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93192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① 원본 그레이 (128×128)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배경 평균 ≈ 85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흑점 밝기 ≈ 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2788920"/>
            <a:ext cx="50292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91840" y="1783080"/>
            <a:ext cx="2057400" cy="2057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61104" y="2779776"/>
            <a:ext cx="118872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93192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② Dark auto 이진화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임계 = 평균 − 20 ≈ 65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(어두운 쪽 = Region)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2788920"/>
            <a:ext cx="50292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0760" y="1645920"/>
            <a:ext cx="2743200" cy="269748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55648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맑은 고딕"/>
                <a:ea typeface="맑은 고딕"/>
              </a:rPr>
              <a:t>③ 특징값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21408"/>
            <a:ext cx="2423160" cy="2148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area = 10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contlength = 10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diameter = 4.12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circularity = 0.749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convexity = 1.000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roundness = 0.558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anisometry = 2.83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43484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중심 ≈ (row 65.5, col 66)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2788920"/>
            <a:ext cx="50292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1965960"/>
            <a:ext cx="2286000" cy="1691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103120"/>
            <a:ext cx="20116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④ Coater 룰 판정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circularity ∈ [0.7, 1.0] 충족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area ∈ [5, 300] 충족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3520440"/>
            <a:ext cx="1737360" cy="50292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→ PINHOLE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48640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기존 고정 임계(127·Bright)로는 Region 0개(어두운 불량 미검) → 이진화 극성(Dark) + 자동 임계(평균±offset) 파라미터로 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080760"/>
            <a:ext cx="11338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circularity 0.749 = 원형에 가까움 / convexity 1.000 = 찢김 아님 / roundness 0.558 = 작은 blob의 픽셀 계단 영향 — 세 값이 서로를 보증한다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공정별 주력 특징값 매핑 — 어떤 불량을 어떤 값으로 가르는가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스펙 9장 초기 가설 — CSV 수집 데이터로 vMin/vMax와 룰 임계를 현장 튜닝한다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80360"/>
                <a:gridCol w="3566160"/>
                <a:gridCol w="3383280"/>
              </a:tblGrid>
              <a:tr h="502920"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공정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대표 불량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주력 특징값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판별 포인트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1234440"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코터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Pinhole, 미도포, 기포,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Tear/Island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circularity ↑,  area,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convexity ↓,  euler(구멍 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원형 흑점 → PINHOLE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찢김 → convexity 급감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기포 군집 → 구멍 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롤프레스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주름, 크랙, 이물 압입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Anisometry ↑,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orientation(Phi),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rectangularity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길쭉함 + 방향각으로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MD/TD 주름·크랙 구분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1234440">
                <a:tc>
                  <a:txBody>
                    <a:bodyPr wrap="square" lIns="101600" rIns="101600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슬리터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Burr, 절단면 불량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roundness ↓,  Sides,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contlength / diameter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윤곽 톱니화 →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roundness 급감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603504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동일 라이브러리 + 프로파일 INI 교체만으로 3개 공정 대응 — 튜닝 데이터는 FeatureVector CSV 덤프로 수집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아키텍처 — 클린 아키텍처 · 무상태 병렬 안전 · GPU 삽입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정적 라이브러리 (VS2022 x64, OpenCV 4.12) — 의존 방향은 항상 Domain을 향한다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200400" cy="265176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0992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RegionExtractor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(이진화 → Region 목록)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IPreprocessor / Cpu 구현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(그레이 → 이진화)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CsvExporter (병렬 배치)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200400" cy="265176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UseCase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48840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FeatureCalculator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(특징값 20+종 계산)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ScoreNormalizer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(0~100 정규화)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SelectShapeRule (룰 판정)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200400" cy="2651760"/>
          </a:xfrm>
          <a:prstGeom prst="roundRect">
            <a:avLst/>
          </a:prstGeom>
          <a:solidFill>
            <a:srgbClr val="E4EAF5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0992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148840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Region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(런렝스+컨투어+면적)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FeatureVector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  (원시값 + CSV 덤프)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ScoreResult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6200" y="2926080"/>
            <a:ext cx="548640" cy="0"/>
          </a:xfrm>
          <a:prstGeom prst="line">
            <a:avLst/>
          </a:prstGeom>
          <a:ln w="31750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2926080"/>
            <a:ext cx="548641" cy="0"/>
          </a:xfrm>
          <a:prstGeom prst="line">
            <a:avLst/>
          </a:prstGeom>
          <a:ln w="31750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80560" y="4480560"/>
            <a:ext cx="3200400" cy="12344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59028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  <a:ea typeface="맑은 고딕"/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5029200"/>
            <a:ext cx="279806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· IniFile / ProfileLoader — 공정 INI → 룰·정규화 구간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80760" y="4297680"/>
            <a:ext cx="0" cy="137160"/>
          </a:xfrm>
          <a:prstGeom prst="line">
            <a:avLst/>
          </a:prstGeom>
          <a:ln w="31750">
            <a:solidFill>
              <a:srgbClr val="2E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5852160"/>
            <a:ext cx="5486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549435"/>
                </a:solidFill>
                <a:latin typeface="맑은 고딕"/>
                <a:ea typeface="맑은 고딕"/>
              </a:rPr>
              <a:t>무상태(stateless) → Region 단위 병렬 안전</a:t>
            </a:r>
          </a:p>
          <a:p>
            <a:pPr algn="ctr"/>
            <a:r>
              <a:rPr sz="1150" b="1">
                <a:solidFill>
                  <a:srgbClr val="549435"/>
                </a:solidFill>
                <a:latin typeface="맑은 고딕"/>
                <a:ea typeface="맑은 고딕"/>
              </a:rPr>
              <a:t>1 vs 8 쓰레드 CSV 바이트 동일 · 60장 37ms → 12ms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852160"/>
            <a:ext cx="5486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ED7D31"/>
                </a:solidFill>
                <a:latin typeface="맑은 고딕"/>
                <a:ea typeface="맑은 고딕"/>
              </a:rPr>
              <a:t>GPU 삽입 지점 = IPreprocessor</a:t>
            </a:r>
          </a:p>
          <a:p>
            <a:pPr algn="ctr"/>
            <a:r>
              <a:rPr sz="1150" b="1">
                <a:solidFill>
                  <a:srgbClr val="ED7D31"/>
                </a:solidFill>
                <a:latin typeface="맑은 고딕"/>
                <a:ea typeface="맑은 고딕"/>
              </a:rPr>
              <a:t>CUDA 전처리기로 교체해도 나머지 파이프라인 무수정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26280"/>
            <a:ext cx="3291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도구: 테스트 콘솔(30/30 PASS),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배치 CSV 툴(--threads),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</a:rPr>
              <a:t>MFC 뷰어(이진화 콤보)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정리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BFBFB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13842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E5597"/>
                </a:solidFill>
                <a:latin typeface="맑은 고딕"/>
                <a:ea typeface="맑은 고딕"/>
              </a:rPr>
              <a:t>특징값 → Score → 룰 판정 파이프라인 완성 — 남은 것은 현장 데이터 기반 튜닝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749039" cy="548640"/>
          </a:xfrm>
          <a:prstGeom prst="roundRect">
            <a:avLst/>
          </a:prstGeom>
          <a:solidFill>
            <a:srgbClr val="549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749039" cy="338328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42900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특징값 20+종 (우선순위 1·2 전체)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Score 정규화 + select_shape 룰 엔진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공정 프로파일 INI 3종 (코터/롤프레스/슬리터)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이진화 극성·자동 임계 파라미터화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배치 병렬화 + 테스트 30/30 PASS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실데이터 흑점 → PINHOLE 분류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749039" cy="548640"/>
          </a:xfrm>
          <a:prstGeom prst="roundRect">
            <a:avLst/>
          </a:prstGeom>
          <a:solidFill>
            <a:srgbClr val="2E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진행·예정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749039" cy="338328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42900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inner_rectangle1(최대 내접 사각형) — Phase 2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runlength_features(K-factor) — 우선순위 낮음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실검사기(바타입 등) 통합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GPU PC 확보 시 CUDA 전처리기 추가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Hu 모멘트 벡터 → 향후 AI 분류 연동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749039" cy="5486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현장에서 채울 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286000"/>
            <a:ext cx="3749039" cy="3383280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468880"/>
            <a:ext cx="342900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공정별 실측 불량 이미지 수집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  (뷰어/배치 툴로 CSV 덤프)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vMin/vMax 정규화 구간 튜닝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룰 임계값·우선순위 확정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</a:rPr>
              <a:t>· 불량코드 ↔ 기존 검사기 코드 매핑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943600"/>
            <a:ext cx="1138428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</a:rPr>
              <a:t>임계값은 스펙 9장 '초기 가설' — 실제 판정 성능은 현장 CSV 데이터로 vMin/vMax·룰을 조정한 뒤 확정한다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