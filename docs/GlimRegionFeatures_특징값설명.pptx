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000" b="1" i="0">
                <a:solidFill>
                  <a:srgbClr val="BFBFBF"/>
                </a:solidFill>
                <a:latin typeface="맑은 고딕"/>
                <a:ea typeface="맑은 고딕"/>
              </a:rPr>
              <a:t>GlimRegionFeatures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881360" cy="8229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특징값 한글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881360" cy="50292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맑은 고딕"/>
                <a:ea typeface="맑은 고딕"/>
              </a:rPr>
              <a:t>불량 Blob의 모양을 숫자로 읽는 32가지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FBFBF"/>
                </a:solidFill>
                <a:latin typeface="맑은 고딕"/>
                <a:ea typeface="맑은 고딕"/>
              </a:rPr>
              <a:t>각 특징값이 무엇을 재는지 · 값이 크면/작으면 어떤 모양인지 · 어떤 불량 판별에 쓰는지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FBFBF"/>
                </a:solidFill>
                <a:latin typeface="맑은 고딕"/>
                <a:ea typeface="맑은 고딕"/>
              </a:rPr>
              <a:t>Halcon 13 Region Features 자체 구현 (OpenCV) — 코터 · 롤프레스 · 슬리터 3공정 공용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315200" cy="73152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대상: 머신비전 검사기 개발자 / 현장 엔지니어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2026-07-15</a:t>
            </a:r>
          </a:p>
        </p:txBody>
      </p:sp>
      <p:sp>
        <p:nvSpPr>
          <p:cNvPr id="9" name="Oval 8"/>
          <p:cNvSpPr/>
          <p:nvPr/>
        </p:nvSpPr>
        <p:spPr>
          <a:xfrm>
            <a:off x="8823960" y="5120640"/>
            <a:ext cx="1005840" cy="1005840"/>
          </a:xfrm>
          <a:prstGeom prst="ellipse">
            <a:avLst/>
          </a:prstGeom>
          <a:noFill/>
          <a:ln w="222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130972" y="5074920"/>
            <a:ext cx="1043576" cy="992499"/>
          </a:xfrm>
          <a:custGeom>
            <a:avLst/>
            <a:gdLst/>
            <a:ahLst/>
            <a:cxnLst/>
            <a:rect l="l" t="t" r="r" b="b"/>
            <a:pathLst>
              <a:path w="1043576" h="992499">
                <a:moveTo>
                  <a:pt x="521788" y="0"/>
                </a:moveTo>
                <a:lnTo>
                  <a:pt x="661530" y="356301"/>
                </a:lnTo>
                <a:lnTo>
                  <a:pt x="1043576" y="379101"/>
                </a:lnTo>
                <a:lnTo>
                  <a:pt x="747896" y="622107"/>
                </a:lnTo>
                <a:lnTo>
                  <a:pt x="844271" y="992499"/>
                </a:lnTo>
                <a:lnTo>
                  <a:pt x="521788" y="786384"/>
                </a:lnTo>
                <a:lnTo>
                  <a:pt x="199305" y="992499"/>
                </a:lnTo>
                <a:lnTo>
                  <a:pt x="295680" y="622107"/>
                </a:lnTo>
                <a:lnTo>
                  <a:pt x="0" y="379101"/>
                </a:lnTo>
                <a:lnTo>
                  <a:pt x="382046" y="356301"/>
                </a:lnTo>
                <a:close/>
              </a:path>
            </a:pathLst>
          </a:custGeom>
          <a:noFill/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0945707" y="5312636"/>
            <a:ext cx="1060026" cy="621848"/>
          </a:xfrm>
          <a:custGeom>
            <a:avLst/>
            <a:gdLst/>
            <a:ahLst/>
            <a:cxnLst/>
            <a:rect l="l" t="t" r="r" b="b"/>
            <a:pathLst>
              <a:path w="1060026" h="621848">
                <a:moveTo>
                  <a:pt x="1052188" y="90152"/>
                </a:moveTo>
                <a:lnTo>
                  <a:pt x="1057374" y="105965"/>
                </a:lnTo>
                <a:lnTo>
                  <a:pt x="1059991" y="122776"/>
                </a:lnTo>
                <a:lnTo>
                  <a:pt x="1060026" y="140504"/>
                </a:lnTo>
                <a:lnTo>
                  <a:pt x="1057479" y="159062"/>
                </a:lnTo>
                <a:lnTo>
                  <a:pt x="1052362" y="178360"/>
                </a:lnTo>
                <a:lnTo>
                  <a:pt x="1044700" y="198304"/>
                </a:lnTo>
                <a:lnTo>
                  <a:pt x="1034531" y="218797"/>
                </a:lnTo>
                <a:lnTo>
                  <a:pt x="1021904" y="239739"/>
                </a:lnTo>
                <a:lnTo>
                  <a:pt x="1006880" y="261027"/>
                </a:lnTo>
                <a:lnTo>
                  <a:pt x="989533" y="282558"/>
                </a:lnTo>
                <a:lnTo>
                  <a:pt x="969947" y="304228"/>
                </a:lnTo>
                <a:lnTo>
                  <a:pt x="948218" y="325930"/>
                </a:lnTo>
                <a:lnTo>
                  <a:pt x="924452" y="347559"/>
                </a:lnTo>
                <a:lnTo>
                  <a:pt x="898764" y="369010"/>
                </a:lnTo>
                <a:lnTo>
                  <a:pt x="871279" y="390177"/>
                </a:lnTo>
                <a:lnTo>
                  <a:pt x="842132" y="410959"/>
                </a:lnTo>
                <a:lnTo>
                  <a:pt x="811464" y="431253"/>
                </a:lnTo>
                <a:lnTo>
                  <a:pt x="779425" y="450961"/>
                </a:lnTo>
                <a:lnTo>
                  <a:pt x="746170" y="469987"/>
                </a:lnTo>
                <a:lnTo>
                  <a:pt x="711863" y="488237"/>
                </a:lnTo>
                <a:lnTo>
                  <a:pt x="676670" y="505624"/>
                </a:lnTo>
                <a:lnTo>
                  <a:pt x="640762" y="522062"/>
                </a:lnTo>
                <a:lnTo>
                  <a:pt x="604315" y="537472"/>
                </a:lnTo>
                <a:lnTo>
                  <a:pt x="567506" y="551778"/>
                </a:lnTo>
                <a:lnTo>
                  <a:pt x="530514" y="564911"/>
                </a:lnTo>
                <a:lnTo>
                  <a:pt x="493519" y="576806"/>
                </a:lnTo>
                <a:lnTo>
                  <a:pt x="456703" y="587406"/>
                </a:lnTo>
                <a:lnTo>
                  <a:pt x="420243" y="596658"/>
                </a:lnTo>
                <a:lnTo>
                  <a:pt x="384318" y="604519"/>
                </a:lnTo>
                <a:lnTo>
                  <a:pt x="349104" y="610949"/>
                </a:lnTo>
                <a:lnTo>
                  <a:pt x="314770" y="615918"/>
                </a:lnTo>
                <a:lnTo>
                  <a:pt x="281485" y="619401"/>
                </a:lnTo>
                <a:lnTo>
                  <a:pt x="249411" y="621381"/>
                </a:lnTo>
                <a:lnTo>
                  <a:pt x="218704" y="621848"/>
                </a:lnTo>
                <a:lnTo>
                  <a:pt x="189514" y="620801"/>
                </a:lnTo>
                <a:lnTo>
                  <a:pt x="161983" y="618244"/>
                </a:lnTo>
                <a:lnTo>
                  <a:pt x="136244" y="614189"/>
                </a:lnTo>
                <a:lnTo>
                  <a:pt x="112424" y="608658"/>
                </a:lnTo>
                <a:lnTo>
                  <a:pt x="90639" y="601675"/>
                </a:lnTo>
                <a:lnTo>
                  <a:pt x="70994" y="593276"/>
                </a:lnTo>
                <a:lnTo>
                  <a:pt x="53585" y="583502"/>
                </a:lnTo>
                <a:lnTo>
                  <a:pt x="38497" y="572400"/>
                </a:lnTo>
                <a:lnTo>
                  <a:pt x="25804" y="560023"/>
                </a:lnTo>
                <a:lnTo>
                  <a:pt x="15568" y="546433"/>
                </a:lnTo>
                <a:lnTo>
                  <a:pt x="7838" y="531696"/>
                </a:lnTo>
                <a:lnTo>
                  <a:pt x="2652" y="515883"/>
                </a:lnTo>
                <a:lnTo>
                  <a:pt x="35" y="499072"/>
                </a:lnTo>
                <a:lnTo>
                  <a:pt x="0" y="481344"/>
                </a:lnTo>
                <a:lnTo>
                  <a:pt x="2547" y="462786"/>
                </a:lnTo>
                <a:lnTo>
                  <a:pt x="7664" y="443488"/>
                </a:lnTo>
                <a:lnTo>
                  <a:pt x="15326" y="423544"/>
                </a:lnTo>
                <a:lnTo>
                  <a:pt x="25495" y="403051"/>
                </a:lnTo>
                <a:lnTo>
                  <a:pt x="38122" y="382109"/>
                </a:lnTo>
                <a:lnTo>
                  <a:pt x="53146" y="360821"/>
                </a:lnTo>
                <a:lnTo>
                  <a:pt x="70493" y="339290"/>
                </a:lnTo>
                <a:lnTo>
                  <a:pt x="90079" y="317620"/>
                </a:lnTo>
                <a:lnTo>
                  <a:pt x="111808" y="295918"/>
                </a:lnTo>
                <a:lnTo>
                  <a:pt x="135574" y="274289"/>
                </a:lnTo>
                <a:lnTo>
                  <a:pt x="161262" y="252838"/>
                </a:lnTo>
                <a:lnTo>
                  <a:pt x="188747" y="231671"/>
                </a:lnTo>
                <a:lnTo>
                  <a:pt x="217894" y="210889"/>
                </a:lnTo>
                <a:lnTo>
                  <a:pt x="248562" y="190595"/>
                </a:lnTo>
                <a:lnTo>
                  <a:pt x="280601" y="170887"/>
                </a:lnTo>
                <a:lnTo>
                  <a:pt x="313856" y="151861"/>
                </a:lnTo>
                <a:lnTo>
                  <a:pt x="348163" y="133611"/>
                </a:lnTo>
                <a:lnTo>
                  <a:pt x="383356" y="116224"/>
                </a:lnTo>
                <a:lnTo>
                  <a:pt x="419264" y="99786"/>
                </a:lnTo>
                <a:lnTo>
                  <a:pt x="455711" y="84376"/>
                </a:lnTo>
                <a:lnTo>
                  <a:pt x="492520" y="70070"/>
                </a:lnTo>
                <a:lnTo>
                  <a:pt x="529512" y="56937"/>
                </a:lnTo>
                <a:lnTo>
                  <a:pt x="566507" y="45042"/>
                </a:lnTo>
                <a:lnTo>
                  <a:pt x="603323" y="34442"/>
                </a:lnTo>
                <a:lnTo>
                  <a:pt x="639783" y="25190"/>
                </a:lnTo>
                <a:lnTo>
                  <a:pt x="675708" y="17329"/>
                </a:lnTo>
                <a:lnTo>
                  <a:pt x="710922" y="10899"/>
                </a:lnTo>
                <a:lnTo>
                  <a:pt x="745256" y="5930"/>
                </a:lnTo>
                <a:lnTo>
                  <a:pt x="778541" y="2447"/>
                </a:lnTo>
                <a:lnTo>
                  <a:pt x="810615" y="467"/>
                </a:lnTo>
                <a:lnTo>
                  <a:pt x="841322" y="0"/>
                </a:lnTo>
                <a:lnTo>
                  <a:pt x="870512" y="1047"/>
                </a:lnTo>
                <a:lnTo>
                  <a:pt x="898043" y="3604"/>
                </a:lnTo>
                <a:lnTo>
                  <a:pt x="923782" y="7659"/>
                </a:lnTo>
                <a:lnTo>
                  <a:pt x="947602" y="13190"/>
                </a:lnTo>
                <a:lnTo>
                  <a:pt x="969387" y="20173"/>
                </a:lnTo>
                <a:lnTo>
                  <a:pt x="989032" y="28572"/>
                </a:lnTo>
                <a:lnTo>
                  <a:pt x="1006441" y="38346"/>
                </a:lnTo>
                <a:lnTo>
                  <a:pt x="1021529" y="49448"/>
                </a:lnTo>
                <a:lnTo>
                  <a:pt x="1034222" y="61825"/>
                </a:lnTo>
                <a:lnTo>
                  <a:pt x="1044458" y="75415"/>
                </a:lnTo>
                <a:close/>
              </a:path>
            </a:pathLst>
          </a:custGeom>
          <a:noFill/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전체 지도 — 특징값 32종을 4개 그룹으로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이름은 전부 Halcon 13 연산자 그대로 — 그룹만 기억하면 필요한 값을 바로 찾을 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5532120" cy="512064"/>
          </a:xfrm>
          <a:prstGeom prst="roundRect">
            <a:avLst>
              <a:gd name="adj" fmla="val 10000"/>
            </a:avLst>
          </a:prstGeom>
          <a:solidFill>
            <a:srgbClr val="2E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472184"/>
            <a:ext cx="5349240" cy="420624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① 크기 / 위치 — 얼마나 크고, 어디에 있나 (p.3~4)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285232" cy="1600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Area 면적(픽셀 수) · Row/Column 무게중심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AreaHoles 구멍 면적 · ContLength 둘레 길이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Diameter 최대 지름(가장 먼 두 점 거리)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532120" cy="512064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472184"/>
            <a:ext cx="5349240" cy="420624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② 형상 계수 — 얼마나 원/사각형에 가깝나 (p.5~9)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285232" cy="1600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Circularity 원형도 · Compactness 윤곽 복잡도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Convexity 볼록도 · Rectangularity 사각형도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Roundness 외곽 균일도 · Sides 변 수 추정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913632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913632"/>
            <a:ext cx="5532120" cy="512064"/>
          </a:xfrm>
          <a:prstGeom prst="roundRect">
            <a:avLst>
              <a:gd name="adj" fmla="val 10000"/>
            </a:avLst>
          </a:prstGeom>
          <a:solidFill>
            <a:srgbClr val="549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968496"/>
            <a:ext cx="5349240" cy="420624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③ 등가 타원 / 방향 — 얼마나 길쭉하고 어느 방향인가 (p.10~13)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53712"/>
            <a:ext cx="5285232" cy="1600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Ra/Rb 장·단반경 · Phi 타원 기울기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Anisometry 길쭉함(Ra/Rb) · Bulkiness 부피감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StructureFactor 구조 계수 · Orientation 방향각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13632"/>
            <a:ext cx="5532120" cy="23317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913632"/>
            <a:ext cx="5532120" cy="512064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968496"/>
            <a:ext cx="5349240" cy="420624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④ 도형 · 위상 · 런길이 — 구조를 재는 값들 (p.14~19)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53712"/>
            <a:ext cx="5285232" cy="16002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BBox 바운딩박스 · Rect2 회전사각형 · SmallestCircle 외접원 · InnerCircle 내접원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InnerRect 내접사각형(신규) · AspectRatio/FillRatio/InnerOuterRatio 파생 비율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A1A1A"/>
                </a:solidFill>
                <a:latin typeface="맑은 고딕"/>
                <a:ea typeface="맑은 고딕"/>
              </a:rPr>
              <a:t>Connect/Holes/Euler 위상 · Hu 모멘트 · NumRuns/KFactor/LFactor/MeanRunLength 런길이(신규)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Area 면적 · Row/Column 무게중심 — 가장 기본이 되는 3개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Area = 전경 픽셀 수 그대로, (Row, Col) = 픽셀 좌표의 평균 — 모든 판정 룰의 출발점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6808" y="1371600"/>
            <a:ext cx="7498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Area = 픽셀 수 (px)     (Row, Col) = 픽셀 좌표 평균 = 무게중심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4620" y="280720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4076" y="280720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3532" y="280720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2988" y="280720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52444" y="280720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5164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4620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94076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13532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2988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52444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71900" y="302666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35708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55164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74620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4076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13532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2988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52444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71900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1356" y="324612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35708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55164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74620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94076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13532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2988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52444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71900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91356" y="346557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35708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5164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74620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94076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13532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32988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52444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771900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91356" y="3685032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35708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55164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74620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94076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13532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32988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52444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71900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91356" y="3904488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35708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55164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74620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94076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13532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32988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52444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71900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91356" y="4123944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455164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74620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94076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13532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32988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52444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71900" y="4343400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74620" y="456285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94076" y="456285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113532" y="456285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32988" y="456285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52444" y="4562856"/>
            <a:ext cx="219456" cy="219456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076956" y="3794760"/>
            <a:ext cx="292608" cy="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223260" y="3648456"/>
            <a:ext cx="0" cy="292608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4343400" y="226771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Area = 1,540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색칠된 픽셀 수가 곧 면적 — 클수록 큰 불량, 작으면 노이즈 후보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20840" y="2606040"/>
            <a:ext cx="448056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720840" y="2606040"/>
            <a:ext cx="0" cy="274320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829800" y="2221992"/>
            <a:ext cx="173736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Col (가로) 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93992" y="4937760"/>
            <a:ext cx="164592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Row (세로) ↓</a:t>
            </a:r>
          </a:p>
        </p:txBody>
      </p:sp>
      <p:sp>
        <p:nvSpPr>
          <p:cNvPr id="88" name="Freeform 87"/>
          <p:cNvSpPr/>
          <p:nvPr/>
        </p:nvSpPr>
        <p:spPr>
          <a:xfrm>
            <a:off x="8153944" y="3267181"/>
            <a:ext cx="1988297" cy="1443397"/>
          </a:xfrm>
          <a:custGeom>
            <a:avLst/>
            <a:gdLst/>
            <a:ahLst/>
            <a:cxnLst/>
            <a:rect l="l" t="t" r="r" b="b"/>
            <a:pathLst>
              <a:path w="1988297" h="1443397">
                <a:moveTo>
                  <a:pt x="1984994" y="710459"/>
                </a:moveTo>
                <a:lnTo>
                  <a:pt x="1988297" y="762602"/>
                </a:lnTo>
                <a:lnTo>
                  <a:pt x="1976138" y="814038"/>
                </a:lnTo>
                <a:lnTo>
                  <a:pt x="1949388" y="863052"/>
                </a:lnTo>
                <a:lnTo>
                  <a:pt x="1910348" y="908316"/>
                </a:lnTo>
                <a:lnTo>
                  <a:pt x="1862388" y="949133"/>
                </a:lnTo>
                <a:lnTo>
                  <a:pt x="1809434" y="985578"/>
                </a:lnTo>
                <a:lnTo>
                  <a:pt x="1755368" y="1018483"/>
                </a:lnTo>
                <a:lnTo>
                  <a:pt x="1703465" y="1049285"/>
                </a:lnTo>
                <a:lnTo>
                  <a:pt x="1655933" y="1079748"/>
                </a:lnTo>
                <a:lnTo>
                  <a:pt x="1613652" y="1111618"/>
                </a:lnTo>
                <a:lnTo>
                  <a:pt x="1576130" y="1146257"/>
                </a:lnTo>
                <a:lnTo>
                  <a:pt x="1541692" y="1184338"/>
                </a:lnTo>
                <a:lnTo>
                  <a:pt x="1507850" y="1225648"/>
                </a:lnTo>
                <a:lnTo>
                  <a:pt x="1471806" y="1269035"/>
                </a:lnTo>
                <a:lnTo>
                  <a:pt x="1430972" y="1312515"/>
                </a:lnTo>
                <a:lnTo>
                  <a:pt x="1383448" y="1353539"/>
                </a:lnTo>
                <a:lnTo>
                  <a:pt x="1328342" y="1389351"/>
                </a:lnTo>
                <a:lnTo>
                  <a:pt x="1265917" y="1417405"/>
                </a:lnTo>
                <a:lnTo>
                  <a:pt x="1197510" y="1435762"/>
                </a:lnTo>
                <a:lnTo>
                  <a:pt x="1125267" y="1443397"/>
                </a:lnTo>
                <a:lnTo>
                  <a:pt x="1051740" y="1440371"/>
                </a:lnTo>
                <a:lnTo>
                  <a:pt x="979408" y="1427837"/>
                </a:lnTo>
                <a:lnTo>
                  <a:pt x="910240" y="1407870"/>
                </a:lnTo>
                <a:lnTo>
                  <a:pt x="845351" y="1383159"/>
                </a:lnTo>
                <a:lnTo>
                  <a:pt x="784831" y="1356599"/>
                </a:lnTo>
                <a:lnTo>
                  <a:pt x="727780" y="1330858"/>
                </a:lnTo>
                <a:lnTo>
                  <a:pt x="672530" y="1307982"/>
                </a:lnTo>
                <a:lnTo>
                  <a:pt x="617031" y="1289108"/>
                </a:lnTo>
                <a:lnTo>
                  <a:pt x="559316" y="1274322"/>
                </a:lnTo>
                <a:lnTo>
                  <a:pt x="497969" y="1262695"/>
                </a:lnTo>
                <a:lnTo>
                  <a:pt x="432507" y="1252471"/>
                </a:lnTo>
                <a:lnTo>
                  <a:pt x="363601" y="1241392"/>
                </a:lnTo>
                <a:lnTo>
                  <a:pt x="293090" y="1227089"/>
                </a:lnTo>
                <a:lnTo>
                  <a:pt x="223781" y="1207482"/>
                </a:lnTo>
                <a:lnTo>
                  <a:pt x="159070" y="1181114"/>
                </a:lnTo>
                <a:lnTo>
                  <a:pt x="102426" y="1147376"/>
                </a:lnTo>
                <a:lnTo>
                  <a:pt x="56845" y="1106578"/>
                </a:lnTo>
                <a:lnTo>
                  <a:pt x="24355" y="1059861"/>
                </a:lnTo>
                <a:lnTo>
                  <a:pt x="5663" y="1008976"/>
                </a:lnTo>
                <a:lnTo>
                  <a:pt x="0" y="955966"/>
                </a:lnTo>
                <a:lnTo>
                  <a:pt x="5212" y="902809"/>
                </a:lnTo>
                <a:lnTo>
                  <a:pt x="18062" y="851092"/>
                </a:lnTo>
                <a:lnTo>
                  <a:pt x="34724" y="801772"/>
                </a:lnTo>
                <a:lnTo>
                  <a:pt x="51369" y="755061"/>
                </a:lnTo>
                <a:lnTo>
                  <a:pt x="64754" y="710459"/>
                </a:lnTo>
                <a:lnTo>
                  <a:pt x="72735" y="666925"/>
                </a:lnTo>
                <a:lnTo>
                  <a:pt x="74586" y="623148"/>
                </a:lnTo>
                <a:lnTo>
                  <a:pt x="71110" y="577881"/>
                </a:lnTo>
                <a:lnTo>
                  <a:pt x="64494" y="530251"/>
                </a:lnTo>
                <a:lnTo>
                  <a:pt x="57953" y="480018"/>
                </a:lnTo>
                <a:lnTo>
                  <a:pt x="55207" y="427698"/>
                </a:lnTo>
                <a:lnTo>
                  <a:pt x="59897" y="374556"/>
                </a:lnTo>
                <a:lnTo>
                  <a:pt x="75009" y="322448"/>
                </a:lnTo>
                <a:lnTo>
                  <a:pt x="102426" y="273542"/>
                </a:lnTo>
                <a:lnTo>
                  <a:pt x="142663" y="229970"/>
                </a:lnTo>
                <a:lnTo>
                  <a:pt x="194825" y="193463"/>
                </a:lnTo>
                <a:lnTo>
                  <a:pt x="256800" y="165041"/>
                </a:lnTo>
                <a:lnTo>
                  <a:pt x="325632" y="144813"/>
                </a:lnTo>
                <a:lnTo>
                  <a:pt x="398021" y="131927"/>
                </a:lnTo>
                <a:lnTo>
                  <a:pt x="470852" y="124675"/>
                </a:lnTo>
                <a:lnTo>
                  <a:pt x="541670" y="120753"/>
                </a:lnTo>
                <a:lnTo>
                  <a:pt x="609008" y="117626"/>
                </a:lnTo>
                <a:lnTo>
                  <a:pt x="672530" y="112936"/>
                </a:lnTo>
                <a:lnTo>
                  <a:pt x="732962" y="104905"/>
                </a:lnTo>
                <a:lnTo>
                  <a:pt x="791821" y="92635"/>
                </a:lnTo>
                <a:lnTo>
                  <a:pt x="851020" y="76285"/>
                </a:lnTo>
                <a:lnTo>
                  <a:pt x="912393" y="57072"/>
                </a:lnTo>
                <a:lnTo>
                  <a:pt x="977256" y="37106"/>
                </a:lnTo>
                <a:lnTo>
                  <a:pt x="1046071" y="19073"/>
                </a:lnTo>
                <a:lnTo>
                  <a:pt x="1118277" y="5837"/>
                </a:lnTo>
                <a:lnTo>
                  <a:pt x="1192328" y="0"/>
                </a:lnTo>
                <a:lnTo>
                  <a:pt x="1265917" y="3513"/>
                </a:lnTo>
                <a:lnTo>
                  <a:pt x="1336366" y="17382"/>
                </a:lnTo>
                <a:lnTo>
                  <a:pt x="1401094" y="41536"/>
                </a:lnTo>
                <a:lnTo>
                  <a:pt x="1458089" y="74855"/>
                </a:lnTo>
                <a:lnTo>
                  <a:pt x="1506292" y="115363"/>
                </a:lnTo>
                <a:lnTo>
                  <a:pt x="1545819" y="160557"/>
                </a:lnTo>
                <a:lnTo>
                  <a:pt x="1577981" y="207792"/>
                </a:lnTo>
                <a:lnTo>
                  <a:pt x="1605086" y="254688"/>
                </a:lnTo>
                <a:lnTo>
                  <a:pt x="1630059" y="299466"/>
                </a:lnTo>
                <a:lnTo>
                  <a:pt x="1655933" y="341170"/>
                </a:lnTo>
                <a:lnTo>
                  <a:pt x="1685301" y="379740"/>
                </a:lnTo>
                <a:lnTo>
                  <a:pt x="1719827" y="415934"/>
                </a:lnTo>
                <a:lnTo>
                  <a:pt x="1759889" y="451096"/>
                </a:lnTo>
                <a:lnTo>
                  <a:pt x="1804435" y="486851"/>
                </a:lnTo>
                <a:lnTo>
                  <a:pt x="1851065" y="524745"/>
                </a:lnTo>
                <a:lnTo>
                  <a:pt x="1896340" y="565920"/>
                </a:lnTo>
                <a:lnTo>
                  <a:pt x="1936277" y="610882"/>
                </a:lnTo>
                <a:lnTo>
                  <a:pt x="1966931" y="659383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8951976" y="3977640"/>
            <a:ext cx="292608" cy="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098280" y="3831336"/>
            <a:ext cx="0" cy="292608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98280" y="2606040"/>
            <a:ext cx="0" cy="1170432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720840" y="3977640"/>
            <a:ext cx="2176272" cy="0"/>
          </a:xfrm>
          <a:prstGeom prst="line">
            <a:avLst/>
          </a:prstGeom>
          <a:ln w="12700">
            <a:solidFill>
              <a:srgbClr val="ED7D3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372600" y="3794760"/>
            <a:ext cx="210312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(r̄, c̄) = (1520, 8640)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Halcon 관례 (row, col) — 화면 세로가 Row, 가로가 Col (OpenCV의 y, x)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모든 룰의 1차 필터 — 예: 핀홀 후보 = Area ∈ [20, 2000].  위치(Row/Col)는 레인 판정·리포트 좌표로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AreaHoles 구멍 면적 · ContLength 둘레 · Diameter 최대 지름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Area가 같아도 이 세 값은 전혀 다를 수 있다 — 서로 다른 관점의 '크기'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9528" y="1371600"/>
            <a:ext cx="9692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AreaHoles = 채운 면적 − A     L = 외곽 체인코드 길이     D = 가장 먼 두 경계점 거리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0248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29016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52583" y="2846609"/>
            <a:ext cx="2192895" cy="1980419"/>
          </a:xfrm>
          <a:custGeom>
            <a:avLst/>
            <a:gdLst/>
            <a:ahLst/>
            <a:cxnLst/>
            <a:rect l="l" t="t" r="r" b="b"/>
            <a:pathLst>
              <a:path w="2192895" h="1980419">
                <a:moveTo>
                  <a:pt x="2165873" y="948151"/>
                </a:moveTo>
                <a:lnTo>
                  <a:pt x="2185975" y="1019148"/>
                </a:lnTo>
                <a:lnTo>
                  <a:pt x="2192895" y="1091730"/>
                </a:lnTo>
                <a:lnTo>
                  <a:pt x="2184825" y="1163736"/>
                </a:lnTo>
                <a:lnTo>
                  <a:pt x="2161426" y="1232856"/>
                </a:lnTo>
                <a:lnTo>
                  <a:pt x="2123863" y="1297049"/>
                </a:lnTo>
                <a:lnTo>
                  <a:pt x="2074615" y="1354922"/>
                </a:lnTo>
                <a:lnTo>
                  <a:pt x="2017074" y="1405998"/>
                </a:lnTo>
                <a:lnTo>
                  <a:pt x="1955027" y="1450817"/>
                </a:lnTo>
                <a:lnTo>
                  <a:pt x="1892082" y="1490850"/>
                </a:lnTo>
                <a:lnTo>
                  <a:pt x="1831147" y="1528242"/>
                </a:lnTo>
                <a:lnTo>
                  <a:pt x="1774049" y="1565412"/>
                </a:lnTo>
                <a:lnTo>
                  <a:pt x="1721337" y="1604594"/>
                </a:lnTo>
                <a:lnTo>
                  <a:pt x="1672313" y="1647387"/>
                </a:lnTo>
                <a:lnTo>
                  <a:pt x="1625266" y="1694394"/>
                </a:lnTo>
                <a:lnTo>
                  <a:pt x="1577876" y="1745030"/>
                </a:lnTo>
                <a:lnTo>
                  <a:pt x="1527696" y="1797512"/>
                </a:lnTo>
                <a:lnTo>
                  <a:pt x="1472641" y="1849067"/>
                </a:lnTo>
                <a:lnTo>
                  <a:pt x="1411394" y="1896302"/>
                </a:lnTo>
                <a:lnTo>
                  <a:pt x="1343654" y="1935697"/>
                </a:lnTo>
                <a:lnTo>
                  <a:pt x="1270188" y="1964135"/>
                </a:lnTo>
                <a:lnTo>
                  <a:pt x="1192690" y="1979379"/>
                </a:lnTo>
                <a:lnTo>
                  <a:pt x="1113462" y="1980419"/>
                </a:lnTo>
                <a:lnTo>
                  <a:pt x="1034989" y="1967638"/>
                </a:lnTo>
                <a:lnTo>
                  <a:pt x="959488" y="1942756"/>
                </a:lnTo>
                <a:lnTo>
                  <a:pt x="888504" y="1908574"/>
                </a:lnTo>
                <a:lnTo>
                  <a:pt x="822646" y="1868545"/>
                </a:lnTo>
                <a:lnTo>
                  <a:pt x="761494" y="1826257"/>
                </a:lnTo>
                <a:lnTo>
                  <a:pt x="703716" y="1784899"/>
                </a:lnTo>
                <a:lnTo>
                  <a:pt x="647354" y="1746804"/>
                </a:lnTo>
                <a:lnTo>
                  <a:pt x="590252" y="1713139"/>
                </a:lnTo>
                <a:lnTo>
                  <a:pt x="530528" y="1683792"/>
                </a:lnTo>
                <a:lnTo>
                  <a:pt x="467026" y="1657465"/>
                </a:lnTo>
                <a:lnTo>
                  <a:pt x="399638" y="1631960"/>
                </a:lnTo>
                <a:lnTo>
                  <a:pt x="329464" y="1604604"/>
                </a:lnTo>
                <a:lnTo>
                  <a:pt x="258749" y="1572728"/>
                </a:lnTo>
                <a:lnTo>
                  <a:pt x="190622" y="1534140"/>
                </a:lnTo>
                <a:lnTo>
                  <a:pt x="128654" y="1487491"/>
                </a:lnTo>
                <a:lnTo>
                  <a:pt x="76329" y="1432485"/>
                </a:lnTo>
                <a:lnTo>
                  <a:pt x="36503" y="1369900"/>
                </a:lnTo>
                <a:lnTo>
                  <a:pt x="10936" y="1301423"/>
                </a:lnTo>
                <a:lnTo>
                  <a:pt x="0" y="1229331"/>
                </a:lnTo>
                <a:lnTo>
                  <a:pt x="2587" y="1156080"/>
                </a:lnTo>
                <a:lnTo>
                  <a:pt x="16257" y="1083878"/>
                </a:lnTo>
                <a:lnTo>
                  <a:pt x="37601" y="1014320"/>
                </a:lnTo>
                <a:lnTo>
                  <a:pt x="62753" y="948151"/>
                </a:lnTo>
                <a:lnTo>
                  <a:pt x="87978" y="885198"/>
                </a:lnTo>
                <a:lnTo>
                  <a:pt x="110243" y="824484"/>
                </a:lnTo>
                <a:lnTo>
                  <a:pt x="127664" y="764496"/>
                </a:lnTo>
                <a:lnTo>
                  <a:pt x="139777" y="703566"/>
                </a:lnTo>
                <a:lnTo>
                  <a:pt x="147577" y="640288"/>
                </a:lnTo>
                <a:lnTo>
                  <a:pt x="153319" y="573890"/>
                </a:lnTo>
                <a:lnTo>
                  <a:pt x="160129" y="504500"/>
                </a:lnTo>
                <a:lnTo>
                  <a:pt x="171480" y="433245"/>
                </a:lnTo>
                <a:lnTo>
                  <a:pt x="190622" y="362162"/>
                </a:lnTo>
                <a:lnTo>
                  <a:pt x="220064" y="293936"/>
                </a:lnTo>
                <a:lnTo>
                  <a:pt x="261191" y="231502"/>
                </a:lnTo>
                <a:lnTo>
                  <a:pt x="314075" y="177578"/>
                </a:lnTo>
                <a:lnTo>
                  <a:pt x="377503" y="134217"/>
                </a:lnTo>
                <a:lnTo>
                  <a:pt x="449216" y="102443"/>
                </a:lnTo>
                <a:lnTo>
                  <a:pt x="526316" y="82053"/>
                </a:lnTo>
                <a:lnTo>
                  <a:pt x="605748" y="71612"/>
                </a:lnTo>
                <a:lnTo>
                  <a:pt x="684798" y="68651"/>
                </a:lnTo>
                <a:lnTo>
                  <a:pt x="761494" y="70045"/>
                </a:lnTo>
                <a:lnTo>
                  <a:pt x="834863" y="72496"/>
                </a:lnTo>
                <a:lnTo>
                  <a:pt x="904985" y="73068"/>
                </a:lnTo>
                <a:lnTo>
                  <a:pt x="972854" y="69658"/>
                </a:lnTo>
                <a:lnTo>
                  <a:pt x="1040064" y="61349"/>
                </a:lnTo>
                <a:lnTo>
                  <a:pt x="1108387" y="48568"/>
                </a:lnTo>
                <a:lnTo>
                  <a:pt x="1179324" y="33035"/>
                </a:lnTo>
                <a:lnTo>
                  <a:pt x="1253707" y="17507"/>
                </a:lnTo>
                <a:lnTo>
                  <a:pt x="1331436" y="5345"/>
                </a:lnTo>
                <a:lnTo>
                  <a:pt x="1411394" y="0"/>
                </a:lnTo>
                <a:lnTo>
                  <a:pt x="1491558" y="4484"/>
                </a:lnTo>
                <a:lnTo>
                  <a:pt x="1569301" y="20903"/>
                </a:lnTo>
                <a:lnTo>
                  <a:pt x="1641812" y="50162"/>
                </a:lnTo>
                <a:lnTo>
                  <a:pt x="1706578" y="91840"/>
                </a:lnTo>
                <a:lnTo>
                  <a:pt x="1761836" y="144295"/>
                </a:lnTo>
                <a:lnTo>
                  <a:pt x="1806900" y="204944"/>
                </a:lnTo>
                <a:lnTo>
                  <a:pt x="1842321" y="270693"/>
                </a:lnTo>
                <a:lnTo>
                  <a:pt x="1869833" y="338421"/>
                </a:lnTo>
                <a:lnTo>
                  <a:pt x="1892082" y="405452"/>
                </a:lnTo>
                <a:lnTo>
                  <a:pt x="1912201" y="469919"/>
                </a:lnTo>
                <a:lnTo>
                  <a:pt x="1933274" y="530987"/>
                </a:lnTo>
                <a:lnTo>
                  <a:pt x="1957798" y="588868"/>
                </a:lnTo>
                <a:lnTo>
                  <a:pt x="1987223" y="644662"/>
                </a:lnTo>
                <a:lnTo>
                  <a:pt x="2021649" y="700041"/>
                </a:lnTo>
                <a:lnTo>
                  <a:pt x="2059749" y="756840"/>
                </a:lnTo>
                <a:lnTo>
                  <a:pt x="2098909" y="816632"/>
                </a:lnTo>
                <a:lnTo>
                  <a:pt x="2135598" y="880371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6252" y="3310128"/>
            <a:ext cx="877824" cy="6949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888236" y="3419856"/>
            <a:ext cx="292608" cy="475488"/>
          </a:xfrm>
          <a:prstGeom prst="line">
            <a:avLst/>
          </a:prstGeom>
          <a:ln w="1270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34540" y="3419856"/>
            <a:ext cx="292608" cy="475488"/>
          </a:xfrm>
          <a:prstGeom prst="line">
            <a:avLst/>
          </a:prstGeom>
          <a:ln w="1270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180844" y="3419856"/>
            <a:ext cx="292608" cy="475488"/>
          </a:xfrm>
          <a:prstGeom prst="line">
            <a:avLst/>
          </a:prstGeom>
          <a:ln w="1270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27148" y="3419856"/>
            <a:ext cx="292608" cy="475488"/>
          </a:xfrm>
          <a:prstGeom prst="line">
            <a:avLst/>
          </a:prstGeom>
          <a:ln w="1270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73452" y="3419856"/>
            <a:ext cx="292608" cy="475488"/>
          </a:xfrm>
          <a:prstGeom prst="line">
            <a:avLst/>
          </a:prstGeom>
          <a:ln w="12700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45920" y="2880360"/>
            <a:ext cx="626364" cy="484632"/>
          </a:xfrm>
          <a:prstGeom prst="line">
            <a:avLst/>
          </a:prstGeom>
          <a:ln w="15875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1208" y="2377440"/>
            <a:ext cx="2011680" cy="50292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구멍 =</a:t>
            </a:r>
          </a:p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AreaHoles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224942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= 210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값 &gt; 0 이면 속이 뚫린 불량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(기포 껍질·링 자국)</a:t>
            </a:r>
          </a:p>
        </p:txBody>
      </p:sp>
      <p:sp>
        <p:nvSpPr>
          <p:cNvPr id="23" name="Freeform 22"/>
          <p:cNvSpPr/>
          <p:nvPr/>
        </p:nvSpPr>
        <p:spPr>
          <a:xfrm>
            <a:off x="5059368" y="2819715"/>
            <a:ext cx="2070154" cy="1878362"/>
          </a:xfrm>
          <a:custGeom>
            <a:avLst/>
            <a:gdLst/>
            <a:ahLst/>
            <a:cxnLst/>
            <a:rect l="l" t="t" r="r" b="b"/>
            <a:pathLst>
              <a:path w="2070154" h="1878362">
                <a:moveTo>
                  <a:pt x="1983600" y="975045"/>
                </a:moveTo>
                <a:lnTo>
                  <a:pt x="2041676" y="1040388"/>
                </a:lnTo>
                <a:lnTo>
                  <a:pt x="2070154" y="1110056"/>
                </a:lnTo>
                <a:lnTo>
                  <a:pt x="2060769" y="1177403"/>
                </a:lnTo>
                <a:lnTo>
                  <a:pt x="2013945" y="1235680"/>
                </a:lnTo>
                <a:lnTo>
                  <a:pt x="1938520" y="1280617"/>
                </a:lnTo>
                <a:lnTo>
                  <a:pt x="1849223" y="1312260"/>
                </a:lnTo>
                <a:lnTo>
                  <a:pt x="1762619" y="1335396"/>
                </a:lnTo>
                <a:lnTo>
                  <a:pt x="1692705" y="1358341"/>
                </a:lnTo>
                <a:lnTo>
                  <a:pt x="1647379" y="1390410"/>
                </a:lnTo>
                <a:lnTo>
                  <a:pt x="1626743" y="1438830"/>
                </a:lnTo>
                <a:lnTo>
                  <a:pt x="1623648" y="1506048"/>
                </a:lnTo>
                <a:lnTo>
                  <a:pt x="1626207" y="1588351"/>
                </a:lnTo>
                <a:lnTo>
                  <a:pt x="1621481" y="1676294"/>
                </a:lnTo>
                <a:lnTo>
                  <a:pt x="1599211" y="1756929"/>
                </a:lnTo>
                <a:lnTo>
                  <a:pt x="1554495" y="1817252"/>
                </a:lnTo>
                <a:lnTo>
                  <a:pt x="1488706" y="1847905"/>
                </a:lnTo>
                <a:lnTo>
                  <a:pt x="1408464" y="1846028"/>
                </a:lnTo>
                <a:lnTo>
                  <a:pt x="1323107" y="1816397"/>
                </a:lnTo>
                <a:lnTo>
                  <a:pt x="1241525" y="1770449"/>
                </a:lnTo>
                <a:lnTo>
                  <a:pt x="1169392" y="1723391"/>
                </a:lnTo>
                <a:lnTo>
                  <a:pt x="1107664" y="1690178"/>
                </a:lnTo>
                <a:lnTo>
                  <a:pt x="1052778" y="1681471"/>
                </a:lnTo>
                <a:lnTo>
                  <a:pt x="998420" y="1700705"/>
                </a:lnTo>
                <a:lnTo>
                  <a:pt x="938216" y="1743119"/>
                </a:lnTo>
                <a:lnTo>
                  <a:pt x="868426" y="1797011"/>
                </a:lnTo>
                <a:lnTo>
                  <a:pt x="789687" y="1846889"/>
                </a:lnTo>
                <a:lnTo>
                  <a:pt x="707203" y="1877607"/>
                </a:lnTo>
                <a:lnTo>
                  <a:pt x="629264" y="1878362"/>
                </a:lnTo>
                <a:lnTo>
                  <a:pt x="564545" y="1845410"/>
                </a:lnTo>
                <a:lnTo>
                  <a:pt x="519051" y="1782804"/>
                </a:lnTo>
                <a:lnTo>
                  <a:pt x="493724" y="1700997"/>
                </a:lnTo>
                <a:lnTo>
                  <a:pt x="483554" y="1613758"/>
                </a:lnTo>
                <a:lnTo>
                  <a:pt x="478580" y="1534342"/>
                </a:lnTo>
                <a:lnTo>
                  <a:pt x="466576" y="1472025"/>
                </a:lnTo>
                <a:lnTo>
                  <a:pt x="436687" y="1429950"/>
                </a:lnTo>
                <a:lnTo>
                  <a:pt x="382932" y="1404860"/>
                </a:lnTo>
                <a:lnTo>
                  <a:pt x="306472" y="1388666"/>
                </a:lnTo>
                <a:lnTo>
                  <a:pt x="215917" y="1371298"/>
                </a:lnTo>
                <a:lnTo>
                  <a:pt x="125436" y="1343911"/>
                </a:lnTo>
                <a:lnTo>
                  <a:pt x="51162" y="1301460"/>
                </a:lnTo>
                <a:lnTo>
                  <a:pt x="6845" y="1243894"/>
                </a:lnTo>
                <a:lnTo>
                  <a:pt x="0" y="1175674"/>
                </a:lnTo>
                <a:lnTo>
                  <a:pt x="29658" y="1103865"/>
                </a:lnTo>
                <a:lnTo>
                  <a:pt x="86415" y="1035489"/>
                </a:lnTo>
                <a:lnTo>
                  <a:pt x="154800" y="975045"/>
                </a:lnTo>
                <a:lnTo>
                  <a:pt x="217331" y="923024"/>
                </a:lnTo>
                <a:lnTo>
                  <a:pt x="259151" y="875898"/>
                </a:lnTo>
                <a:lnTo>
                  <a:pt x="271933" y="827593"/>
                </a:lnTo>
                <a:lnTo>
                  <a:pt x="255989" y="771921"/>
                </a:lnTo>
                <a:lnTo>
                  <a:pt x="220010" y="705169"/>
                </a:lnTo>
                <a:lnTo>
                  <a:pt x="178531" y="627928"/>
                </a:lnTo>
                <a:lnTo>
                  <a:pt x="147884" y="545512"/>
                </a:lnTo>
                <a:lnTo>
                  <a:pt x="141795" y="466754"/>
                </a:lnTo>
                <a:lnTo>
                  <a:pt x="167848" y="401464"/>
                </a:lnTo>
                <a:lnTo>
                  <a:pt x="225801" y="357342"/>
                </a:lnTo>
                <a:lnTo>
                  <a:pt x="308119" y="337288"/>
                </a:lnTo>
                <a:lnTo>
                  <a:pt x="402501" y="338013"/>
                </a:lnTo>
                <a:lnTo>
                  <a:pt x="495560" y="350469"/>
                </a:lnTo>
                <a:lnTo>
                  <a:pt x="576559" y="362076"/>
                </a:lnTo>
                <a:lnTo>
                  <a:pt x="640095" y="360168"/>
                </a:lnTo>
                <a:lnTo>
                  <a:pt x="687012" y="335688"/>
                </a:lnTo>
                <a:lnTo>
                  <a:pt x="723383" y="286045"/>
                </a:lnTo>
                <a:lnTo>
                  <a:pt x="757977" y="216248"/>
                </a:lnTo>
                <a:lnTo>
                  <a:pt x="799099" y="137930"/>
                </a:lnTo>
                <a:lnTo>
                  <a:pt x="851824" y="66456"/>
                </a:lnTo>
                <a:lnTo>
                  <a:pt x="916502" y="16899"/>
                </a:lnTo>
                <a:lnTo>
                  <a:pt x="988954" y="0"/>
                </a:lnTo>
                <a:lnTo>
                  <a:pt x="1062244" y="19234"/>
                </a:lnTo>
                <a:lnTo>
                  <a:pt x="1129378" y="69840"/>
                </a:lnTo>
                <a:lnTo>
                  <a:pt x="1185994" y="140076"/>
                </a:lnTo>
                <a:lnTo>
                  <a:pt x="1232114" y="214370"/>
                </a:lnTo>
                <a:lnTo>
                  <a:pt x="1272333" y="277459"/>
                </a:lnTo>
                <a:lnTo>
                  <a:pt x="1314345" y="318379"/>
                </a:lnTo>
                <a:lnTo>
                  <a:pt x="1366238" y="333192"/>
                </a:lnTo>
                <a:lnTo>
                  <a:pt x="1433451" y="325720"/>
                </a:lnTo>
                <a:lnTo>
                  <a:pt x="1516376" y="306145"/>
                </a:lnTo>
                <a:lnTo>
                  <a:pt x="1609476" y="287933"/>
                </a:lnTo>
                <a:lnTo>
                  <a:pt x="1702286" y="284004"/>
                </a:lnTo>
                <a:lnTo>
                  <a:pt x="1782104" y="303265"/>
                </a:lnTo>
                <a:lnTo>
                  <a:pt x="1837629" y="348462"/>
                </a:lnTo>
                <a:lnTo>
                  <a:pt x="1862462" y="415914"/>
                </a:lnTo>
                <a:lnTo>
                  <a:pt x="1857383" y="497079"/>
                </a:lnTo>
                <a:lnTo>
                  <a:pt x="1830651" y="581414"/>
                </a:lnTo>
                <a:lnTo>
                  <a:pt x="1796128" y="659578"/>
                </a:lnTo>
                <a:lnTo>
                  <a:pt x="1769672" y="726012"/>
                </a:lnTo>
                <a:lnTo>
                  <a:pt x="1764801" y="780136"/>
                </a:lnTo>
                <a:lnTo>
                  <a:pt x="1788836" y="825864"/>
                </a:lnTo>
                <a:lnTo>
                  <a:pt x="1840660" y="869707"/>
                </a:lnTo>
                <a:lnTo>
                  <a:pt x="1910761" y="918124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925993" y="2681937"/>
            <a:ext cx="2339273" cy="2143783"/>
          </a:xfrm>
          <a:custGeom>
            <a:avLst/>
            <a:gdLst/>
            <a:ahLst/>
            <a:cxnLst/>
            <a:rect l="l" t="t" r="r" b="b"/>
            <a:pathLst>
              <a:path w="2339273" h="2143783">
                <a:moveTo>
                  <a:pt x="2241467" y="1112823"/>
                </a:moveTo>
                <a:lnTo>
                  <a:pt x="2307094" y="1187400"/>
                </a:lnTo>
                <a:lnTo>
                  <a:pt x="2339273" y="1266912"/>
                </a:lnTo>
                <a:lnTo>
                  <a:pt x="2328669" y="1343775"/>
                </a:lnTo>
                <a:lnTo>
                  <a:pt x="2275757" y="1410287"/>
                </a:lnTo>
                <a:lnTo>
                  <a:pt x="2190527" y="1461573"/>
                </a:lnTo>
                <a:lnTo>
                  <a:pt x="2089621" y="1497688"/>
                </a:lnTo>
                <a:lnTo>
                  <a:pt x="1991759" y="1524094"/>
                </a:lnTo>
                <a:lnTo>
                  <a:pt x="1912756" y="1550280"/>
                </a:lnTo>
                <a:lnTo>
                  <a:pt x="1861537" y="1586881"/>
                </a:lnTo>
                <a:lnTo>
                  <a:pt x="1838220" y="1642142"/>
                </a:lnTo>
                <a:lnTo>
                  <a:pt x="1834722" y="1718859"/>
                </a:lnTo>
                <a:lnTo>
                  <a:pt x="1837613" y="1812792"/>
                </a:lnTo>
                <a:lnTo>
                  <a:pt x="1832273" y="1913162"/>
                </a:lnTo>
                <a:lnTo>
                  <a:pt x="1807108" y="2005190"/>
                </a:lnTo>
                <a:lnTo>
                  <a:pt x="1756579" y="2074038"/>
                </a:lnTo>
                <a:lnTo>
                  <a:pt x="1682237" y="2109022"/>
                </a:lnTo>
                <a:lnTo>
                  <a:pt x="1591564" y="2106879"/>
                </a:lnTo>
                <a:lnTo>
                  <a:pt x="1495111" y="2073062"/>
                </a:lnTo>
                <a:lnTo>
                  <a:pt x="1402923" y="2020621"/>
                </a:lnTo>
                <a:lnTo>
                  <a:pt x="1321412" y="1966913"/>
                </a:lnTo>
                <a:lnTo>
                  <a:pt x="1251659" y="1929008"/>
                </a:lnTo>
                <a:lnTo>
                  <a:pt x="1189639" y="1919070"/>
                </a:lnTo>
                <a:lnTo>
                  <a:pt x="1128214" y="1941022"/>
                </a:lnTo>
                <a:lnTo>
                  <a:pt x="1060184" y="1989429"/>
                </a:lnTo>
                <a:lnTo>
                  <a:pt x="981321" y="2050937"/>
                </a:lnTo>
                <a:lnTo>
                  <a:pt x="892346" y="2107862"/>
                </a:lnTo>
                <a:lnTo>
                  <a:pt x="799139" y="2142921"/>
                </a:lnTo>
                <a:lnTo>
                  <a:pt x="711068" y="2143783"/>
                </a:lnTo>
                <a:lnTo>
                  <a:pt x="637936" y="2106174"/>
                </a:lnTo>
                <a:lnTo>
                  <a:pt x="586527" y="2034722"/>
                </a:lnTo>
                <a:lnTo>
                  <a:pt x="557908" y="1941355"/>
                </a:lnTo>
                <a:lnTo>
                  <a:pt x="546416" y="1841788"/>
                </a:lnTo>
                <a:lnTo>
                  <a:pt x="540795" y="1751151"/>
                </a:lnTo>
                <a:lnTo>
                  <a:pt x="527230" y="1680028"/>
                </a:lnTo>
                <a:lnTo>
                  <a:pt x="493456" y="1632008"/>
                </a:lnTo>
                <a:lnTo>
                  <a:pt x="432712" y="1603373"/>
                </a:lnTo>
                <a:lnTo>
                  <a:pt x="346313" y="1584891"/>
                </a:lnTo>
                <a:lnTo>
                  <a:pt x="243986" y="1565068"/>
                </a:lnTo>
                <a:lnTo>
                  <a:pt x="141742" y="1533811"/>
                </a:lnTo>
                <a:lnTo>
                  <a:pt x="57813" y="1485362"/>
                </a:lnTo>
                <a:lnTo>
                  <a:pt x="7735" y="1419662"/>
                </a:lnTo>
                <a:lnTo>
                  <a:pt x="0" y="1341802"/>
                </a:lnTo>
                <a:lnTo>
                  <a:pt x="33513" y="1259846"/>
                </a:lnTo>
                <a:lnTo>
                  <a:pt x="97649" y="1181808"/>
                </a:lnTo>
                <a:lnTo>
                  <a:pt x="174923" y="1112823"/>
                </a:lnTo>
                <a:lnTo>
                  <a:pt x="245584" y="1053451"/>
                </a:lnTo>
                <a:lnTo>
                  <a:pt x="292841" y="999666"/>
                </a:lnTo>
                <a:lnTo>
                  <a:pt x="307284" y="944535"/>
                </a:lnTo>
                <a:lnTo>
                  <a:pt x="289267" y="880997"/>
                </a:lnTo>
                <a:lnTo>
                  <a:pt x="248611" y="804813"/>
                </a:lnTo>
                <a:lnTo>
                  <a:pt x="201739" y="716656"/>
                </a:lnTo>
                <a:lnTo>
                  <a:pt x="167109" y="622596"/>
                </a:lnTo>
                <a:lnTo>
                  <a:pt x="160228" y="532708"/>
                </a:lnTo>
                <a:lnTo>
                  <a:pt x="189668" y="458193"/>
                </a:lnTo>
                <a:lnTo>
                  <a:pt x="255155" y="407836"/>
                </a:lnTo>
                <a:lnTo>
                  <a:pt x="348175" y="384948"/>
                </a:lnTo>
                <a:lnTo>
                  <a:pt x="454825" y="385775"/>
                </a:lnTo>
                <a:lnTo>
                  <a:pt x="559982" y="399992"/>
                </a:lnTo>
                <a:lnTo>
                  <a:pt x="651511" y="413239"/>
                </a:lnTo>
                <a:lnTo>
                  <a:pt x="723307" y="411061"/>
                </a:lnTo>
                <a:lnTo>
                  <a:pt x="776324" y="383122"/>
                </a:lnTo>
                <a:lnTo>
                  <a:pt x="817423" y="326464"/>
                </a:lnTo>
                <a:lnTo>
                  <a:pt x="856514" y="246805"/>
                </a:lnTo>
                <a:lnTo>
                  <a:pt x="902981" y="157420"/>
                </a:lnTo>
                <a:lnTo>
                  <a:pt x="962561" y="75846"/>
                </a:lnTo>
                <a:lnTo>
                  <a:pt x="1035647" y="19287"/>
                </a:lnTo>
                <a:lnTo>
                  <a:pt x="1117518" y="0"/>
                </a:lnTo>
                <a:lnTo>
                  <a:pt x="1200335" y="21952"/>
                </a:lnTo>
                <a:lnTo>
                  <a:pt x="1276197" y="79708"/>
                </a:lnTo>
                <a:lnTo>
                  <a:pt x="1340173" y="159869"/>
                </a:lnTo>
                <a:lnTo>
                  <a:pt x="1392288" y="244661"/>
                </a:lnTo>
                <a:lnTo>
                  <a:pt x="1437736" y="316665"/>
                </a:lnTo>
                <a:lnTo>
                  <a:pt x="1485209" y="363368"/>
                </a:lnTo>
                <a:lnTo>
                  <a:pt x="1543849" y="380274"/>
                </a:lnTo>
                <a:lnTo>
                  <a:pt x="1619799" y="371745"/>
                </a:lnTo>
                <a:lnTo>
                  <a:pt x="1713504" y="349404"/>
                </a:lnTo>
                <a:lnTo>
                  <a:pt x="1818708" y="328619"/>
                </a:lnTo>
                <a:lnTo>
                  <a:pt x="1923583" y="324135"/>
                </a:lnTo>
                <a:lnTo>
                  <a:pt x="2013777" y="346117"/>
                </a:lnTo>
                <a:lnTo>
                  <a:pt x="2076521" y="397701"/>
                </a:lnTo>
                <a:lnTo>
                  <a:pt x="2104582" y="474684"/>
                </a:lnTo>
                <a:lnTo>
                  <a:pt x="2098842" y="567319"/>
                </a:lnTo>
                <a:lnTo>
                  <a:pt x="2068636" y="663570"/>
                </a:lnTo>
                <a:lnTo>
                  <a:pt x="2029624" y="752779"/>
                </a:lnTo>
                <a:lnTo>
                  <a:pt x="1999729" y="828601"/>
                </a:lnTo>
                <a:lnTo>
                  <a:pt x="1994225" y="890372"/>
                </a:lnTo>
                <a:lnTo>
                  <a:pt x="2021385" y="942562"/>
                </a:lnTo>
                <a:lnTo>
                  <a:pt x="2079946" y="992600"/>
                </a:lnTo>
                <a:lnTo>
                  <a:pt x="2159159" y="1047858"/>
                </a:lnTo>
                <a:close/>
              </a:path>
            </a:pathLst>
          </a:custGeom>
          <a:noFill/>
          <a:ln w="222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1132" y="2286000"/>
            <a:ext cx="137160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둘레 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2249424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L = 182.4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윤곽이 꼬불꼬불할수록 길다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(대각선 이동 = √2 로 계산)</a:t>
            </a:r>
          </a:p>
        </p:txBody>
      </p:sp>
      <p:sp>
        <p:nvSpPr>
          <p:cNvPr id="28" name="Freeform 27"/>
          <p:cNvSpPr/>
          <p:nvPr/>
        </p:nvSpPr>
        <p:spPr>
          <a:xfrm>
            <a:off x="8539488" y="3103722"/>
            <a:ext cx="2809224" cy="1382076"/>
          </a:xfrm>
          <a:custGeom>
            <a:avLst/>
            <a:gdLst/>
            <a:ahLst/>
            <a:cxnLst/>
            <a:rect l="l" t="t" r="r" b="b"/>
            <a:pathLst>
              <a:path w="2809224" h="1382076">
                <a:moveTo>
                  <a:pt x="2770495" y="268521"/>
                </a:moveTo>
                <a:lnTo>
                  <a:pt x="2797750" y="305312"/>
                </a:lnTo>
                <a:lnTo>
                  <a:pt x="2809224" y="347337"/>
                </a:lnTo>
                <a:lnTo>
                  <a:pt x="2804037" y="393693"/>
                </a:lnTo>
                <a:lnTo>
                  <a:pt x="2782389" y="443170"/>
                </a:lnTo>
                <a:lnTo>
                  <a:pt x="2745528" y="494396"/>
                </a:lnTo>
                <a:lnTo>
                  <a:pt x="2695625" y="545997"/>
                </a:lnTo>
                <a:lnTo>
                  <a:pt x="2635528" y="596753"/>
                </a:lnTo>
                <a:lnTo>
                  <a:pt x="2568464" y="645726"/>
                </a:lnTo>
                <a:lnTo>
                  <a:pt x="2497697" y="692358"/>
                </a:lnTo>
                <a:lnTo>
                  <a:pt x="2426191" y="736510"/>
                </a:lnTo>
                <a:lnTo>
                  <a:pt x="2356316" y="778449"/>
                </a:lnTo>
                <a:lnTo>
                  <a:pt x="2289636" y="818785"/>
                </a:lnTo>
                <a:lnTo>
                  <a:pt x="2226791" y="858350"/>
                </a:lnTo>
                <a:lnTo>
                  <a:pt x="2167495" y="898063"/>
                </a:lnTo>
                <a:lnTo>
                  <a:pt x="2110643" y="938770"/>
                </a:lnTo>
                <a:lnTo>
                  <a:pt x="2054513" y="981096"/>
                </a:lnTo>
                <a:lnTo>
                  <a:pt x="1997045" y="1025321"/>
                </a:lnTo>
                <a:lnTo>
                  <a:pt x="1936142" y="1071300"/>
                </a:lnTo>
                <a:lnTo>
                  <a:pt x="1869982" y="1118436"/>
                </a:lnTo>
                <a:lnTo>
                  <a:pt x="1797277" y="1165707"/>
                </a:lnTo>
                <a:lnTo>
                  <a:pt x="1717473" y="1211753"/>
                </a:lnTo>
                <a:lnTo>
                  <a:pt x="1630841" y="1255003"/>
                </a:lnTo>
                <a:lnTo>
                  <a:pt x="1538468" y="1293838"/>
                </a:lnTo>
                <a:lnTo>
                  <a:pt x="1442145" y="1326765"/>
                </a:lnTo>
                <a:lnTo>
                  <a:pt x="1344158" y="1352576"/>
                </a:lnTo>
                <a:lnTo>
                  <a:pt x="1247025" y="1370486"/>
                </a:lnTo>
                <a:lnTo>
                  <a:pt x="1153193" y="1380227"/>
                </a:lnTo>
                <a:lnTo>
                  <a:pt x="1064752" y="1382076"/>
                </a:lnTo>
                <a:lnTo>
                  <a:pt x="983187" y="1376836"/>
                </a:lnTo>
                <a:lnTo>
                  <a:pt x="909213" y="1365748"/>
                </a:lnTo>
                <a:lnTo>
                  <a:pt x="842697" y="1350359"/>
                </a:lnTo>
                <a:lnTo>
                  <a:pt x="782700" y="1332353"/>
                </a:lnTo>
                <a:lnTo>
                  <a:pt x="727612" y="1313374"/>
                </a:lnTo>
                <a:lnTo>
                  <a:pt x="675386" y="1294847"/>
                </a:lnTo>
                <a:lnTo>
                  <a:pt x="623821" y="1277828"/>
                </a:lnTo>
                <a:lnTo>
                  <a:pt x="570882" y="1262902"/>
                </a:lnTo>
                <a:lnTo>
                  <a:pt x="514996" y="1250130"/>
                </a:lnTo>
                <a:lnTo>
                  <a:pt x="455306" y="1239060"/>
                </a:lnTo>
                <a:lnTo>
                  <a:pt x="391843" y="1228797"/>
                </a:lnTo>
                <a:lnTo>
                  <a:pt x="325587" y="1218122"/>
                </a:lnTo>
                <a:lnTo>
                  <a:pt x="258421" y="1205647"/>
                </a:lnTo>
                <a:lnTo>
                  <a:pt x="192973" y="1189991"/>
                </a:lnTo>
                <a:lnTo>
                  <a:pt x="132368" y="1169945"/>
                </a:lnTo>
                <a:lnTo>
                  <a:pt x="79908" y="1144621"/>
                </a:lnTo>
                <a:lnTo>
                  <a:pt x="38729" y="1113555"/>
                </a:lnTo>
                <a:lnTo>
                  <a:pt x="11474" y="1076764"/>
                </a:lnTo>
                <a:lnTo>
                  <a:pt x="0" y="1034739"/>
                </a:lnTo>
                <a:lnTo>
                  <a:pt x="5187" y="988383"/>
                </a:lnTo>
                <a:lnTo>
                  <a:pt x="26835" y="938906"/>
                </a:lnTo>
                <a:lnTo>
                  <a:pt x="63696" y="887680"/>
                </a:lnTo>
                <a:lnTo>
                  <a:pt x="113599" y="836079"/>
                </a:lnTo>
                <a:lnTo>
                  <a:pt x="173696" y="785323"/>
                </a:lnTo>
                <a:lnTo>
                  <a:pt x="240760" y="736350"/>
                </a:lnTo>
                <a:lnTo>
                  <a:pt x="311527" y="689718"/>
                </a:lnTo>
                <a:lnTo>
                  <a:pt x="383033" y="645566"/>
                </a:lnTo>
                <a:lnTo>
                  <a:pt x="452908" y="603627"/>
                </a:lnTo>
                <a:lnTo>
                  <a:pt x="519588" y="563291"/>
                </a:lnTo>
                <a:lnTo>
                  <a:pt x="582433" y="523726"/>
                </a:lnTo>
                <a:lnTo>
                  <a:pt x="641729" y="484013"/>
                </a:lnTo>
                <a:lnTo>
                  <a:pt x="698581" y="443306"/>
                </a:lnTo>
                <a:lnTo>
                  <a:pt x="754711" y="400980"/>
                </a:lnTo>
                <a:lnTo>
                  <a:pt x="812179" y="356755"/>
                </a:lnTo>
                <a:lnTo>
                  <a:pt x="873082" y="310776"/>
                </a:lnTo>
                <a:lnTo>
                  <a:pt x="939242" y="263640"/>
                </a:lnTo>
                <a:lnTo>
                  <a:pt x="1011947" y="216369"/>
                </a:lnTo>
                <a:lnTo>
                  <a:pt x="1091751" y="170323"/>
                </a:lnTo>
                <a:lnTo>
                  <a:pt x="1178383" y="127073"/>
                </a:lnTo>
                <a:lnTo>
                  <a:pt x="1270756" y="88238"/>
                </a:lnTo>
                <a:lnTo>
                  <a:pt x="1367079" y="55311"/>
                </a:lnTo>
                <a:lnTo>
                  <a:pt x="1465066" y="29500"/>
                </a:lnTo>
                <a:lnTo>
                  <a:pt x="1562199" y="11590"/>
                </a:lnTo>
                <a:lnTo>
                  <a:pt x="1656031" y="1849"/>
                </a:lnTo>
                <a:lnTo>
                  <a:pt x="1744472" y="0"/>
                </a:lnTo>
                <a:lnTo>
                  <a:pt x="1826037" y="5240"/>
                </a:lnTo>
                <a:lnTo>
                  <a:pt x="1900011" y="16328"/>
                </a:lnTo>
                <a:lnTo>
                  <a:pt x="1966527" y="31717"/>
                </a:lnTo>
                <a:lnTo>
                  <a:pt x="2026524" y="49723"/>
                </a:lnTo>
                <a:lnTo>
                  <a:pt x="2081612" y="68702"/>
                </a:lnTo>
                <a:lnTo>
                  <a:pt x="2133838" y="87229"/>
                </a:lnTo>
                <a:lnTo>
                  <a:pt x="2185403" y="104248"/>
                </a:lnTo>
                <a:lnTo>
                  <a:pt x="2238342" y="119174"/>
                </a:lnTo>
                <a:lnTo>
                  <a:pt x="2294228" y="131946"/>
                </a:lnTo>
                <a:lnTo>
                  <a:pt x="2353918" y="143016"/>
                </a:lnTo>
                <a:lnTo>
                  <a:pt x="2417381" y="153279"/>
                </a:lnTo>
                <a:lnTo>
                  <a:pt x="2483637" y="163954"/>
                </a:lnTo>
                <a:lnTo>
                  <a:pt x="2550803" y="176429"/>
                </a:lnTo>
                <a:lnTo>
                  <a:pt x="2616251" y="192085"/>
                </a:lnTo>
                <a:lnTo>
                  <a:pt x="2676856" y="212131"/>
                </a:lnTo>
                <a:lnTo>
                  <a:pt x="2729316" y="237455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8645652" y="3319272"/>
            <a:ext cx="2624328" cy="914400"/>
          </a:xfrm>
          <a:prstGeom prst="line">
            <a:avLst/>
          </a:prstGeom>
          <a:ln w="2857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590788" y="41788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215116" y="3264408"/>
            <a:ext cx="109728" cy="10972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86900" y="3108960"/>
            <a:ext cx="146304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맑은 고딕"/>
                <a:ea typeface="맑은 고딕"/>
              </a:rPr>
              <a:t>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13264" y="2249424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D = 96.2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가장 먼 두 점 거리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= 불량의 '최대 길이'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Area는 작은데 Diameter가 크면 '가늘고 긴' 불량(크랙 의심) — 크기 3인방(Area·L·D)을 함께 봐야 모양이 보인다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Circularity 원형도 — 얼마나 원에 가까운가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중심에서 가장 먼 경계점(max)으로 그린 원의 면적 대비 실제 면적 — 뾰족하면 급감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1128" y="1371600"/>
            <a:ext cx="69494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Circularity = A / (π · max²)      범위 0~1, 완전한 원 = 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71700" y="2743200"/>
            <a:ext cx="2103120" cy="210312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25980" y="2697480"/>
            <a:ext cx="2194560" cy="2194560"/>
          </a:xfrm>
          <a:prstGeom prst="ellipse">
            <a:avLst/>
          </a:pr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23260" y="3429000"/>
            <a:ext cx="1033272" cy="365760"/>
          </a:xfrm>
          <a:prstGeom prst="line">
            <a:avLst/>
          </a:prstGeom>
          <a:ln w="222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34740" y="2926080"/>
            <a:ext cx="109728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맑은 고딕"/>
                <a:ea typeface="맑은 고딕"/>
              </a:rPr>
              <a:t>max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≈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원: 실제 면적 = 원 면적  →  1.0 (핀홀·원형 흑점)</a:t>
            </a:r>
          </a:p>
        </p:txBody>
      </p:sp>
      <p:sp>
        <p:nvSpPr>
          <p:cNvPr id="17" name="Freeform 16"/>
          <p:cNvSpPr/>
          <p:nvPr/>
        </p:nvSpPr>
        <p:spPr>
          <a:xfrm>
            <a:off x="7391765" y="2697480"/>
            <a:ext cx="2087150" cy="1984998"/>
          </a:xfrm>
          <a:custGeom>
            <a:avLst/>
            <a:gdLst/>
            <a:ahLst/>
            <a:cxnLst/>
            <a:rect l="l" t="t" r="r" b="b"/>
            <a:pathLst>
              <a:path w="2087150" h="1984998">
                <a:moveTo>
                  <a:pt x="1043575" y="0"/>
                </a:moveTo>
                <a:lnTo>
                  <a:pt x="1312310" y="727397"/>
                </a:lnTo>
                <a:lnTo>
                  <a:pt x="2087150" y="758202"/>
                </a:lnTo>
                <a:lnTo>
                  <a:pt x="1478398" y="1238563"/>
                </a:lnTo>
                <a:lnTo>
                  <a:pt x="1688540" y="1984998"/>
                </a:lnTo>
                <a:lnTo>
                  <a:pt x="1043575" y="1554480"/>
                </a:lnTo>
                <a:lnTo>
                  <a:pt x="398610" y="1984998"/>
                </a:lnTo>
                <a:lnTo>
                  <a:pt x="608752" y="1238563"/>
                </a:lnTo>
                <a:lnTo>
                  <a:pt x="0" y="758202"/>
                </a:lnTo>
                <a:lnTo>
                  <a:pt x="774840" y="727397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01484" y="2660904"/>
            <a:ext cx="2267712" cy="2267712"/>
          </a:xfrm>
          <a:prstGeom prst="ellipse">
            <a:avLst/>
          </a:pr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8435340" y="3447288"/>
            <a:ext cx="1078992" cy="347472"/>
          </a:xfrm>
          <a:prstGeom prst="line">
            <a:avLst/>
          </a:prstGeom>
          <a:ln w="222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46820" y="2926080"/>
            <a:ext cx="109728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맑은 고딕"/>
                <a:ea typeface="맑은 고딕"/>
              </a:rPr>
              <a:t>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2660" y="3291840"/>
            <a:ext cx="1645920" cy="73152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원 안의</a:t>
            </a:r>
          </a:p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빈 영역이 많음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≈ 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별: π·max² 대비 실제 면적이 작음  →  0.4 (뾰족한 이물)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핀홀 판별 주력 — 코터 룰 예: Circularity ≥ 0.7 이면 원형 불량.  값이 낮으면 뾰족하거나 길쭉한 모양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Compactness 윤곽 복잡도 — 같은 면적, 둘레는 몇 배인가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면적 대비 둘레²의 비 — 원이 최소(=1), 윤곽이 복잡할수록 상한 없이 커진다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5368" y="1371600"/>
            <a:ext cx="76809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Compactness = L² / (4π · A)      원 = 1.0, 복잡할수록 ↑ (상한 없음)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71700" y="2743200"/>
            <a:ext cx="2103120" cy="2103120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=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매끈한 원 — 이 면적을 감싸는 최소 둘레</a:t>
            </a:r>
          </a:p>
        </p:txBody>
      </p:sp>
      <p:sp>
        <p:nvSpPr>
          <p:cNvPr id="14" name="Freeform 13"/>
          <p:cNvSpPr/>
          <p:nvPr/>
        </p:nvSpPr>
        <p:spPr>
          <a:xfrm>
            <a:off x="8109260" y="2877873"/>
            <a:ext cx="2389520" cy="2108094"/>
          </a:xfrm>
          <a:custGeom>
            <a:avLst/>
            <a:gdLst/>
            <a:ahLst/>
            <a:cxnLst/>
            <a:rect l="l" t="t" r="r" b="b"/>
            <a:pathLst>
              <a:path w="2389520" h="2108094">
                <a:moveTo>
                  <a:pt x="2315697" y="1054047"/>
                </a:moveTo>
                <a:lnTo>
                  <a:pt x="2389520" y="1127249"/>
                </a:lnTo>
                <a:lnTo>
                  <a:pt x="2385283" y="1200649"/>
                </a:lnTo>
                <a:lnTo>
                  <a:pt x="2303190" y="1260481"/>
                </a:lnTo>
                <a:lnTo>
                  <a:pt x="2167139" y="1298351"/>
                </a:lnTo>
                <a:lnTo>
                  <a:pt x="2016336" y="1316054"/>
                </a:lnTo>
                <a:lnTo>
                  <a:pt x="1891906" y="1326007"/>
                </a:lnTo>
                <a:lnTo>
                  <a:pt x="1823249" y="1346847"/>
                </a:lnTo>
                <a:lnTo>
                  <a:pt x="1818888" y="1395760"/>
                </a:lnTo>
                <a:lnTo>
                  <a:pt x="1864813" y="1480596"/>
                </a:lnTo>
                <a:lnTo>
                  <a:pt x="1930612" y="1595053"/>
                </a:lnTo>
                <a:lnTo>
                  <a:pt x="1980854" y="1719183"/>
                </a:lnTo>
                <a:lnTo>
                  <a:pt x="1987473" y="1825443"/>
                </a:lnTo>
                <a:lnTo>
                  <a:pt x="1938685" y="1888339"/>
                </a:lnTo>
                <a:lnTo>
                  <a:pt x="1841492" y="1894155"/>
                </a:lnTo>
                <a:lnTo>
                  <a:pt x="1717290" y="1847042"/>
                </a:lnTo>
                <a:lnTo>
                  <a:pt x="1592697" y="1768924"/>
                </a:lnTo>
                <a:lnTo>
                  <a:pt x="1489342" y="1692891"/>
                </a:lnTo>
                <a:lnTo>
                  <a:pt x="1416570" y="1652187"/>
                </a:lnTo>
                <a:lnTo>
                  <a:pt x="1369634" y="1668589"/>
                </a:lnTo>
                <a:lnTo>
                  <a:pt x="1333682" y="1744366"/>
                </a:lnTo>
                <a:lnTo>
                  <a:pt x="1291537" y="1860815"/>
                </a:lnTo>
                <a:lnTo>
                  <a:pt x="1231826" y="1984065"/>
                </a:lnTo>
                <a:lnTo>
                  <a:pt x="1154021" y="2076231"/>
                </a:lnTo>
                <a:lnTo>
                  <a:pt x="1068321" y="2108094"/>
                </a:lnTo>
                <a:lnTo>
                  <a:pt x="990537" y="2068856"/>
                </a:lnTo>
                <a:lnTo>
                  <a:pt x="934234" y="1969591"/>
                </a:lnTo>
                <a:lnTo>
                  <a:pt x="903591" y="1839223"/>
                </a:lnTo>
                <a:lnTo>
                  <a:pt x="890200" y="1714531"/>
                </a:lnTo>
                <a:lnTo>
                  <a:pt x="875410" y="1627745"/>
                </a:lnTo>
                <a:lnTo>
                  <a:pt x="837579" y="1596108"/>
                </a:lnTo>
                <a:lnTo>
                  <a:pt x="761430" y="1616945"/>
                </a:lnTo>
                <a:lnTo>
                  <a:pt x="645737" y="1669761"/>
                </a:lnTo>
                <a:lnTo>
                  <a:pt x="505973" y="1724311"/>
                </a:lnTo>
                <a:lnTo>
                  <a:pt x="370437" y="1751529"/>
                </a:lnTo>
                <a:lnTo>
                  <a:pt x="270880" y="1733294"/>
                </a:lnTo>
                <a:lnTo>
                  <a:pt x="230898" y="1667632"/>
                </a:lnTo>
                <a:lnTo>
                  <a:pt x="256419" y="1567793"/>
                </a:lnTo>
                <a:lnTo>
                  <a:pt x="332060" y="1455961"/>
                </a:lnTo>
                <a:lnTo>
                  <a:pt x="425085" y="1354301"/>
                </a:lnTo>
                <a:lnTo>
                  <a:pt x="495910" y="1276915"/>
                </a:lnTo>
                <a:lnTo>
                  <a:pt x="511632" y="1225678"/>
                </a:lnTo>
                <a:lnTo>
                  <a:pt x="457797" y="1191299"/>
                </a:lnTo>
                <a:lnTo>
                  <a:pt x="344108" y="1158797"/>
                </a:lnTo>
                <a:lnTo>
                  <a:pt x="201861" y="1114881"/>
                </a:lnTo>
                <a:lnTo>
                  <a:pt x="73823" y="1054047"/>
                </a:lnTo>
                <a:lnTo>
                  <a:pt x="0" y="980845"/>
                </a:lnTo>
                <a:lnTo>
                  <a:pt x="4237" y="907445"/>
                </a:lnTo>
                <a:lnTo>
                  <a:pt x="86330" y="847613"/>
                </a:lnTo>
                <a:lnTo>
                  <a:pt x="222381" y="809743"/>
                </a:lnTo>
                <a:lnTo>
                  <a:pt x="373184" y="792040"/>
                </a:lnTo>
                <a:lnTo>
                  <a:pt x="497614" y="782087"/>
                </a:lnTo>
                <a:lnTo>
                  <a:pt x="566271" y="761247"/>
                </a:lnTo>
                <a:lnTo>
                  <a:pt x="570632" y="712334"/>
                </a:lnTo>
                <a:lnTo>
                  <a:pt x="524707" y="627498"/>
                </a:lnTo>
                <a:lnTo>
                  <a:pt x="458908" y="513041"/>
                </a:lnTo>
                <a:lnTo>
                  <a:pt x="408666" y="388911"/>
                </a:lnTo>
                <a:lnTo>
                  <a:pt x="402047" y="282651"/>
                </a:lnTo>
                <a:lnTo>
                  <a:pt x="450835" y="219755"/>
                </a:lnTo>
                <a:lnTo>
                  <a:pt x="548028" y="213939"/>
                </a:lnTo>
                <a:lnTo>
                  <a:pt x="672230" y="261052"/>
                </a:lnTo>
                <a:lnTo>
                  <a:pt x="796823" y="339170"/>
                </a:lnTo>
                <a:lnTo>
                  <a:pt x="900178" y="415203"/>
                </a:lnTo>
                <a:lnTo>
                  <a:pt x="972950" y="455907"/>
                </a:lnTo>
                <a:lnTo>
                  <a:pt x="1019886" y="439505"/>
                </a:lnTo>
                <a:lnTo>
                  <a:pt x="1055838" y="363728"/>
                </a:lnTo>
                <a:lnTo>
                  <a:pt x="1097983" y="247279"/>
                </a:lnTo>
                <a:lnTo>
                  <a:pt x="1157694" y="124029"/>
                </a:lnTo>
                <a:lnTo>
                  <a:pt x="1235499" y="31863"/>
                </a:lnTo>
                <a:lnTo>
                  <a:pt x="1321199" y="0"/>
                </a:lnTo>
                <a:lnTo>
                  <a:pt x="1398983" y="39238"/>
                </a:lnTo>
                <a:lnTo>
                  <a:pt x="1455286" y="138503"/>
                </a:lnTo>
                <a:lnTo>
                  <a:pt x="1485929" y="268871"/>
                </a:lnTo>
                <a:lnTo>
                  <a:pt x="1499320" y="393563"/>
                </a:lnTo>
                <a:lnTo>
                  <a:pt x="1514110" y="480349"/>
                </a:lnTo>
                <a:lnTo>
                  <a:pt x="1551941" y="511986"/>
                </a:lnTo>
                <a:lnTo>
                  <a:pt x="1628090" y="491149"/>
                </a:lnTo>
                <a:lnTo>
                  <a:pt x="1743783" y="438333"/>
                </a:lnTo>
                <a:lnTo>
                  <a:pt x="1883547" y="383783"/>
                </a:lnTo>
                <a:lnTo>
                  <a:pt x="2019083" y="356565"/>
                </a:lnTo>
                <a:lnTo>
                  <a:pt x="2118640" y="374800"/>
                </a:lnTo>
                <a:lnTo>
                  <a:pt x="2158622" y="440462"/>
                </a:lnTo>
                <a:lnTo>
                  <a:pt x="2133101" y="540301"/>
                </a:lnTo>
                <a:lnTo>
                  <a:pt x="2057460" y="652133"/>
                </a:lnTo>
                <a:lnTo>
                  <a:pt x="1964435" y="753793"/>
                </a:lnTo>
                <a:lnTo>
                  <a:pt x="1893610" y="831179"/>
                </a:lnTo>
                <a:lnTo>
                  <a:pt x="1877888" y="882416"/>
                </a:lnTo>
                <a:lnTo>
                  <a:pt x="1931723" y="916795"/>
                </a:lnTo>
                <a:lnTo>
                  <a:pt x="2045412" y="949297"/>
                </a:lnTo>
                <a:lnTo>
                  <a:pt x="2187659" y="993213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972716" y="2751845"/>
            <a:ext cx="2662608" cy="2360150"/>
          </a:xfrm>
          <a:custGeom>
            <a:avLst/>
            <a:gdLst/>
            <a:ahLst/>
            <a:cxnLst/>
            <a:rect l="l" t="t" r="r" b="b"/>
            <a:pathLst>
              <a:path w="2662608" h="2360150">
                <a:moveTo>
                  <a:pt x="2580348" y="1180075"/>
                </a:moveTo>
                <a:lnTo>
                  <a:pt x="2662608" y="1262029"/>
                </a:lnTo>
                <a:lnTo>
                  <a:pt x="2657887" y="1344205"/>
                </a:lnTo>
                <a:lnTo>
                  <a:pt x="2566411" y="1411191"/>
                </a:lnTo>
                <a:lnTo>
                  <a:pt x="2414812" y="1453589"/>
                </a:lnTo>
                <a:lnTo>
                  <a:pt x="2246774" y="1473408"/>
                </a:lnTo>
                <a:lnTo>
                  <a:pt x="2108124" y="1484552"/>
                </a:lnTo>
                <a:lnTo>
                  <a:pt x="2031620" y="1507883"/>
                </a:lnTo>
                <a:lnTo>
                  <a:pt x="2026760" y="1562645"/>
                </a:lnTo>
                <a:lnTo>
                  <a:pt x="2077935" y="1657624"/>
                </a:lnTo>
                <a:lnTo>
                  <a:pt x="2151253" y="1785767"/>
                </a:lnTo>
                <a:lnTo>
                  <a:pt x="2207238" y="1924738"/>
                </a:lnTo>
                <a:lnTo>
                  <a:pt x="2214613" y="2043703"/>
                </a:lnTo>
                <a:lnTo>
                  <a:pt x="2160249" y="2114119"/>
                </a:lnTo>
                <a:lnTo>
                  <a:pt x="2051948" y="2120631"/>
                </a:lnTo>
                <a:lnTo>
                  <a:pt x="1913552" y="2067885"/>
                </a:lnTo>
                <a:lnTo>
                  <a:pt x="1774719" y="1980426"/>
                </a:lnTo>
                <a:lnTo>
                  <a:pt x="1659552" y="1895303"/>
                </a:lnTo>
                <a:lnTo>
                  <a:pt x="1578463" y="1849732"/>
                </a:lnTo>
                <a:lnTo>
                  <a:pt x="1526163" y="1868095"/>
                </a:lnTo>
                <a:lnTo>
                  <a:pt x="1486102" y="1952932"/>
                </a:lnTo>
                <a:lnTo>
                  <a:pt x="1439141" y="2083305"/>
                </a:lnTo>
                <a:lnTo>
                  <a:pt x="1372606" y="2221290"/>
                </a:lnTo>
                <a:lnTo>
                  <a:pt x="1285909" y="2324477"/>
                </a:lnTo>
                <a:lnTo>
                  <a:pt x="1190415" y="2360150"/>
                </a:lnTo>
                <a:lnTo>
                  <a:pt x="1103741" y="2316220"/>
                </a:lnTo>
                <a:lnTo>
                  <a:pt x="1041003" y="2205086"/>
                </a:lnTo>
                <a:lnTo>
                  <a:pt x="1006859" y="2059131"/>
                </a:lnTo>
                <a:lnTo>
                  <a:pt x="991937" y="1919530"/>
                </a:lnTo>
                <a:lnTo>
                  <a:pt x="975457" y="1822367"/>
                </a:lnTo>
                <a:lnTo>
                  <a:pt x="933302" y="1786947"/>
                </a:lnTo>
                <a:lnTo>
                  <a:pt x="848451" y="1810276"/>
                </a:lnTo>
                <a:lnTo>
                  <a:pt x="719536" y="1869407"/>
                </a:lnTo>
                <a:lnTo>
                  <a:pt x="563799" y="1930479"/>
                </a:lnTo>
                <a:lnTo>
                  <a:pt x="412773" y="1960952"/>
                </a:lnTo>
                <a:lnTo>
                  <a:pt x="301838" y="1940536"/>
                </a:lnTo>
                <a:lnTo>
                  <a:pt x="257286" y="1867023"/>
                </a:lnTo>
                <a:lnTo>
                  <a:pt x="285724" y="1755247"/>
                </a:lnTo>
                <a:lnTo>
                  <a:pt x="370010" y="1630043"/>
                </a:lnTo>
                <a:lnTo>
                  <a:pt x="473667" y="1516229"/>
                </a:lnTo>
                <a:lnTo>
                  <a:pt x="552586" y="1429590"/>
                </a:lnTo>
                <a:lnTo>
                  <a:pt x="570104" y="1372228"/>
                </a:lnTo>
                <a:lnTo>
                  <a:pt x="510116" y="1333738"/>
                </a:lnTo>
                <a:lnTo>
                  <a:pt x="383434" y="1297349"/>
                </a:lnTo>
                <a:lnTo>
                  <a:pt x="224931" y="1248183"/>
                </a:lnTo>
                <a:lnTo>
                  <a:pt x="82260" y="1180075"/>
                </a:lnTo>
                <a:lnTo>
                  <a:pt x="0" y="1098121"/>
                </a:lnTo>
                <a:lnTo>
                  <a:pt x="4721" y="1015945"/>
                </a:lnTo>
                <a:lnTo>
                  <a:pt x="96197" y="948959"/>
                </a:lnTo>
                <a:lnTo>
                  <a:pt x="247796" y="906561"/>
                </a:lnTo>
                <a:lnTo>
                  <a:pt x="415834" y="886742"/>
                </a:lnTo>
                <a:lnTo>
                  <a:pt x="554484" y="875598"/>
                </a:lnTo>
                <a:lnTo>
                  <a:pt x="630988" y="852267"/>
                </a:lnTo>
                <a:lnTo>
                  <a:pt x="635848" y="797505"/>
                </a:lnTo>
                <a:lnTo>
                  <a:pt x="584673" y="702526"/>
                </a:lnTo>
                <a:lnTo>
                  <a:pt x="511355" y="574383"/>
                </a:lnTo>
                <a:lnTo>
                  <a:pt x="455370" y="435412"/>
                </a:lnTo>
                <a:lnTo>
                  <a:pt x="447995" y="316447"/>
                </a:lnTo>
                <a:lnTo>
                  <a:pt x="502359" y="246031"/>
                </a:lnTo>
                <a:lnTo>
                  <a:pt x="610660" y="239519"/>
                </a:lnTo>
                <a:lnTo>
                  <a:pt x="749056" y="292265"/>
                </a:lnTo>
                <a:lnTo>
                  <a:pt x="887889" y="379724"/>
                </a:lnTo>
                <a:lnTo>
                  <a:pt x="1003056" y="464847"/>
                </a:lnTo>
                <a:lnTo>
                  <a:pt x="1084145" y="510418"/>
                </a:lnTo>
                <a:lnTo>
                  <a:pt x="1136445" y="492055"/>
                </a:lnTo>
                <a:lnTo>
                  <a:pt x="1176506" y="407218"/>
                </a:lnTo>
                <a:lnTo>
                  <a:pt x="1223467" y="276845"/>
                </a:lnTo>
                <a:lnTo>
                  <a:pt x="1290002" y="138860"/>
                </a:lnTo>
                <a:lnTo>
                  <a:pt x="1376699" y="35673"/>
                </a:lnTo>
                <a:lnTo>
                  <a:pt x="1472193" y="0"/>
                </a:lnTo>
                <a:lnTo>
                  <a:pt x="1558867" y="43930"/>
                </a:lnTo>
                <a:lnTo>
                  <a:pt x="1621605" y="155064"/>
                </a:lnTo>
                <a:lnTo>
                  <a:pt x="1655749" y="301019"/>
                </a:lnTo>
                <a:lnTo>
                  <a:pt x="1670671" y="440620"/>
                </a:lnTo>
                <a:lnTo>
                  <a:pt x="1687151" y="537783"/>
                </a:lnTo>
                <a:lnTo>
                  <a:pt x="1729306" y="573203"/>
                </a:lnTo>
                <a:lnTo>
                  <a:pt x="1814157" y="549874"/>
                </a:lnTo>
                <a:lnTo>
                  <a:pt x="1943072" y="490743"/>
                </a:lnTo>
                <a:lnTo>
                  <a:pt x="2098809" y="429671"/>
                </a:lnTo>
                <a:lnTo>
                  <a:pt x="2249835" y="399198"/>
                </a:lnTo>
                <a:lnTo>
                  <a:pt x="2360770" y="419614"/>
                </a:lnTo>
                <a:lnTo>
                  <a:pt x="2405322" y="493127"/>
                </a:lnTo>
                <a:lnTo>
                  <a:pt x="2376884" y="604903"/>
                </a:lnTo>
                <a:lnTo>
                  <a:pt x="2292598" y="730107"/>
                </a:lnTo>
                <a:lnTo>
                  <a:pt x="2188941" y="843921"/>
                </a:lnTo>
                <a:lnTo>
                  <a:pt x="2110022" y="930560"/>
                </a:lnTo>
                <a:lnTo>
                  <a:pt x="2092504" y="987922"/>
                </a:lnTo>
                <a:lnTo>
                  <a:pt x="2152492" y="1026412"/>
                </a:lnTo>
                <a:lnTo>
                  <a:pt x="2279174" y="1062801"/>
                </a:lnTo>
                <a:lnTo>
                  <a:pt x="2437677" y="1111967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423160"/>
            <a:ext cx="1828800" cy="6858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같은 면적,</a:t>
            </a:r>
          </a:p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둘레는 훨씬 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≈ 3.2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아메바형 — 둘레가 길어 L²이 폭증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번짐·응집 이물처럼 '테두리가 지저분한' 불량 감별 — Circularity(빈 공간)와 보완 관계인 복잡도 지표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Convexity 볼록도 — 고무줄(볼록껍질)을 얼마나 채우나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Region을 고무줄로 감쌌을 때 생기는 빈 공간이 클수록 감소 — 찢김(Tear) 판별의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3928" y="1371600"/>
            <a:ext cx="78638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Convexity = A / A_convex (볼록껍질 면적)      범위 0~1, 볼록하면 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092199" y="2805029"/>
            <a:ext cx="2262122" cy="1979462"/>
          </a:xfrm>
          <a:custGeom>
            <a:avLst/>
            <a:gdLst/>
            <a:ahLst/>
            <a:cxnLst/>
            <a:rect l="l" t="t" r="r" b="b"/>
            <a:pathLst>
              <a:path w="2262122" h="1979462">
                <a:moveTo>
                  <a:pt x="2249706" y="989731"/>
                </a:moveTo>
                <a:lnTo>
                  <a:pt x="2260050" y="1058809"/>
                </a:lnTo>
                <a:lnTo>
                  <a:pt x="2262122" y="1128821"/>
                </a:lnTo>
                <a:lnTo>
                  <a:pt x="2255079" y="1198784"/>
                </a:lnTo>
                <a:lnTo>
                  <a:pt x="2238497" y="1267589"/>
                </a:lnTo>
                <a:lnTo>
                  <a:pt x="2212417" y="1334115"/>
                </a:lnTo>
                <a:lnTo>
                  <a:pt x="2177347" y="1397338"/>
                </a:lnTo>
                <a:lnTo>
                  <a:pt x="2134204" y="1456439"/>
                </a:lnTo>
                <a:lnTo>
                  <a:pt x="2084222" y="1510882"/>
                </a:lnTo>
                <a:lnTo>
                  <a:pt x="2028825" y="1560462"/>
                </a:lnTo>
                <a:lnTo>
                  <a:pt x="1969486" y="1605313"/>
                </a:lnTo>
                <a:lnTo>
                  <a:pt x="1907583" y="1645874"/>
                </a:lnTo>
                <a:lnTo>
                  <a:pt x="1844271" y="1682818"/>
                </a:lnTo>
                <a:lnTo>
                  <a:pt x="1780394" y="1716951"/>
                </a:lnTo>
                <a:lnTo>
                  <a:pt x="1716429" y="1749094"/>
                </a:lnTo>
                <a:lnTo>
                  <a:pt x="1652478" y="1779962"/>
                </a:lnTo>
                <a:lnTo>
                  <a:pt x="1588317" y="1810055"/>
                </a:lnTo>
                <a:lnTo>
                  <a:pt x="1523470" y="1839572"/>
                </a:lnTo>
                <a:lnTo>
                  <a:pt x="1457328" y="1868359"/>
                </a:lnTo>
                <a:lnTo>
                  <a:pt x="1389272" y="1895906"/>
                </a:lnTo>
                <a:lnTo>
                  <a:pt x="1318803" y="1921378"/>
                </a:lnTo>
                <a:lnTo>
                  <a:pt x="1245650" y="1943690"/>
                </a:lnTo>
                <a:lnTo>
                  <a:pt x="1169848" y="1961617"/>
                </a:lnTo>
                <a:lnTo>
                  <a:pt x="1091783" y="1973917"/>
                </a:lnTo>
                <a:lnTo>
                  <a:pt x="1012175" y="1979462"/>
                </a:lnTo>
                <a:lnTo>
                  <a:pt x="932038" y="1977358"/>
                </a:lnTo>
                <a:lnTo>
                  <a:pt x="852580" y="1967043"/>
                </a:lnTo>
                <a:lnTo>
                  <a:pt x="775091" y="1948348"/>
                </a:lnTo>
                <a:lnTo>
                  <a:pt x="700815" y="1921515"/>
                </a:lnTo>
                <a:lnTo>
                  <a:pt x="630817" y="1887177"/>
                </a:lnTo>
                <a:lnTo>
                  <a:pt x="565881" y="1846287"/>
                </a:lnTo>
                <a:lnTo>
                  <a:pt x="506434" y="1800022"/>
                </a:lnTo>
                <a:lnTo>
                  <a:pt x="452516" y="1749667"/>
                </a:lnTo>
                <a:lnTo>
                  <a:pt x="403791" y="1696482"/>
                </a:lnTo>
                <a:lnTo>
                  <a:pt x="359611" y="1641589"/>
                </a:lnTo>
                <a:lnTo>
                  <a:pt x="319115" y="1585872"/>
                </a:lnTo>
                <a:lnTo>
                  <a:pt x="281356" y="1529909"/>
                </a:lnTo>
                <a:lnTo>
                  <a:pt x="245440" y="1473954"/>
                </a:lnTo>
                <a:lnTo>
                  <a:pt x="210656" y="1417945"/>
                </a:lnTo>
                <a:lnTo>
                  <a:pt x="176597" y="1361566"/>
                </a:lnTo>
                <a:lnTo>
                  <a:pt x="143233" y="1304328"/>
                </a:lnTo>
                <a:lnTo>
                  <a:pt x="110944" y="1245681"/>
                </a:lnTo>
                <a:lnTo>
                  <a:pt x="80508" y="1185120"/>
                </a:lnTo>
                <a:lnTo>
                  <a:pt x="53035" y="1122299"/>
                </a:lnTo>
                <a:lnTo>
                  <a:pt x="29861" y="1057109"/>
                </a:lnTo>
                <a:lnTo>
                  <a:pt x="12416" y="989731"/>
                </a:lnTo>
                <a:lnTo>
                  <a:pt x="2072" y="920653"/>
                </a:lnTo>
                <a:lnTo>
                  <a:pt x="0" y="850641"/>
                </a:lnTo>
                <a:lnTo>
                  <a:pt x="7043" y="780678"/>
                </a:lnTo>
                <a:lnTo>
                  <a:pt x="23625" y="711873"/>
                </a:lnTo>
                <a:lnTo>
                  <a:pt x="49705" y="645347"/>
                </a:lnTo>
                <a:lnTo>
                  <a:pt x="84775" y="582124"/>
                </a:lnTo>
                <a:lnTo>
                  <a:pt x="127918" y="523023"/>
                </a:lnTo>
                <a:lnTo>
                  <a:pt x="177900" y="468580"/>
                </a:lnTo>
                <a:lnTo>
                  <a:pt x="233297" y="419000"/>
                </a:lnTo>
                <a:lnTo>
                  <a:pt x="292636" y="374149"/>
                </a:lnTo>
                <a:lnTo>
                  <a:pt x="354539" y="333588"/>
                </a:lnTo>
                <a:lnTo>
                  <a:pt x="417851" y="296644"/>
                </a:lnTo>
                <a:lnTo>
                  <a:pt x="481728" y="262511"/>
                </a:lnTo>
                <a:lnTo>
                  <a:pt x="545693" y="230368"/>
                </a:lnTo>
                <a:lnTo>
                  <a:pt x="609644" y="199500"/>
                </a:lnTo>
                <a:lnTo>
                  <a:pt x="673805" y="169407"/>
                </a:lnTo>
                <a:lnTo>
                  <a:pt x="738652" y="139890"/>
                </a:lnTo>
                <a:lnTo>
                  <a:pt x="804794" y="111103"/>
                </a:lnTo>
                <a:lnTo>
                  <a:pt x="872850" y="83556"/>
                </a:lnTo>
                <a:lnTo>
                  <a:pt x="943319" y="58084"/>
                </a:lnTo>
                <a:lnTo>
                  <a:pt x="1016472" y="35772"/>
                </a:lnTo>
                <a:lnTo>
                  <a:pt x="1092274" y="17845"/>
                </a:lnTo>
                <a:lnTo>
                  <a:pt x="1170339" y="5545"/>
                </a:lnTo>
                <a:lnTo>
                  <a:pt x="1249947" y="0"/>
                </a:lnTo>
                <a:lnTo>
                  <a:pt x="1330084" y="2104"/>
                </a:lnTo>
                <a:lnTo>
                  <a:pt x="1409542" y="12419"/>
                </a:lnTo>
                <a:lnTo>
                  <a:pt x="1487031" y="31114"/>
                </a:lnTo>
                <a:lnTo>
                  <a:pt x="1561307" y="57947"/>
                </a:lnTo>
                <a:lnTo>
                  <a:pt x="1631305" y="92285"/>
                </a:lnTo>
                <a:lnTo>
                  <a:pt x="1696241" y="133175"/>
                </a:lnTo>
                <a:lnTo>
                  <a:pt x="1755688" y="179440"/>
                </a:lnTo>
                <a:lnTo>
                  <a:pt x="1809606" y="229795"/>
                </a:lnTo>
                <a:lnTo>
                  <a:pt x="1858331" y="282980"/>
                </a:lnTo>
                <a:lnTo>
                  <a:pt x="1902511" y="337873"/>
                </a:lnTo>
                <a:lnTo>
                  <a:pt x="1943007" y="393590"/>
                </a:lnTo>
                <a:lnTo>
                  <a:pt x="1980766" y="449553"/>
                </a:lnTo>
                <a:lnTo>
                  <a:pt x="2016682" y="505508"/>
                </a:lnTo>
                <a:lnTo>
                  <a:pt x="2051466" y="561517"/>
                </a:lnTo>
                <a:lnTo>
                  <a:pt x="2085525" y="617896"/>
                </a:lnTo>
                <a:lnTo>
                  <a:pt x="2118889" y="675134"/>
                </a:lnTo>
                <a:lnTo>
                  <a:pt x="2151178" y="733781"/>
                </a:lnTo>
                <a:lnTo>
                  <a:pt x="2181614" y="794342"/>
                </a:lnTo>
                <a:lnTo>
                  <a:pt x="2209087" y="857163"/>
                </a:lnTo>
                <a:lnTo>
                  <a:pt x="2232261" y="922353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≈ 0.97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볼록한 덩어리 — 고무줄과 거의 밀착</a:t>
            </a:r>
          </a:p>
        </p:txBody>
      </p:sp>
      <p:sp>
        <p:nvSpPr>
          <p:cNvPr id="14" name="Freeform 13"/>
          <p:cNvSpPr/>
          <p:nvPr/>
        </p:nvSpPr>
        <p:spPr>
          <a:xfrm>
            <a:off x="7582815" y="2681981"/>
            <a:ext cx="2090934" cy="2119438"/>
          </a:xfrm>
          <a:custGeom>
            <a:avLst/>
            <a:gdLst/>
            <a:ahLst/>
            <a:cxnLst/>
            <a:rect l="l" t="t" r="r" b="b"/>
            <a:pathLst>
              <a:path w="2090934" h="2119438">
                <a:moveTo>
                  <a:pt x="1897035" y="1112779"/>
                </a:moveTo>
                <a:lnTo>
                  <a:pt x="1831589" y="1147866"/>
                </a:lnTo>
                <a:lnTo>
                  <a:pt x="1764360" y="1176434"/>
                </a:lnTo>
                <a:lnTo>
                  <a:pt x="1700496" y="1199094"/>
                </a:lnTo>
                <a:lnTo>
                  <a:pt x="1645251" y="1217460"/>
                </a:lnTo>
                <a:lnTo>
                  <a:pt x="1603236" y="1234045"/>
                </a:lnTo>
                <a:lnTo>
                  <a:pt x="1577703" y="1251947"/>
                </a:lnTo>
                <a:lnTo>
                  <a:pt x="1570001" y="1274385"/>
                </a:lnTo>
                <a:lnTo>
                  <a:pt x="1579341" y="1304170"/>
                </a:lnTo>
                <a:lnTo>
                  <a:pt x="1602914" y="1343220"/>
                </a:lnTo>
                <a:lnTo>
                  <a:pt x="1636341" y="1392229"/>
                </a:lnTo>
                <a:lnTo>
                  <a:pt x="1674356" y="1450559"/>
                </a:lnTo>
                <a:lnTo>
                  <a:pt x="1711583" y="1516374"/>
                </a:lnTo>
                <a:lnTo>
                  <a:pt x="1743242" y="1586970"/>
                </a:lnTo>
                <a:lnTo>
                  <a:pt x="1765669" y="1659219"/>
                </a:lnTo>
                <a:lnTo>
                  <a:pt x="1776585" y="1730032"/>
                </a:lnTo>
                <a:lnTo>
                  <a:pt x="1775108" y="1796749"/>
                </a:lnTo>
                <a:lnTo>
                  <a:pt x="1761553" y="1857388"/>
                </a:lnTo>
                <a:lnTo>
                  <a:pt x="1737116" y="1910747"/>
                </a:lnTo>
                <a:lnTo>
                  <a:pt x="1703512" y="1956369"/>
                </a:lnTo>
                <a:lnTo>
                  <a:pt x="1662644" y="1994409"/>
                </a:lnTo>
                <a:lnTo>
                  <a:pt x="1616348" y="2025448"/>
                </a:lnTo>
                <a:lnTo>
                  <a:pt x="1566232" y="2050315"/>
                </a:lnTo>
                <a:lnTo>
                  <a:pt x="1513596" y="2069923"/>
                </a:lnTo>
                <a:lnTo>
                  <a:pt x="1459419" y="2085160"/>
                </a:lnTo>
                <a:lnTo>
                  <a:pt x="1404393" y="2096811"/>
                </a:lnTo>
                <a:lnTo>
                  <a:pt x="1348966" y="2105528"/>
                </a:lnTo>
                <a:lnTo>
                  <a:pt x="1293406" y="2111825"/>
                </a:lnTo>
                <a:lnTo>
                  <a:pt x="1237847" y="2116083"/>
                </a:lnTo>
                <a:lnTo>
                  <a:pt x="1182330" y="2118565"/>
                </a:lnTo>
                <a:lnTo>
                  <a:pt x="1126845" y="2119438"/>
                </a:lnTo>
                <a:lnTo>
                  <a:pt x="1071348" y="2118784"/>
                </a:lnTo>
                <a:lnTo>
                  <a:pt x="1015785" y="2116612"/>
                </a:lnTo>
                <a:lnTo>
                  <a:pt x="960109" y="2112874"/>
                </a:lnTo>
                <a:lnTo>
                  <a:pt x="904289" y="2107471"/>
                </a:lnTo>
                <a:lnTo>
                  <a:pt x="848324" y="2100262"/>
                </a:lnTo>
                <a:lnTo>
                  <a:pt x="792247" y="2091076"/>
                </a:lnTo>
                <a:lnTo>
                  <a:pt x="736136" y="2079719"/>
                </a:lnTo>
                <a:lnTo>
                  <a:pt x="680113" y="2065986"/>
                </a:lnTo>
                <a:lnTo>
                  <a:pt x="624349" y="2049673"/>
                </a:lnTo>
                <a:lnTo>
                  <a:pt x="569061" y="2030584"/>
                </a:lnTo>
                <a:lnTo>
                  <a:pt x="514511" y="2008545"/>
                </a:lnTo>
                <a:lnTo>
                  <a:pt x="460999" y="1983414"/>
                </a:lnTo>
                <a:lnTo>
                  <a:pt x="408859" y="1955086"/>
                </a:lnTo>
                <a:lnTo>
                  <a:pt x="358446" y="1923502"/>
                </a:lnTo>
                <a:lnTo>
                  <a:pt x="310130" y="1888658"/>
                </a:lnTo>
                <a:lnTo>
                  <a:pt x="264282" y="1850602"/>
                </a:lnTo>
                <a:lnTo>
                  <a:pt x="221263" y="1809439"/>
                </a:lnTo>
                <a:lnTo>
                  <a:pt x="181414" y="1765330"/>
                </a:lnTo>
                <a:lnTo>
                  <a:pt x="145047" y="1718487"/>
                </a:lnTo>
                <a:lnTo>
                  <a:pt x="112429" y="1669169"/>
                </a:lnTo>
                <a:lnTo>
                  <a:pt x="83780" y="1617674"/>
                </a:lnTo>
                <a:lnTo>
                  <a:pt x="59261" y="1564332"/>
                </a:lnTo>
                <a:lnTo>
                  <a:pt x="38975" y="1509494"/>
                </a:lnTo>
                <a:lnTo>
                  <a:pt x="22960" y="1453519"/>
                </a:lnTo>
                <a:lnTo>
                  <a:pt x="11192" y="1396770"/>
                </a:lnTo>
                <a:lnTo>
                  <a:pt x="3586" y="1339597"/>
                </a:lnTo>
                <a:lnTo>
                  <a:pt x="0" y="1282330"/>
                </a:lnTo>
                <a:lnTo>
                  <a:pt x="246" y="1225269"/>
                </a:lnTo>
                <a:lnTo>
                  <a:pt x="4092" y="1168678"/>
                </a:lnTo>
                <a:lnTo>
                  <a:pt x="11277" y="1112779"/>
                </a:lnTo>
                <a:lnTo>
                  <a:pt x="21520" y="1057748"/>
                </a:lnTo>
                <a:lnTo>
                  <a:pt x="34530" y="1003712"/>
                </a:lnTo>
                <a:lnTo>
                  <a:pt x="50023" y="950755"/>
                </a:lnTo>
                <a:lnTo>
                  <a:pt x="67724" y="898912"/>
                </a:lnTo>
                <a:lnTo>
                  <a:pt x="87386" y="848183"/>
                </a:lnTo>
                <a:lnTo>
                  <a:pt x="108794" y="798533"/>
                </a:lnTo>
                <a:lnTo>
                  <a:pt x="131770" y="749904"/>
                </a:lnTo>
                <a:lnTo>
                  <a:pt x="156185" y="702222"/>
                </a:lnTo>
                <a:lnTo>
                  <a:pt x="181954" y="655405"/>
                </a:lnTo>
                <a:lnTo>
                  <a:pt x="209040" y="609379"/>
                </a:lnTo>
                <a:lnTo>
                  <a:pt x="237455" y="564081"/>
                </a:lnTo>
                <a:lnTo>
                  <a:pt x="267249" y="519472"/>
                </a:lnTo>
                <a:lnTo>
                  <a:pt x="298509" y="475545"/>
                </a:lnTo>
                <a:lnTo>
                  <a:pt x="331351" y="432327"/>
                </a:lnTo>
                <a:lnTo>
                  <a:pt x="365909" y="389889"/>
                </a:lnTo>
                <a:lnTo>
                  <a:pt x="402322" y="348348"/>
                </a:lnTo>
                <a:lnTo>
                  <a:pt x="440732" y="307863"/>
                </a:lnTo>
                <a:lnTo>
                  <a:pt x="481262" y="268639"/>
                </a:lnTo>
                <a:lnTo>
                  <a:pt x="524015" y="230917"/>
                </a:lnTo>
                <a:lnTo>
                  <a:pt x="569061" y="194974"/>
                </a:lnTo>
                <a:lnTo>
                  <a:pt x="616426" y="161114"/>
                </a:lnTo>
                <a:lnTo>
                  <a:pt x="666092" y="129654"/>
                </a:lnTo>
                <a:lnTo>
                  <a:pt x="717986" y="100921"/>
                </a:lnTo>
                <a:lnTo>
                  <a:pt x="771984" y="75237"/>
                </a:lnTo>
                <a:lnTo>
                  <a:pt x="827907" y="52908"/>
                </a:lnTo>
                <a:lnTo>
                  <a:pt x="885523" y="34216"/>
                </a:lnTo>
                <a:lnTo>
                  <a:pt x="944557" y="19404"/>
                </a:lnTo>
                <a:lnTo>
                  <a:pt x="1004691" y="8675"/>
                </a:lnTo>
                <a:lnTo>
                  <a:pt x="1065577" y="2176"/>
                </a:lnTo>
                <a:lnTo>
                  <a:pt x="1126845" y="0"/>
                </a:lnTo>
                <a:lnTo>
                  <a:pt x="1188113" y="2176"/>
                </a:lnTo>
                <a:lnTo>
                  <a:pt x="1248999" y="8675"/>
                </a:lnTo>
                <a:lnTo>
                  <a:pt x="1309133" y="19404"/>
                </a:lnTo>
                <a:lnTo>
                  <a:pt x="1368167" y="34216"/>
                </a:lnTo>
                <a:lnTo>
                  <a:pt x="1425783" y="52908"/>
                </a:lnTo>
                <a:lnTo>
                  <a:pt x="1481706" y="75237"/>
                </a:lnTo>
                <a:lnTo>
                  <a:pt x="1535703" y="100922"/>
                </a:lnTo>
                <a:lnTo>
                  <a:pt x="1587597" y="129656"/>
                </a:lnTo>
                <a:lnTo>
                  <a:pt x="1637262" y="161118"/>
                </a:lnTo>
                <a:lnTo>
                  <a:pt x="1684624" y="194983"/>
                </a:lnTo>
                <a:lnTo>
                  <a:pt x="1729661" y="230936"/>
                </a:lnTo>
                <a:lnTo>
                  <a:pt x="1772397" y="268680"/>
                </a:lnTo>
                <a:lnTo>
                  <a:pt x="1812887" y="307947"/>
                </a:lnTo>
                <a:lnTo>
                  <a:pt x="1851212" y="348512"/>
                </a:lnTo>
                <a:lnTo>
                  <a:pt x="1887454" y="390201"/>
                </a:lnTo>
                <a:lnTo>
                  <a:pt x="1921673" y="432896"/>
                </a:lnTo>
                <a:lnTo>
                  <a:pt x="1953878" y="476547"/>
                </a:lnTo>
                <a:lnTo>
                  <a:pt x="1983978" y="521172"/>
                </a:lnTo>
                <a:lnTo>
                  <a:pt x="2011742" y="566853"/>
                </a:lnTo>
                <a:lnTo>
                  <a:pt x="2036734" y="613721"/>
                </a:lnTo>
                <a:lnTo>
                  <a:pt x="2058268" y="661925"/>
                </a:lnTo>
                <a:lnTo>
                  <a:pt x="2075366" y="711586"/>
                </a:lnTo>
                <a:lnTo>
                  <a:pt x="2086759" y="762726"/>
                </a:lnTo>
                <a:lnTo>
                  <a:pt x="2090934" y="815190"/>
                </a:lnTo>
                <a:lnTo>
                  <a:pt x="2086262" y="868558"/>
                </a:lnTo>
                <a:lnTo>
                  <a:pt x="2071215" y="922084"/>
                </a:lnTo>
                <a:lnTo>
                  <a:pt x="2044645" y="974682"/>
                </a:lnTo>
                <a:lnTo>
                  <a:pt x="2006132" y="1024983"/>
                </a:lnTo>
                <a:lnTo>
                  <a:pt x="1956295" y="1071483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582845" y="2682027"/>
            <a:ext cx="2090867" cy="2119396"/>
          </a:xfrm>
          <a:custGeom>
            <a:avLst/>
            <a:gdLst/>
            <a:ahLst/>
            <a:cxnLst/>
            <a:rect l="l" t="t" r="r" b="b"/>
            <a:pathLst>
              <a:path w="2090867" h="2119396">
                <a:moveTo>
                  <a:pt x="0" y="1282263"/>
                </a:moveTo>
                <a:lnTo>
                  <a:pt x="183" y="1225204"/>
                </a:lnTo>
                <a:lnTo>
                  <a:pt x="4023" y="1168603"/>
                </a:lnTo>
                <a:lnTo>
                  <a:pt x="11247" y="1112733"/>
                </a:lnTo>
                <a:lnTo>
                  <a:pt x="21488" y="1057686"/>
                </a:lnTo>
                <a:lnTo>
                  <a:pt x="34473" y="1003645"/>
                </a:lnTo>
                <a:lnTo>
                  <a:pt x="50018" y="950701"/>
                </a:lnTo>
                <a:lnTo>
                  <a:pt x="67665" y="898855"/>
                </a:lnTo>
                <a:lnTo>
                  <a:pt x="87325" y="848106"/>
                </a:lnTo>
                <a:lnTo>
                  <a:pt x="108722" y="798454"/>
                </a:lnTo>
                <a:lnTo>
                  <a:pt x="131765" y="749899"/>
                </a:lnTo>
                <a:lnTo>
                  <a:pt x="156179" y="702167"/>
                </a:lnTo>
                <a:lnTo>
                  <a:pt x="181965" y="655350"/>
                </a:lnTo>
                <a:lnTo>
                  <a:pt x="209032" y="609356"/>
                </a:lnTo>
                <a:lnTo>
                  <a:pt x="237470" y="564002"/>
                </a:lnTo>
                <a:lnTo>
                  <a:pt x="267188" y="519470"/>
                </a:lnTo>
                <a:lnTo>
                  <a:pt x="298460" y="475488"/>
                </a:lnTo>
                <a:lnTo>
                  <a:pt x="331287" y="432237"/>
                </a:lnTo>
                <a:lnTo>
                  <a:pt x="365851" y="389808"/>
                </a:lnTo>
                <a:lnTo>
                  <a:pt x="402336" y="348295"/>
                </a:lnTo>
                <a:lnTo>
                  <a:pt x="440741" y="307787"/>
                </a:lnTo>
                <a:lnTo>
                  <a:pt x="481249" y="268559"/>
                </a:lnTo>
                <a:lnTo>
                  <a:pt x="523951" y="230886"/>
                </a:lnTo>
                <a:lnTo>
                  <a:pt x="569031" y="194950"/>
                </a:lnTo>
                <a:lnTo>
                  <a:pt x="616397" y="161025"/>
                </a:lnTo>
                <a:lnTo>
                  <a:pt x="666049" y="129570"/>
                </a:lnTo>
                <a:lnTo>
                  <a:pt x="717987" y="100858"/>
                </a:lnTo>
                <a:lnTo>
                  <a:pt x="771936" y="75163"/>
                </a:lnTo>
                <a:lnTo>
                  <a:pt x="827898" y="52852"/>
                </a:lnTo>
                <a:lnTo>
                  <a:pt x="885505" y="34198"/>
                </a:lnTo>
                <a:lnTo>
                  <a:pt x="944484" y="19385"/>
                </a:lnTo>
                <a:lnTo>
                  <a:pt x="1004651" y="8595"/>
                </a:lnTo>
                <a:lnTo>
                  <a:pt x="1065550" y="2103"/>
                </a:lnTo>
                <a:lnTo>
                  <a:pt x="1126815" y="0"/>
                </a:lnTo>
                <a:lnTo>
                  <a:pt x="1188080" y="2103"/>
                </a:lnTo>
                <a:lnTo>
                  <a:pt x="1248979" y="8595"/>
                </a:lnTo>
                <a:lnTo>
                  <a:pt x="1309146" y="19385"/>
                </a:lnTo>
                <a:lnTo>
                  <a:pt x="1368125" y="34198"/>
                </a:lnTo>
                <a:lnTo>
                  <a:pt x="1425732" y="52852"/>
                </a:lnTo>
                <a:lnTo>
                  <a:pt x="1481694" y="75163"/>
                </a:lnTo>
                <a:lnTo>
                  <a:pt x="1535643" y="100858"/>
                </a:lnTo>
                <a:lnTo>
                  <a:pt x="1587581" y="129570"/>
                </a:lnTo>
                <a:lnTo>
                  <a:pt x="1637233" y="161117"/>
                </a:lnTo>
                <a:lnTo>
                  <a:pt x="1684599" y="194950"/>
                </a:lnTo>
                <a:lnTo>
                  <a:pt x="1729587" y="230886"/>
                </a:lnTo>
                <a:lnTo>
                  <a:pt x="1772381" y="268650"/>
                </a:lnTo>
                <a:lnTo>
                  <a:pt x="1812889" y="307878"/>
                </a:lnTo>
                <a:lnTo>
                  <a:pt x="1851203" y="348477"/>
                </a:lnTo>
                <a:lnTo>
                  <a:pt x="1887413" y="390174"/>
                </a:lnTo>
                <a:lnTo>
                  <a:pt x="1921611" y="432877"/>
                </a:lnTo>
                <a:lnTo>
                  <a:pt x="1953890" y="476493"/>
                </a:lnTo>
                <a:lnTo>
                  <a:pt x="1983974" y="521116"/>
                </a:lnTo>
                <a:lnTo>
                  <a:pt x="2011680" y="566836"/>
                </a:lnTo>
                <a:lnTo>
                  <a:pt x="2036734" y="613653"/>
                </a:lnTo>
                <a:lnTo>
                  <a:pt x="2058223" y="661842"/>
                </a:lnTo>
                <a:lnTo>
                  <a:pt x="2075322" y="711494"/>
                </a:lnTo>
                <a:lnTo>
                  <a:pt x="2086752" y="762701"/>
                </a:lnTo>
                <a:lnTo>
                  <a:pt x="2090867" y="815187"/>
                </a:lnTo>
                <a:lnTo>
                  <a:pt x="2086203" y="868497"/>
                </a:lnTo>
                <a:lnTo>
                  <a:pt x="2071207" y="922081"/>
                </a:lnTo>
                <a:lnTo>
                  <a:pt x="1761500" y="1857329"/>
                </a:lnTo>
                <a:lnTo>
                  <a:pt x="1737086" y="1910730"/>
                </a:lnTo>
                <a:lnTo>
                  <a:pt x="1703527" y="1956358"/>
                </a:lnTo>
                <a:lnTo>
                  <a:pt x="1662653" y="1994397"/>
                </a:lnTo>
                <a:lnTo>
                  <a:pt x="1616293" y="2025396"/>
                </a:lnTo>
                <a:lnTo>
                  <a:pt x="1566184" y="2050267"/>
                </a:lnTo>
                <a:lnTo>
                  <a:pt x="1513606" y="2069835"/>
                </a:lnTo>
                <a:lnTo>
                  <a:pt x="1459382" y="2085106"/>
                </a:lnTo>
                <a:lnTo>
                  <a:pt x="1404335" y="2096810"/>
                </a:lnTo>
                <a:lnTo>
                  <a:pt x="1348923" y="2105497"/>
                </a:lnTo>
                <a:lnTo>
                  <a:pt x="1293419" y="2111806"/>
                </a:lnTo>
                <a:lnTo>
                  <a:pt x="1237823" y="2116013"/>
                </a:lnTo>
                <a:lnTo>
                  <a:pt x="1182319" y="2118482"/>
                </a:lnTo>
                <a:lnTo>
                  <a:pt x="1126815" y="2119396"/>
                </a:lnTo>
                <a:lnTo>
                  <a:pt x="1071311" y="2118756"/>
                </a:lnTo>
                <a:lnTo>
                  <a:pt x="1015715" y="2116561"/>
                </a:lnTo>
                <a:lnTo>
                  <a:pt x="960120" y="2112812"/>
                </a:lnTo>
                <a:lnTo>
                  <a:pt x="904250" y="2107417"/>
                </a:lnTo>
                <a:lnTo>
                  <a:pt x="848289" y="2100194"/>
                </a:lnTo>
                <a:lnTo>
                  <a:pt x="792236" y="2091050"/>
                </a:lnTo>
                <a:lnTo>
                  <a:pt x="736092" y="2079711"/>
                </a:lnTo>
                <a:lnTo>
                  <a:pt x="680039" y="2065904"/>
                </a:lnTo>
                <a:lnTo>
                  <a:pt x="624352" y="2049627"/>
                </a:lnTo>
                <a:lnTo>
                  <a:pt x="569031" y="2030516"/>
                </a:lnTo>
                <a:lnTo>
                  <a:pt x="514441" y="2008479"/>
                </a:lnTo>
                <a:lnTo>
                  <a:pt x="460949" y="1983333"/>
                </a:lnTo>
                <a:lnTo>
                  <a:pt x="408828" y="1955078"/>
                </a:lnTo>
                <a:lnTo>
                  <a:pt x="358445" y="1923440"/>
                </a:lnTo>
                <a:lnTo>
                  <a:pt x="310073" y="1888601"/>
                </a:lnTo>
                <a:lnTo>
                  <a:pt x="264261" y="1850562"/>
                </a:lnTo>
                <a:lnTo>
                  <a:pt x="221193" y="1809414"/>
                </a:lnTo>
                <a:lnTo>
                  <a:pt x="181417" y="1765249"/>
                </a:lnTo>
                <a:lnTo>
                  <a:pt x="145024" y="1718432"/>
                </a:lnTo>
                <a:lnTo>
                  <a:pt x="112380" y="1669145"/>
                </a:lnTo>
                <a:lnTo>
                  <a:pt x="83759" y="1617665"/>
                </a:lnTo>
                <a:lnTo>
                  <a:pt x="59253" y="1564264"/>
                </a:lnTo>
                <a:lnTo>
                  <a:pt x="38953" y="1509491"/>
                </a:lnTo>
                <a:lnTo>
                  <a:pt x="22951" y="1453438"/>
                </a:lnTo>
                <a:lnTo>
                  <a:pt x="11156" y="1396746"/>
                </a:lnTo>
                <a:lnTo>
                  <a:pt x="3566" y="1339596"/>
                </a:lnTo>
                <a:close/>
              </a:path>
            </a:pathLst>
          </a:custGeom>
          <a:noFill/>
          <a:ln w="222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9780" y="3520440"/>
            <a:ext cx="1920240" cy="6858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찢겨 나간 빈 공간</a:t>
            </a:r>
          </a:p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→ 볼록도 하락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≈ 0.55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깊게 파인 형상 — 고무줄 안 빈 공간이 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Tear(찢김)·가지 달린 불량은 Convexity ≤ 0.6 으로 급감 — 코터 무지부 Tear 룰의 주력 특징값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Rectangularity 사각형도 — 최소 회전 사각형을 얼마나 채우나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가장 작게 감싸는 '회전 허용' 사각형 대비 면적 — 띠·테이프성 이물 판별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9608" y="1371600"/>
            <a:ext cx="8412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Rectangularity = A / A_rect (최소 회전 사각형 면적)      직사각형 = 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726373" y="2963898"/>
            <a:ext cx="2993774" cy="1661724"/>
          </a:xfrm>
          <a:custGeom>
            <a:avLst/>
            <a:gdLst/>
            <a:ahLst/>
            <a:cxnLst/>
            <a:rect l="l" t="t" r="r" b="b"/>
            <a:pathLst>
              <a:path w="2993774" h="1661724">
                <a:moveTo>
                  <a:pt x="0" y="685762"/>
                </a:moveTo>
                <a:lnTo>
                  <a:pt x="2750439" y="0"/>
                </a:lnTo>
                <a:lnTo>
                  <a:pt x="2993774" y="975962"/>
                </a:lnTo>
                <a:lnTo>
                  <a:pt x="243335" y="1661724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48781" y="2886307"/>
            <a:ext cx="3148958" cy="1816906"/>
          </a:xfrm>
          <a:custGeom>
            <a:avLst/>
            <a:gdLst/>
            <a:ahLst/>
            <a:cxnLst/>
            <a:rect l="l" t="t" r="r" b="b"/>
            <a:pathLst>
              <a:path w="3148958" h="1816906">
                <a:moveTo>
                  <a:pt x="0" y="716731"/>
                </a:moveTo>
                <a:lnTo>
                  <a:pt x="2874653" y="0"/>
                </a:lnTo>
                <a:lnTo>
                  <a:pt x="3148958" y="1100175"/>
                </a:lnTo>
                <a:lnTo>
                  <a:pt x="274305" y="1816906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≈ 0.98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기울어진 띠 이물 — 사각형과 거의 일치 (참고: 원 = 0.785)</a:t>
            </a:r>
          </a:p>
        </p:txBody>
      </p:sp>
      <p:sp>
        <p:nvSpPr>
          <p:cNvPr id="15" name="Freeform 14"/>
          <p:cNvSpPr/>
          <p:nvPr/>
        </p:nvSpPr>
        <p:spPr>
          <a:xfrm>
            <a:off x="7537626" y="2823937"/>
            <a:ext cx="2892708" cy="1941646"/>
          </a:xfrm>
          <a:custGeom>
            <a:avLst/>
            <a:gdLst/>
            <a:ahLst/>
            <a:cxnLst/>
            <a:rect l="l" t="t" r="r" b="b"/>
            <a:pathLst>
              <a:path w="2892708" h="1941646">
                <a:moveTo>
                  <a:pt x="2868141" y="970823"/>
                </a:moveTo>
                <a:lnTo>
                  <a:pt x="2892708" y="1044732"/>
                </a:lnTo>
                <a:lnTo>
                  <a:pt x="2865237" y="1116546"/>
                </a:lnTo>
                <a:lnTo>
                  <a:pt x="2789898" y="1179515"/>
                </a:lnTo>
                <a:lnTo>
                  <a:pt x="2679010" y="1229120"/>
                </a:lnTo>
                <a:lnTo>
                  <a:pt x="2550415" y="1264479"/>
                </a:lnTo>
                <a:lnTo>
                  <a:pt x="2423747" y="1288827"/>
                </a:lnTo>
                <a:lnTo>
                  <a:pt x="2316419" y="1308893"/>
                </a:lnTo>
                <a:lnTo>
                  <a:pt x="2240197" y="1333320"/>
                </a:lnTo>
                <a:lnTo>
                  <a:pt x="2199095" y="1370480"/>
                </a:lnTo>
                <a:lnTo>
                  <a:pt x="2189000" y="1426205"/>
                </a:lnTo>
                <a:lnTo>
                  <a:pt x="2199060" y="1502004"/>
                </a:lnTo>
                <a:lnTo>
                  <a:pt x="2214465" y="1594223"/>
                </a:lnTo>
                <a:lnTo>
                  <a:pt x="2219944" y="1694394"/>
                </a:lnTo>
                <a:lnTo>
                  <a:pt x="2203159" y="1790754"/>
                </a:lnTo>
                <a:lnTo>
                  <a:pt x="2157248" y="1870622"/>
                </a:lnTo>
                <a:lnTo>
                  <a:pt x="2081942" y="1923124"/>
                </a:lnTo>
                <a:lnTo>
                  <a:pt x="1983100" y="1941646"/>
                </a:lnTo>
                <a:lnTo>
                  <a:pt x="1870807" y="1925451"/>
                </a:lnTo>
                <a:lnTo>
                  <a:pt x="1756578" y="1880076"/>
                </a:lnTo>
                <a:lnTo>
                  <a:pt x="1650376" y="1816373"/>
                </a:lnTo>
                <a:lnTo>
                  <a:pt x="1558188" y="1748383"/>
                </a:lnTo>
                <a:lnTo>
                  <a:pt x="1480744" y="1690491"/>
                </a:lnTo>
                <a:lnTo>
                  <a:pt x="1413685" y="1654467"/>
                </a:lnTo>
                <a:lnTo>
                  <a:pt x="1349097" y="1647035"/>
                </a:lnTo>
                <a:lnTo>
                  <a:pt x="1278010" y="1668508"/>
                </a:lnTo>
                <a:lnTo>
                  <a:pt x="1193211" y="1712774"/>
                </a:lnTo>
                <a:lnTo>
                  <a:pt x="1091626" y="1768633"/>
                </a:lnTo>
                <a:lnTo>
                  <a:pt x="975654" y="1822186"/>
                </a:lnTo>
                <a:lnTo>
                  <a:pt x="853067" y="1859744"/>
                </a:lnTo>
                <a:lnTo>
                  <a:pt x="735460" y="1870622"/>
                </a:lnTo>
                <a:lnTo>
                  <a:pt x="635588" y="1849215"/>
                </a:lnTo>
                <a:lnTo>
                  <a:pt x="564218" y="1795922"/>
                </a:lnTo>
                <a:lnTo>
                  <a:pt x="527263" y="1716758"/>
                </a:lnTo>
                <a:lnTo>
                  <a:pt x="523922" y="1621779"/>
                </a:lnTo>
                <a:lnTo>
                  <a:pt x="546315" y="1522716"/>
                </a:lnTo>
                <a:lnTo>
                  <a:pt x="580795" y="1430379"/>
                </a:lnTo>
                <a:lnTo>
                  <a:pt x="610680" y="1352421"/>
                </a:lnTo>
                <a:lnTo>
                  <a:pt x="619842" y="1291970"/>
                </a:lnTo>
                <a:lnTo>
                  <a:pt x="596355" y="1247378"/>
                </a:lnTo>
                <a:lnTo>
                  <a:pt x="535364" y="1213127"/>
                </a:lnTo>
                <a:lnTo>
                  <a:pt x="440505" y="1181593"/>
                </a:lnTo>
                <a:lnTo>
                  <a:pt x="323515" y="1145233"/>
                </a:lnTo>
                <a:lnTo>
                  <a:pt x="202065" y="1098615"/>
                </a:lnTo>
                <a:lnTo>
                  <a:pt x="96262" y="1039813"/>
                </a:lnTo>
                <a:lnTo>
                  <a:pt x="24567" y="970823"/>
                </a:lnTo>
                <a:lnTo>
                  <a:pt x="0" y="896914"/>
                </a:lnTo>
                <a:lnTo>
                  <a:pt x="27471" y="825100"/>
                </a:lnTo>
                <a:lnTo>
                  <a:pt x="102810" y="762131"/>
                </a:lnTo>
                <a:lnTo>
                  <a:pt x="213698" y="712526"/>
                </a:lnTo>
                <a:lnTo>
                  <a:pt x="342293" y="677167"/>
                </a:lnTo>
                <a:lnTo>
                  <a:pt x="468961" y="652819"/>
                </a:lnTo>
                <a:lnTo>
                  <a:pt x="576289" y="632753"/>
                </a:lnTo>
                <a:lnTo>
                  <a:pt x="652511" y="608326"/>
                </a:lnTo>
                <a:lnTo>
                  <a:pt x="693613" y="571166"/>
                </a:lnTo>
                <a:lnTo>
                  <a:pt x="703708" y="515441"/>
                </a:lnTo>
                <a:lnTo>
                  <a:pt x="693648" y="439642"/>
                </a:lnTo>
                <a:lnTo>
                  <a:pt x="678243" y="347423"/>
                </a:lnTo>
                <a:lnTo>
                  <a:pt x="672764" y="247252"/>
                </a:lnTo>
                <a:lnTo>
                  <a:pt x="689549" y="150892"/>
                </a:lnTo>
                <a:lnTo>
                  <a:pt x="735460" y="71024"/>
                </a:lnTo>
                <a:lnTo>
                  <a:pt x="810766" y="18522"/>
                </a:lnTo>
                <a:lnTo>
                  <a:pt x="909608" y="0"/>
                </a:lnTo>
                <a:lnTo>
                  <a:pt x="1021901" y="16195"/>
                </a:lnTo>
                <a:lnTo>
                  <a:pt x="1136130" y="61570"/>
                </a:lnTo>
                <a:lnTo>
                  <a:pt x="1242332" y="125273"/>
                </a:lnTo>
                <a:lnTo>
                  <a:pt x="1334520" y="193263"/>
                </a:lnTo>
                <a:lnTo>
                  <a:pt x="1411964" y="251155"/>
                </a:lnTo>
                <a:lnTo>
                  <a:pt x="1479023" y="287179"/>
                </a:lnTo>
                <a:lnTo>
                  <a:pt x="1543611" y="294611"/>
                </a:lnTo>
                <a:lnTo>
                  <a:pt x="1614698" y="273138"/>
                </a:lnTo>
                <a:lnTo>
                  <a:pt x="1699497" y="228872"/>
                </a:lnTo>
                <a:lnTo>
                  <a:pt x="1801082" y="173013"/>
                </a:lnTo>
                <a:lnTo>
                  <a:pt x="1917054" y="119460"/>
                </a:lnTo>
                <a:lnTo>
                  <a:pt x="2039641" y="81902"/>
                </a:lnTo>
                <a:lnTo>
                  <a:pt x="2157248" y="71024"/>
                </a:lnTo>
                <a:lnTo>
                  <a:pt x="2257120" y="92431"/>
                </a:lnTo>
                <a:lnTo>
                  <a:pt x="2328490" y="145724"/>
                </a:lnTo>
                <a:lnTo>
                  <a:pt x="2365445" y="224888"/>
                </a:lnTo>
                <a:lnTo>
                  <a:pt x="2368786" y="319867"/>
                </a:lnTo>
                <a:lnTo>
                  <a:pt x="2346393" y="418930"/>
                </a:lnTo>
                <a:lnTo>
                  <a:pt x="2311913" y="511267"/>
                </a:lnTo>
                <a:lnTo>
                  <a:pt x="2282028" y="589225"/>
                </a:lnTo>
                <a:lnTo>
                  <a:pt x="2272866" y="649676"/>
                </a:lnTo>
                <a:lnTo>
                  <a:pt x="2296353" y="694268"/>
                </a:lnTo>
                <a:lnTo>
                  <a:pt x="2357344" y="728519"/>
                </a:lnTo>
                <a:lnTo>
                  <a:pt x="2452203" y="760053"/>
                </a:lnTo>
                <a:lnTo>
                  <a:pt x="2569193" y="796413"/>
                </a:lnTo>
                <a:lnTo>
                  <a:pt x="2690643" y="843031"/>
                </a:lnTo>
                <a:lnTo>
                  <a:pt x="2796446" y="901833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1906" y="2778217"/>
            <a:ext cx="2984148" cy="2033085"/>
          </a:xfrm>
          <a:prstGeom prst="rect">
            <a:avLst/>
          </a:pr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6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≈ 0.55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불규칙 얼룩 — 사각형 안 빈 공간이 많음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룰 예: Rectangularity ≥ 0.85 이고 길쭉(Anisometry ≥ 3)하면 '띠(Line)성 불량' — 필름 조각·테이프 검출에 사용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Roundness 외곽 균일도 · Sides 변 수 — Burr(버) 검출의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중심→경계 거리들의 '흔들림(표준편차)'을 잰다 — Circularity와 달리 톱니 경계에 민감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648" y="1371600"/>
            <a:ext cx="100584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Roundness = 1 − σ/μ (중심→경계 거리의 평균 μ, 편차 σ)     Sides = 1.4111·(μ/σ)^0.4724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9132" y="2770632"/>
            <a:ext cx="2048256" cy="2048256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223260" y="3794760"/>
            <a:ext cx="1005840" cy="0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23260" y="3794760"/>
            <a:ext cx="711236" cy="711236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23260" y="3794760"/>
            <a:ext cx="0" cy="1005840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512024" y="3794760"/>
            <a:ext cx="711236" cy="711236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17420" y="3794760"/>
            <a:ext cx="1005840" cy="0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512024" y="3083524"/>
            <a:ext cx="711236" cy="711236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23260" y="2788920"/>
            <a:ext cx="0" cy="1005840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23260" y="3083524"/>
            <a:ext cx="711236" cy="711236"/>
          </a:xfrm>
          <a:prstGeom prst="line">
            <a:avLst/>
          </a:prstGeom>
          <a:ln w="9525">
            <a:solidFill>
              <a:srgbClr val="2E55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703320" y="2267712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Roundness ≈ 0.99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매끈한 원 — 중심→경계 거리가 모두 같음 (σ ≈ 0)</a:t>
            </a:r>
          </a:p>
        </p:txBody>
      </p:sp>
      <p:sp>
        <p:nvSpPr>
          <p:cNvPr id="22" name="Freeform 21"/>
          <p:cNvSpPr/>
          <p:nvPr/>
        </p:nvSpPr>
        <p:spPr>
          <a:xfrm>
            <a:off x="7847132" y="2657912"/>
            <a:ext cx="2273696" cy="2273696"/>
          </a:xfrm>
          <a:custGeom>
            <a:avLst/>
            <a:gdLst/>
            <a:ahLst/>
            <a:cxnLst/>
            <a:rect l="l" t="t" r="r" b="b"/>
            <a:pathLst>
              <a:path w="2273696" h="2273696">
                <a:moveTo>
                  <a:pt x="2142688" y="1136848"/>
                </a:moveTo>
                <a:lnTo>
                  <a:pt x="2212072" y="1183793"/>
                </a:lnTo>
                <a:lnTo>
                  <a:pt x="2260348" y="1235142"/>
                </a:lnTo>
                <a:lnTo>
                  <a:pt x="2273696" y="1286517"/>
                </a:lnTo>
                <a:lnTo>
                  <a:pt x="2247506" y="1332687"/>
                </a:lnTo>
                <a:lnTo>
                  <a:pt x="2187585" y="1369791"/>
                </a:lnTo>
                <a:lnTo>
                  <a:pt x="2108415" y="1397179"/>
                </a:lnTo>
                <a:lnTo>
                  <a:pt x="2028985" y="1418138"/>
                </a:lnTo>
                <a:lnTo>
                  <a:pt x="1967431" y="1439156"/>
                </a:lnTo>
                <a:lnTo>
                  <a:pt x="1936024" y="1467878"/>
                </a:lnTo>
                <a:lnTo>
                  <a:pt x="1937923" y="1510395"/>
                </a:lnTo>
                <a:lnTo>
                  <a:pt x="1966586" y="1568782"/>
                </a:lnTo>
                <a:lnTo>
                  <a:pt x="2007931" y="1639768"/>
                </a:lnTo>
                <a:lnTo>
                  <a:pt x="2044547" y="1715116"/>
                </a:lnTo>
                <a:lnTo>
                  <a:pt x="2060681" y="1783723"/>
                </a:lnTo>
                <a:lnTo>
                  <a:pt x="2046553" y="1834889"/>
                </a:lnTo>
                <a:lnTo>
                  <a:pt x="2000787" y="1861778"/>
                </a:lnTo>
                <a:lnTo>
                  <a:pt x="1930342" y="1863951"/>
                </a:lnTo>
                <a:lnTo>
                  <a:pt x="1848084" y="1848084"/>
                </a:lnTo>
                <a:lnTo>
                  <a:pt x="1768816" y="1826520"/>
                </a:lnTo>
                <a:lnTo>
                  <a:pt x="1705000" y="1813946"/>
                </a:lnTo>
                <a:lnTo>
                  <a:pt x="1663440" y="1823116"/>
                </a:lnTo>
                <a:lnTo>
                  <a:pt x="1643826" y="1860887"/>
                </a:lnTo>
                <a:lnTo>
                  <a:pt x="1639455" y="1925783"/>
                </a:lnTo>
                <a:lnTo>
                  <a:pt x="1639768" y="2007931"/>
                </a:lnTo>
                <a:lnTo>
                  <a:pt x="1633804" y="2091492"/>
                </a:lnTo>
                <a:lnTo>
                  <a:pt x="1613473" y="2158974"/>
                </a:lnTo>
                <a:lnTo>
                  <a:pt x="1575655" y="2196221"/>
                </a:lnTo>
                <a:lnTo>
                  <a:pt x="1522575" y="2196625"/>
                </a:lnTo>
                <a:lnTo>
                  <a:pt x="1460482" y="2163285"/>
                </a:lnTo>
                <a:lnTo>
                  <a:pt x="1397179" y="2108415"/>
                </a:lnTo>
                <a:lnTo>
                  <a:pt x="1339312" y="2050106"/>
                </a:lnTo>
                <a:lnTo>
                  <a:pt x="1290334" y="2007308"/>
                </a:lnTo>
                <a:lnTo>
                  <a:pt x="1249756" y="1994470"/>
                </a:lnTo>
                <a:lnTo>
                  <a:pt x="1213884" y="2017373"/>
                </a:lnTo>
                <a:lnTo>
                  <a:pt x="1177651" y="2071389"/>
                </a:lnTo>
                <a:lnTo>
                  <a:pt x="1136848" y="2142688"/>
                </a:lnTo>
                <a:lnTo>
                  <a:pt x="1089903" y="2212072"/>
                </a:lnTo>
                <a:lnTo>
                  <a:pt x="1038554" y="2260348"/>
                </a:lnTo>
                <a:lnTo>
                  <a:pt x="987179" y="2273696"/>
                </a:lnTo>
                <a:lnTo>
                  <a:pt x="941009" y="2247506"/>
                </a:lnTo>
                <a:lnTo>
                  <a:pt x="903905" y="2187585"/>
                </a:lnTo>
                <a:lnTo>
                  <a:pt x="876517" y="2108415"/>
                </a:lnTo>
                <a:lnTo>
                  <a:pt x="855558" y="2028985"/>
                </a:lnTo>
                <a:lnTo>
                  <a:pt x="834540" y="1967431"/>
                </a:lnTo>
                <a:lnTo>
                  <a:pt x="805818" y="1936024"/>
                </a:lnTo>
                <a:lnTo>
                  <a:pt x="763301" y="1937923"/>
                </a:lnTo>
                <a:lnTo>
                  <a:pt x="704914" y="1966586"/>
                </a:lnTo>
                <a:lnTo>
                  <a:pt x="633928" y="2007931"/>
                </a:lnTo>
                <a:lnTo>
                  <a:pt x="558580" y="2044547"/>
                </a:lnTo>
                <a:lnTo>
                  <a:pt x="489973" y="2060681"/>
                </a:lnTo>
                <a:lnTo>
                  <a:pt x="438807" y="2046553"/>
                </a:lnTo>
                <a:lnTo>
                  <a:pt x="411918" y="2000787"/>
                </a:lnTo>
                <a:lnTo>
                  <a:pt x="409745" y="1930342"/>
                </a:lnTo>
                <a:lnTo>
                  <a:pt x="425612" y="1848084"/>
                </a:lnTo>
                <a:lnTo>
                  <a:pt x="447176" y="1768816"/>
                </a:lnTo>
                <a:lnTo>
                  <a:pt x="459750" y="1705000"/>
                </a:lnTo>
                <a:lnTo>
                  <a:pt x="450580" y="1663440"/>
                </a:lnTo>
                <a:lnTo>
                  <a:pt x="412809" y="1643826"/>
                </a:lnTo>
                <a:lnTo>
                  <a:pt x="347913" y="1639455"/>
                </a:lnTo>
                <a:lnTo>
                  <a:pt x="265765" y="1639768"/>
                </a:lnTo>
                <a:lnTo>
                  <a:pt x="182204" y="1633804"/>
                </a:lnTo>
                <a:lnTo>
                  <a:pt x="114722" y="1613473"/>
                </a:lnTo>
                <a:lnTo>
                  <a:pt x="77475" y="1575655"/>
                </a:lnTo>
                <a:lnTo>
                  <a:pt x="77071" y="1522575"/>
                </a:lnTo>
                <a:lnTo>
                  <a:pt x="110411" y="1460482"/>
                </a:lnTo>
                <a:lnTo>
                  <a:pt x="165281" y="1397179"/>
                </a:lnTo>
                <a:lnTo>
                  <a:pt x="223590" y="1339312"/>
                </a:lnTo>
                <a:lnTo>
                  <a:pt x="266388" y="1290334"/>
                </a:lnTo>
                <a:lnTo>
                  <a:pt x="279226" y="1249756"/>
                </a:lnTo>
                <a:lnTo>
                  <a:pt x="256323" y="1213884"/>
                </a:lnTo>
                <a:lnTo>
                  <a:pt x="202307" y="1177651"/>
                </a:lnTo>
                <a:lnTo>
                  <a:pt x="131008" y="1136848"/>
                </a:lnTo>
                <a:lnTo>
                  <a:pt x="61624" y="1089903"/>
                </a:lnTo>
                <a:lnTo>
                  <a:pt x="13348" y="1038554"/>
                </a:lnTo>
                <a:lnTo>
                  <a:pt x="0" y="987179"/>
                </a:lnTo>
                <a:lnTo>
                  <a:pt x="26190" y="941009"/>
                </a:lnTo>
                <a:lnTo>
                  <a:pt x="86111" y="903905"/>
                </a:lnTo>
                <a:lnTo>
                  <a:pt x="165281" y="876517"/>
                </a:lnTo>
                <a:lnTo>
                  <a:pt x="244711" y="855558"/>
                </a:lnTo>
                <a:lnTo>
                  <a:pt x="306265" y="834540"/>
                </a:lnTo>
                <a:lnTo>
                  <a:pt x="337672" y="805818"/>
                </a:lnTo>
                <a:lnTo>
                  <a:pt x="335773" y="763301"/>
                </a:lnTo>
                <a:lnTo>
                  <a:pt x="307110" y="704914"/>
                </a:lnTo>
                <a:lnTo>
                  <a:pt x="265765" y="633928"/>
                </a:lnTo>
                <a:lnTo>
                  <a:pt x="229149" y="558580"/>
                </a:lnTo>
                <a:lnTo>
                  <a:pt x="213015" y="489973"/>
                </a:lnTo>
                <a:lnTo>
                  <a:pt x="227143" y="438807"/>
                </a:lnTo>
                <a:lnTo>
                  <a:pt x="272909" y="411918"/>
                </a:lnTo>
                <a:lnTo>
                  <a:pt x="343354" y="409745"/>
                </a:lnTo>
                <a:lnTo>
                  <a:pt x="425612" y="425612"/>
                </a:lnTo>
                <a:lnTo>
                  <a:pt x="504880" y="447176"/>
                </a:lnTo>
                <a:lnTo>
                  <a:pt x="568696" y="459750"/>
                </a:lnTo>
                <a:lnTo>
                  <a:pt x="610256" y="450580"/>
                </a:lnTo>
                <a:lnTo>
                  <a:pt x="629870" y="412809"/>
                </a:lnTo>
                <a:lnTo>
                  <a:pt x="634241" y="347913"/>
                </a:lnTo>
                <a:lnTo>
                  <a:pt x="633928" y="265765"/>
                </a:lnTo>
                <a:lnTo>
                  <a:pt x="639892" y="182204"/>
                </a:lnTo>
                <a:lnTo>
                  <a:pt x="660223" y="114722"/>
                </a:lnTo>
                <a:lnTo>
                  <a:pt x="698041" y="77475"/>
                </a:lnTo>
                <a:lnTo>
                  <a:pt x="751121" y="77071"/>
                </a:lnTo>
                <a:lnTo>
                  <a:pt x="813214" y="110411"/>
                </a:lnTo>
                <a:lnTo>
                  <a:pt x="876517" y="165281"/>
                </a:lnTo>
                <a:lnTo>
                  <a:pt x="934384" y="223590"/>
                </a:lnTo>
                <a:lnTo>
                  <a:pt x="983362" y="266388"/>
                </a:lnTo>
                <a:lnTo>
                  <a:pt x="1023940" y="279226"/>
                </a:lnTo>
                <a:lnTo>
                  <a:pt x="1059812" y="256323"/>
                </a:lnTo>
                <a:lnTo>
                  <a:pt x="1096045" y="202307"/>
                </a:lnTo>
                <a:lnTo>
                  <a:pt x="1136848" y="131008"/>
                </a:lnTo>
                <a:lnTo>
                  <a:pt x="1183793" y="61624"/>
                </a:lnTo>
                <a:lnTo>
                  <a:pt x="1235142" y="13348"/>
                </a:lnTo>
                <a:lnTo>
                  <a:pt x="1286517" y="0"/>
                </a:lnTo>
                <a:lnTo>
                  <a:pt x="1332687" y="26190"/>
                </a:lnTo>
                <a:lnTo>
                  <a:pt x="1369791" y="86111"/>
                </a:lnTo>
                <a:lnTo>
                  <a:pt x="1397179" y="165281"/>
                </a:lnTo>
                <a:lnTo>
                  <a:pt x="1418138" y="244711"/>
                </a:lnTo>
                <a:lnTo>
                  <a:pt x="1439156" y="306265"/>
                </a:lnTo>
                <a:lnTo>
                  <a:pt x="1467878" y="337672"/>
                </a:lnTo>
                <a:lnTo>
                  <a:pt x="1510395" y="335773"/>
                </a:lnTo>
                <a:lnTo>
                  <a:pt x="1568782" y="307110"/>
                </a:lnTo>
                <a:lnTo>
                  <a:pt x="1639768" y="265765"/>
                </a:lnTo>
                <a:lnTo>
                  <a:pt x="1715116" y="229149"/>
                </a:lnTo>
                <a:lnTo>
                  <a:pt x="1783723" y="213015"/>
                </a:lnTo>
                <a:lnTo>
                  <a:pt x="1834889" y="227143"/>
                </a:lnTo>
                <a:lnTo>
                  <a:pt x="1861778" y="272909"/>
                </a:lnTo>
                <a:lnTo>
                  <a:pt x="1863951" y="343354"/>
                </a:lnTo>
                <a:lnTo>
                  <a:pt x="1848084" y="425612"/>
                </a:lnTo>
                <a:lnTo>
                  <a:pt x="1826520" y="504880"/>
                </a:lnTo>
                <a:lnTo>
                  <a:pt x="1813946" y="568696"/>
                </a:lnTo>
                <a:lnTo>
                  <a:pt x="1823116" y="610256"/>
                </a:lnTo>
                <a:lnTo>
                  <a:pt x="1860887" y="629870"/>
                </a:lnTo>
                <a:lnTo>
                  <a:pt x="1925783" y="634241"/>
                </a:lnTo>
                <a:lnTo>
                  <a:pt x="2007931" y="633928"/>
                </a:lnTo>
                <a:lnTo>
                  <a:pt x="2091492" y="639892"/>
                </a:lnTo>
                <a:lnTo>
                  <a:pt x="2158974" y="660223"/>
                </a:lnTo>
                <a:lnTo>
                  <a:pt x="2196221" y="698041"/>
                </a:lnTo>
                <a:lnTo>
                  <a:pt x="2196625" y="751121"/>
                </a:lnTo>
                <a:lnTo>
                  <a:pt x="2163285" y="813214"/>
                </a:lnTo>
                <a:lnTo>
                  <a:pt x="2108415" y="876517"/>
                </a:lnTo>
                <a:lnTo>
                  <a:pt x="2050106" y="934384"/>
                </a:lnTo>
                <a:lnTo>
                  <a:pt x="2007308" y="983362"/>
                </a:lnTo>
                <a:lnTo>
                  <a:pt x="1994470" y="1023940"/>
                </a:lnTo>
                <a:lnTo>
                  <a:pt x="2017373" y="1059812"/>
                </a:lnTo>
                <a:lnTo>
                  <a:pt x="2071389" y="1096045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983980" y="3794760"/>
            <a:ext cx="1005840" cy="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83980" y="3794760"/>
            <a:ext cx="871083" cy="5029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83980" y="3794760"/>
            <a:ext cx="502920" cy="871083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83980" y="3794760"/>
            <a:ext cx="0" cy="100584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481060" y="3794760"/>
            <a:ext cx="502920" cy="871083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112897" y="3794760"/>
            <a:ext cx="871083" cy="5029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978140" y="3794760"/>
            <a:ext cx="1005840" cy="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8112897" y="3291840"/>
            <a:ext cx="871083" cy="5029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8481060" y="2923677"/>
            <a:ext cx="502920" cy="871083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83980" y="2788920"/>
            <a:ext cx="0" cy="100584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983980" y="2923677"/>
            <a:ext cx="502920" cy="871083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83980" y="3291840"/>
            <a:ext cx="871083" cy="5029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64040" y="2267712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Roundness ≈ 0.85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톱니 경계(Burr) — 거리가 들쭉날쭉 → σ 증가, Sides(변 수) 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슬리터 Burr 주력 — 룰 감: Roundness ≤ 0.9 이면 경계가 거친 불량.  Sides는 '몇 각형처럼 보이나' 추정치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Ra·Rb 장·단반경 · Phi 기울기 — Region을 '등가 타원'으로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Region과 같은 2차 모멘트를 갖는 타원 하나로 크기·길쭉함·방향을 한 번에 표현한다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8168" y="1371600"/>
            <a:ext cx="85953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2차 모멘트(μ20, μ02, μ11) → Ra 장반경, Rb 단반경, Phi 기울기(라디안)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709730" y="2829251"/>
            <a:ext cx="4444380" cy="2022458"/>
          </a:xfrm>
          <a:custGeom>
            <a:avLst/>
            <a:gdLst/>
            <a:ahLst/>
            <a:cxnLst/>
            <a:rect l="l" t="t" r="r" b="b"/>
            <a:pathLst>
              <a:path w="4444380" h="2022458">
                <a:moveTo>
                  <a:pt x="4392684" y="305993"/>
                </a:moveTo>
                <a:lnTo>
                  <a:pt x="4435643" y="347499"/>
                </a:lnTo>
                <a:lnTo>
                  <a:pt x="4444380" y="400284"/>
                </a:lnTo>
                <a:lnTo>
                  <a:pt x="4417286" y="462722"/>
                </a:lnTo>
                <a:lnTo>
                  <a:pt x="4357826" y="531864"/>
                </a:lnTo>
                <a:lnTo>
                  <a:pt x="4273809" y="604166"/>
                </a:lnTo>
                <a:lnTo>
                  <a:pt x="4175767" y="676307"/>
                </a:lnTo>
                <a:lnTo>
                  <a:pt x="4074792" y="745898"/>
                </a:lnTo>
                <a:lnTo>
                  <a:pt x="3980314" y="811919"/>
                </a:lnTo>
                <a:lnTo>
                  <a:pt x="3898296" y="874784"/>
                </a:lnTo>
                <a:lnTo>
                  <a:pt x="3830220" y="936030"/>
                </a:lnTo>
                <a:lnTo>
                  <a:pt x="3773080" y="997734"/>
                </a:lnTo>
                <a:lnTo>
                  <a:pt x="3720328" y="1061794"/>
                </a:lnTo>
                <a:lnTo>
                  <a:pt x="3663555" y="1129275"/>
                </a:lnTo>
                <a:lnTo>
                  <a:pt x="3594490" y="1199984"/>
                </a:lnTo>
                <a:lnTo>
                  <a:pt x="3506866" y="1272391"/>
                </a:lnTo>
                <a:lnTo>
                  <a:pt x="3397739" y="1343916"/>
                </a:lnTo>
                <a:lnTo>
                  <a:pt x="3267971" y="1411512"/>
                </a:lnTo>
                <a:lnTo>
                  <a:pt x="3121819" y="1472419"/>
                </a:lnTo>
                <a:lnTo>
                  <a:pt x="2965759" y="1524870"/>
                </a:lnTo>
                <a:lnTo>
                  <a:pt x="2806856" y="1568600"/>
                </a:lnTo>
                <a:lnTo>
                  <a:pt x="2651098" y="1604998"/>
                </a:lnTo>
                <a:lnTo>
                  <a:pt x="2502101" y="1636853"/>
                </a:lnTo>
                <a:lnTo>
                  <a:pt x="2360488" y="1667745"/>
                </a:lnTo>
                <a:lnTo>
                  <a:pt x="2224088" y="1701202"/>
                </a:lnTo>
                <a:lnTo>
                  <a:pt x="2088874" y="1739821"/>
                </a:lnTo>
                <a:lnTo>
                  <a:pt x="1950403" y="1784555"/>
                </a:lnTo>
                <a:lnTo>
                  <a:pt x="1805354" y="1834340"/>
                </a:lnTo>
                <a:lnTo>
                  <a:pt x="1652798" y="1886171"/>
                </a:lnTo>
                <a:lnTo>
                  <a:pt x="1494823" y="1935607"/>
                </a:lnTo>
                <a:lnTo>
                  <a:pt x="1336372" y="1977628"/>
                </a:lnTo>
                <a:lnTo>
                  <a:pt x="1184286" y="2007646"/>
                </a:lnTo>
                <a:lnTo>
                  <a:pt x="1045781" y="2022458"/>
                </a:lnTo>
                <a:lnTo>
                  <a:pt x="926723" y="2020926"/>
                </a:lnTo>
                <a:lnTo>
                  <a:pt x="830123" y="2004234"/>
                </a:lnTo>
                <a:lnTo>
                  <a:pt x="755237" y="1975663"/>
                </a:lnTo>
                <a:lnTo>
                  <a:pt x="697521" y="1939921"/>
                </a:lnTo>
                <a:lnTo>
                  <a:pt x="649499" y="1902184"/>
                </a:lnTo>
                <a:lnTo>
                  <a:pt x="602364" y="1867055"/>
                </a:lnTo>
                <a:lnTo>
                  <a:pt x="547982" y="1837647"/>
                </a:lnTo>
                <a:lnTo>
                  <a:pt x="480844" y="1815020"/>
                </a:lnTo>
                <a:lnTo>
                  <a:pt x="399513" y="1798049"/>
                </a:lnTo>
                <a:lnTo>
                  <a:pt x="307216" y="1783775"/>
                </a:lnTo>
                <a:lnTo>
                  <a:pt x="211433" y="1768125"/>
                </a:lnTo>
                <a:lnTo>
                  <a:pt x="122524" y="1746852"/>
                </a:lnTo>
                <a:lnTo>
                  <a:pt x="51696" y="1716465"/>
                </a:lnTo>
                <a:lnTo>
                  <a:pt x="8737" y="1674959"/>
                </a:lnTo>
                <a:lnTo>
                  <a:pt x="0" y="1622174"/>
                </a:lnTo>
                <a:lnTo>
                  <a:pt x="27094" y="1559736"/>
                </a:lnTo>
                <a:lnTo>
                  <a:pt x="86554" y="1490594"/>
                </a:lnTo>
                <a:lnTo>
                  <a:pt x="170571" y="1418292"/>
                </a:lnTo>
                <a:lnTo>
                  <a:pt x="268613" y="1346151"/>
                </a:lnTo>
                <a:lnTo>
                  <a:pt x="369588" y="1276560"/>
                </a:lnTo>
                <a:lnTo>
                  <a:pt x="464066" y="1210539"/>
                </a:lnTo>
                <a:lnTo>
                  <a:pt x="546084" y="1147674"/>
                </a:lnTo>
                <a:lnTo>
                  <a:pt x="614160" y="1086428"/>
                </a:lnTo>
                <a:lnTo>
                  <a:pt x="671300" y="1024724"/>
                </a:lnTo>
                <a:lnTo>
                  <a:pt x="724052" y="960664"/>
                </a:lnTo>
                <a:lnTo>
                  <a:pt x="780825" y="893183"/>
                </a:lnTo>
                <a:lnTo>
                  <a:pt x="849890" y="822474"/>
                </a:lnTo>
                <a:lnTo>
                  <a:pt x="937514" y="750067"/>
                </a:lnTo>
                <a:lnTo>
                  <a:pt x="1046641" y="678542"/>
                </a:lnTo>
                <a:lnTo>
                  <a:pt x="1176409" y="610946"/>
                </a:lnTo>
                <a:lnTo>
                  <a:pt x="1322561" y="550039"/>
                </a:lnTo>
                <a:lnTo>
                  <a:pt x="1478621" y="497588"/>
                </a:lnTo>
                <a:lnTo>
                  <a:pt x="1637524" y="453858"/>
                </a:lnTo>
                <a:lnTo>
                  <a:pt x="1793282" y="417460"/>
                </a:lnTo>
                <a:lnTo>
                  <a:pt x="1942279" y="385605"/>
                </a:lnTo>
                <a:lnTo>
                  <a:pt x="2083892" y="354713"/>
                </a:lnTo>
                <a:lnTo>
                  <a:pt x="2220292" y="321256"/>
                </a:lnTo>
                <a:lnTo>
                  <a:pt x="2355506" y="282637"/>
                </a:lnTo>
                <a:lnTo>
                  <a:pt x="2493977" y="237903"/>
                </a:lnTo>
                <a:lnTo>
                  <a:pt x="2639026" y="188118"/>
                </a:lnTo>
                <a:lnTo>
                  <a:pt x="2791582" y="136287"/>
                </a:lnTo>
                <a:lnTo>
                  <a:pt x="2949557" y="86851"/>
                </a:lnTo>
                <a:lnTo>
                  <a:pt x="3108008" y="44830"/>
                </a:lnTo>
                <a:lnTo>
                  <a:pt x="3260094" y="14812"/>
                </a:lnTo>
                <a:lnTo>
                  <a:pt x="3398599" y="0"/>
                </a:lnTo>
                <a:lnTo>
                  <a:pt x="3517657" y="1532"/>
                </a:lnTo>
                <a:lnTo>
                  <a:pt x="3614257" y="18224"/>
                </a:lnTo>
                <a:lnTo>
                  <a:pt x="3689143" y="46795"/>
                </a:lnTo>
                <a:lnTo>
                  <a:pt x="3746859" y="82537"/>
                </a:lnTo>
                <a:lnTo>
                  <a:pt x="3794881" y="120274"/>
                </a:lnTo>
                <a:lnTo>
                  <a:pt x="3842016" y="155403"/>
                </a:lnTo>
                <a:lnTo>
                  <a:pt x="3896398" y="184811"/>
                </a:lnTo>
                <a:lnTo>
                  <a:pt x="3963536" y="207438"/>
                </a:lnTo>
                <a:lnTo>
                  <a:pt x="4044867" y="224409"/>
                </a:lnTo>
                <a:lnTo>
                  <a:pt x="4137164" y="238683"/>
                </a:lnTo>
                <a:lnTo>
                  <a:pt x="4232947" y="254333"/>
                </a:lnTo>
                <a:lnTo>
                  <a:pt x="4321856" y="275606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90562" y="2859207"/>
            <a:ext cx="4282716" cy="1962546"/>
          </a:xfrm>
          <a:custGeom>
            <a:avLst/>
            <a:gdLst/>
            <a:ahLst/>
            <a:cxnLst/>
            <a:rect l="l" t="t" r="r" b="b"/>
            <a:pathLst>
              <a:path w="4282716" h="1962546">
                <a:moveTo>
                  <a:pt x="4271991" y="288988"/>
                </a:moveTo>
                <a:lnTo>
                  <a:pt x="4282569" y="339206"/>
                </a:lnTo>
                <a:lnTo>
                  <a:pt x="4282716" y="392551"/>
                </a:lnTo>
                <a:lnTo>
                  <a:pt x="4272430" y="448764"/>
                </a:lnTo>
                <a:lnTo>
                  <a:pt x="4251762" y="507572"/>
                </a:lnTo>
                <a:lnTo>
                  <a:pt x="4220812" y="568687"/>
                </a:lnTo>
                <a:lnTo>
                  <a:pt x="4179732" y="631813"/>
                </a:lnTo>
                <a:lnTo>
                  <a:pt x="4128720" y="696641"/>
                </a:lnTo>
                <a:lnTo>
                  <a:pt x="4068027" y="762856"/>
                </a:lnTo>
                <a:lnTo>
                  <a:pt x="3997946" y="830135"/>
                </a:lnTo>
                <a:lnTo>
                  <a:pt x="3918821" y="898150"/>
                </a:lnTo>
                <a:lnTo>
                  <a:pt x="3831036" y="966571"/>
                </a:lnTo>
                <a:lnTo>
                  <a:pt x="3735019" y="1035063"/>
                </a:lnTo>
                <a:lnTo>
                  <a:pt x="3631238" y="1103292"/>
                </a:lnTo>
                <a:lnTo>
                  <a:pt x="3520198" y="1170928"/>
                </a:lnTo>
                <a:lnTo>
                  <a:pt x="3402441" y="1237639"/>
                </a:lnTo>
                <a:lnTo>
                  <a:pt x="3278540" y="1303102"/>
                </a:lnTo>
                <a:lnTo>
                  <a:pt x="3149099" y="1366996"/>
                </a:lnTo>
                <a:lnTo>
                  <a:pt x="3014748" y="1429011"/>
                </a:lnTo>
                <a:lnTo>
                  <a:pt x="2876142" y="1488845"/>
                </a:lnTo>
                <a:lnTo>
                  <a:pt x="2733956" y="1546206"/>
                </a:lnTo>
                <a:lnTo>
                  <a:pt x="2588884" y="1600815"/>
                </a:lnTo>
                <a:lnTo>
                  <a:pt x="2441630" y="1652406"/>
                </a:lnTo>
                <a:lnTo>
                  <a:pt x="2292914" y="1700726"/>
                </a:lnTo>
                <a:lnTo>
                  <a:pt x="2143460" y="1745542"/>
                </a:lnTo>
                <a:lnTo>
                  <a:pt x="1993995" y="1786634"/>
                </a:lnTo>
                <a:lnTo>
                  <a:pt x="1845249" y="1823803"/>
                </a:lnTo>
                <a:lnTo>
                  <a:pt x="1697945" y="1856867"/>
                </a:lnTo>
                <a:lnTo>
                  <a:pt x="1552801" y="1885665"/>
                </a:lnTo>
                <a:lnTo>
                  <a:pt x="1410524" y="1910057"/>
                </a:lnTo>
                <a:lnTo>
                  <a:pt x="1271808" y="1929924"/>
                </a:lnTo>
                <a:lnTo>
                  <a:pt x="1137329" y="1945169"/>
                </a:lnTo>
                <a:lnTo>
                  <a:pt x="1007741" y="1955718"/>
                </a:lnTo>
                <a:lnTo>
                  <a:pt x="883676" y="1961520"/>
                </a:lnTo>
                <a:lnTo>
                  <a:pt x="765738" y="1962546"/>
                </a:lnTo>
                <a:lnTo>
                  <a:pt x="654502" y="1958792"/>
                </a:lnTo>
                <a:lnTo>
                  <a:pt x="550510" y="1950275"/>
                </a:lnTo>
                <a:lnTo>
                  <a:pt x="454268" y="1937037"/>
                </a:lnTo>
                <a:lnTo>
                  <a:pt x="366246" y="1919143"/>
                </a:lnTo>
                <a:lnTo>
                  <a:pt x="286872" y="1896680"/>
                </a:lnTo>
                <a:lnTo>
                  <a:pt x="216532" y="1869757"/>
                </a:lnTo>
                <a:lnTo>
                  <a:pt x="155571" y="1838505"/>
                </a:lnTo>
                <a:lnTo>
                  <a:pt x="104283" y="1803077"/>
                </a:lnTo>
                <a:lnTo>
                  <a:pt x="62921" y="1763645"/>
                </a:lnTo>
                <a:lnTo>
                  <a:pt x="31684" y="1720402"/>
                </a:lnTo>
                <a:lnTo>
                  <a:pt x="10725" y="1673558"/>
                </a:lnTo>
                <a:lnTo>
                  <a:pt x="147" y="1623340"/>
                </a:lnTo>
                <a:lnTo>
                  <a:pt x="0" y="1569995"/>
                </a:lnTo>
                <a:lnTo>
                  <a:pt x="10286" y="1513782"/>
                </a:lnTo>
                <a:lnTo>
                  <a:pt x="30954" y="1454974"/>
                </a:lnTo>
                <a:lnTo>
                  <a:pt x="61904" y="1393859"/>
                </a:lnTo>
                <a:lnTo>
                  <a:pt x="102984" y="1330733"/>
                </a:lnTo>
                <a:lnTo>
                  <a:pt x="153996" y="1265905"/>
                </a:lnTo>
                <a:lnTo>
                  <a:pt x="214689" y="1199690"/>
                </a:lnTo>
                <a:lnTo>
                  <a:pt x="284770" y="1132411"/>
                </a:lnTo>
                <a:lnTo>
                  <a:pt x="363895" y="1064396"/>
                </a:lnTo>
                <a:lnTo>
                  <a:pt x="451680" y="995975"/>
                </a:lnTo>
                <a:lnTo>
                  <a:pt x="547697" y="927483"/>
                </a:lnTo>
                <a:lnTo>
                  <a:pt x="651478" y="859254"/>
                </a:lnTo>
                <a:lnTo>
                  <a:pt x="762518" y="791618"/>
                </a:lnTo>
                <a:lnTo>
                  <a:pt x="880275" y="724907"/>
                </a:lnTo>
                <a:lnTo>
                  <a:pt x="1004176" y="659444"/>
                </a:lnTo>
                <a:lnTo>
                  <a:pt x="1133617" y="595550"/>
                </a:lnTo>
                <a:lnTo>
                  <a:pt x="1267968" y="533535"/>
                </a:lnTo>
                <a:lnTo>
                  <a:pt x="1406574" y="473701"/>
                </a:lnTo>
                <a:lnTo>
                  <a:pt x="1548760" y="416340"/>
                </a:lnTo>
                <a:lnTo>
                  <a:pt x="1693832" y="361731"/>
                </a:lnTo>
                <a:lnTo>
                  <a:pt x="1841086" y="310140"/>
                </a:lnTo>
                <a:lnTo>
                  <a:pt x="1989802" y="261820"/>
                </a:lnTo>
                <a:lnTo>
                  <a:pt x="2139256" y="217004"/>
                </a:lnTo>
                <a:lnTo>
                  <a:pt x="2288721" y="175912"/>
                </a:lnTo>
                <a:lnTo>
                  <a:pt x="2437467" y="138743"/>
                </a:lnTo>
                <a:lnTo>
                  <a:pt x="2584771" y="105679"/>
                </a:lnTo>
                <a:lnTo>
                  <a:pt x="2729915" y="76881"/>
                </a:lnTo>
                <a:lnTo>
                  <a:pt x="2872192" y="52489"/>
                </a:lnTo>
                <a:lnTo>
                  <a:pt x="3010908" y="32622"/>
                </a:lnTo>
                <a:lnTo>
                  <a:pt x="3145387" y="17377"/>
                </a:lnTo>
                <a:lnTo>
                  <a:pt x="3274975" y="6828"/>
                </a:lnTo>
                <a:lnTo>
                  <a:pt x="3399040" y="1026"/>
                </a:lnTo>
                <a:lnTo>
                  <a:pt x="3516978" y="0"/>
                </a:lnTo>
                <a:lnTo>
                  <a:pt x="3628214" y="3754"/>
                </a:lnTo>
                <a:lnTo>
                  <a:pt x="3732206" y="12271"/>
                </a:lnTo>
                <a:lnTo>
                  <a:pt x="3828448" y="25509"/>
                </a:lnTo>
                <a:lnTo>
                  <a:pt x="3916470" y="43403"/>
                </a:lnTo>
                <a:lnTo>
                  <a:pt x="3995844" y="65866"/>
                </a:lnTo>
                <a:lnTo>
                  <a:pt x="4066184" y="92789"/>
                </a:lnTo>
                <a:lnTo>
                  <a:pt x="4127145" y="124041"/>
                </a:lnTo>
                <a:lnTo>
                  <a:pt x="4178433" y="159469"/>
                </a:lnTo>
                <a:lnTo>
                  <a:pt x="4219795" y="198901"/>
                </a:lnTo>
                <a:lnTo>
                  <a:pt x="4251032" y="242144"/>
                </a:lnTo>
                <a:close/>
              </a:path>
            </a:pathLst>
          </a:cu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931920" y="3148195"/>
            <a:ext cx="2130633" cy="692285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31920" y="3840480"/>
            <a:ext cx="226052" cy="695717"/>
          </a:xfrm>
          <a:prstGeom prst="line">
            <a:avLst/>
          </a:prstGeom>
          <a:ln w="25400">
            <a:solidFill>
              <a:srgbClr val="5494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83480" y="3063240"/>
            <a:ext cx="137160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맑은 고딕"/>
                <a:ea typeface="맑은 고딕"/>
              </a:rPr>
              <a:t>Ra = 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572000"/>
            <a:ext cx="137160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549435"/>
                </a:solidFill>
                <a:latin typeface="맑은 고딕"/>
                <a:ea typeface="맑은 고딕"/>
              </a:rPr>
              <a:t>Rb = 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3840480"/>
            <a:ext cx="265176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5105942" y="3459017"/>
            <a:ext cx="60418" cy="381463"/>
          </a:xfrm>
          <a:custGeom>
            <a:avLst/>
            <a:gdLst/>
            <a:ahLst/>
            <a:cxnLst/>
            <a:rect l="l" t="t" r="r" b="b"/>
            <a:pathLst>
              <a:path w="60418" h="381463">
                <a:moveTo>
                  <a:pt x="0" y="0"/>
                </a:moveTo>
                <a:lnTo>
                  <a:pt x="4893" y="15400"/>
                </a:lnTo>
                <a:lnTo>
                  <a:pt x="9583" y="30863"/>
                </a:lnTo>
                <a:lnTo>
                  <a:pt x="14071" y="46386"/>
                </a:lnTo>
                <a:lnTo>
                  <a:pt x="18355" y="61966"/>
                </a:lnTo>
                <a:lnTo>
                  <a:pt x="22435" y="77602"/>
                </a:lnTo>
                <a:lnTo>
                  <a:pt x="26310" y="93289"/>
                </a:lnTo>
                <a:lnTo>
                  <a:pt x="29980" y="109025"/>
                </a:lnTo>
                <a:lnTo>
                  <a:pt x="33443" y="124808"/>
                </a:lnTo>
                <a:lnTo>
                  <a:pt x="36699" y="140636"/>
                </a:lnTo>
                <a:lnTo>
                  <a:pt x="39747" y="156504"/>
                </a:lnTo>
                <a:lnTo>
                  <a:pt x="42588" y="172411"/>
                </a:lnTo>
                <a:lnTo>
                  <a:pt x="45220" y="188354"/>
                </a:lnTo>
                <a:lnTo>
                  <a:pt x="47643" y="204330"/>
                </a:lnTo>
                <a:lnTo>
                  <a:pt x="49857" y="220336"/>
                </a:lnTo>
                <a:lnTo>
                  <a:pt x="51861" y="236370"/>
                </a:lnTo>
                <a:lnTo>
                  <a:pt x="53656" y="252429"/>
                </a:lnTo>
                <a:lnTo>
                  <a:pt x="55239" y="268510"/>
                </a:lnTo>
                <a:lnTo>
                  <a:pt x="56613" y="284610"/>
                </a:lnTo>
                <a:lnTo>
                  <a:pt x="57775" y="300727"/>
                </a:lnTo>
                <a:lnTo>
                  <a:pt x="58726" y="316857"/>
                </a:lnTo>
                <a:lnTo>
                  <a:pt x="59466" y="332999"/>
                </a:lnTo>
                <a:lnTo>
                  <a:pt x="59995" y="349149"/>
                </a:lnTo>
                <a:lnTo>
                  <a:pt x="60312" y="365305"/>
                </a:lnTo>
                <a:lnTo>
                  <a:pt x="60418" y="381463"/>
                </a:lnTo>
              </a:path>
            </a:pathLst>
          </a:custGeom>
          <a:noFill/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3493008"/>
            <a:ext cx="146304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Phi = 18°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3317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Ra 장반경: 타원의 긴 쪽 절반 길이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Rb 단반경: 짧은 쪽 절반 길이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Phi: 장축이 가로(Col)축과 이루는 각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예) 세로 스크래치: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Ra=180, Rb=4, Phi≈90°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이 세 값이 Anisometry·Bulkiness·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Orientation의 뿌리가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복잡한 픽셀 덩어리를 타원 하나(Ra, Rb, Phi)로 압축 — '얼마나 길고 어느 방향인가'를 수치로 읽는 기반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Anisometry 길쭉함 (Ra/Rb) — 주름·크랙을 가르는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등가 타원의 장반경 ÷ 단반경 — 원형이면 1, 길쭉할수록 커진다 (하한 1, 상한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2568" y="1371600"/>
            <a:ext cx="67665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Anisometry = Ra / Rb      원형 ≈ 1, 주름·크랙은 5 이상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187787" y="2913020"/>
            <a:ext cx="2086060" cy="1859531"/>
          </a:xfrm>
          <a:custGeom>
            <a:avLst/>
            <a:gdLst/>
            <a:ahLst/>
            <a:cxnLst/>
            <a:rect l="l" t="t" r="r" b="b"/>
            <a:pathLst>
              <a:path w="2086060" h="1859531">
                <a:moveTo>
                  <a:pt x="2055301" y="881740"/>
                </a:moveTo>
                <a:lnTo>
                  <a:pt x="2075519" y="947856"/>
                </a:lnTo>
                <a:lnTo>
                  <a:pt x="2086060" y="1015968"/>
                </a:lnTo>
                <a:lnTo>
                  <a:pt x="2084629" y="1084472"/>
                </a:lnTo>
                <a:lnTo>
                  <a:pt x="2070008" y="1151420"/>
                </a:lnTo>
                <a:lnTo>
                  <a:pt x="2042230" y="1214858"/>
                </a:lnTo>
                <a:lnTo>
                  <a:pt x="2002558" y="1273171"/>
                </a:lnTo>
                <a:lnTo>
                  <a:pt x="1953280" y="1325382"/>
                </a:lnTo>
                <a:lnTo>
                  <a:pt x="1897341" y="1371336"/>
                </a:lnTo>
                <a:lnTo>
                  <a:pt x="1837898" y="1411736"/>
                </a:lnTo>
                <a:lnTo>
                  <a:pt x="1777842" y="1448033"/>
                </a:lnTo>
                <a:lnTo>
                  <a:pt x="1719399" y="1482158"/>
                </a:lnTo>
                <a:lnTo>
                  <a:pt x="1663844" y="1516173"/>
                </a:lnTo>
                <a:lnTo>
                  <a:pt x="1611396" y="1551874"/>
                </a:lnTo>
                <a:lnTo>
                  <a:pt x="1561289" y="1590425"/>
                </a:lnTo>
                <a:lnTo>
                  <a:pt x="1512010" y="1632091"/>
                </a:lnTo>
                <a:lnTo>
                  <a:pt x="1461657" y="1676110"/>
                </a:lnTo>
                <a:lnTo>
                  <a:pt x="1408350" y="1720743"/>
                </a:lnTo>
                <a:lnTo>
                  <a:pt x="1350617" y="1763480"/>
                </a:lnTo>
                <a:lnTo>
                  <a:pt x="1287697" y="1801391"/>
                </a:lnTo>
                <a:lnTo>
                  <a:pt x="1219698" y="1831552"/>
                </a:lnTo>
                <a:lnTo>
                  <a:pt x="1147590" y="1851484"/>
                </a:lnTo>
                <a:lnTo>
                  <a:pt x="1073033" y="1859531"/>
                </a:lnTo>
                <a:lnTo>
                  <a:pt x="998083" y="1855118"/>
                </a:lnTo>
                <a:lnTo>
                  <a:pt x="924819" y="1838837"/>
                </a:lnTo>
                <a:lnTo>
                  <a:pt x="854969" y="1812366"/>
                </a:lnTo>
                <a:lnTo>
                  <a:pt x="789609" y="1778202"/>
                </a:lnTo>
                <a:lnTo>
                  <a:pt x="728974" y="1739292"/>
                </a:lnTo>
                <a:lnTo>
                  <a:pt x="672444" y="1698584"/>
                </a:lnTo>
                <a:lnTo>
                  <a:pt x="618683" y="1658599"/>
                </a:lnTo>
                <a:lnTo>
                  <a:pt x="565930" y="1621078"/>
                </a:lnTo>
                <a:lnTo>
                  <a:pt x="512374" y="1586764"/>
                </a:lnTo>
                <a:lnTo>
                  <a:pt x="456559" y="1555355"/>
                </a:lnTo>
                <a:lnTo>
                  <a:pt x="397742" y="1525623"/>
                </a:lnTo>
                <a:lnTo>
                  <a:pt x="336131" y="1495692"/>
                </a:lnTo>
                <a:lnTo>
                  <a:pt x="272965" y="1463395"/>
                </a:lnTo>
                <a:lnTo>
                  <a:pt x="210415" y="1426685"/>
                </a:lnTo>
                <a:lnTo>
                  <a:pt x="151310" y="1384000"/>
                </a:lnTo>
                <a:lnTo>
                  <a:pt x="98744" y="1334529"/>
                </a:lnTo>
                <a:lnTo>
                  <a:pt x="55609" y="1278343"/>
                </a:lnTo>
                <a:lnTo>
                  <a:pt x="24151" y="1216368"/>
                </a:lnTo>
                <a:lnTo>
                  <a:pt x="5608" y="1150203"/>
                </a:lnTo>
                <a:lnTo>
                  <a:pt x="0" y="1081828"/>
                </a:lnTo>
                <a:lnTo>
                  <a:pt x="6109" y="1013256"/>
                </a:lnTo>
                <a:lnTo>
                  <a:pt x="21652" y="946188"/>
                </a:lnTo>
                <a:lnTo>
                  <a:pt x="43621" y="881740"/>
                </a:lnTo>
                <a:lnTo>
                  <a:pt x="68739" y="820285"/>
                </a:lnTo>
                <a:lnTo>
                  <a:pt x="93957" y="761448"/>
                </a:lnTo>
                <a:lnTo>
                  <a:pt x="116909" y="704243"/>
                </a:lnTo>
                <a:lnTo>
                  <a:pt x="136257" y="647334"/>
                </a:lnTo>
                <a:lnTo>
                  <a:pt x="151869" y="589371"/>
                </a:lnTo>
                <a:lnTo>
                  <a:pt x="164797" y="529331"/>
                </a:lnTo>
                <a:lnTo>
                  <a:pt x="177072" y="466813"/>
                </a:lnTo>
                <a:lnTo>
                  <a:pt x="191340" y="402219"/>
                </a:lnTo>
                <a:lnTo>
                  <a:pt x="210415" y="336795"/>
                </a:lnTo>
                <a:lnTo>
                  <a:pt x="236806" y="272503"/>
                </a:lnTo>
                <a:lnTo>
                  <a:pt x="272317" y="211766"/>
                </a:lnTo>
                <a:lnTo>
                  <a:pt x="317767" y="157110"/>
                </a:lnTo>
                <a:lnTo>
                  <a:pt x="372882" y="110760"/>
                </a:lnTo>
                <a:lnTo>
                  <a:pt x="436372" y="74282"/>
                </a:lnTo>
                <a:lnTo>
                  <a:pt x="506170" y="48304"/>
                </a:lnTo>
                <a:lnTo>
                  <a:pt x="579795" y="32396"/>
                </a:lnTo>
                <a:lnTo>
                  <a:pt x="654762" y="25109"/>
                </a:lnTo>
                <a:lnTo>
                  <a:pt x="728974" y="24188"/>
                </a:lnTo>
                <a:lnTo>
                  <a:pt x="801028" y="26914"/>
                </a:lnTo>
                <a:lnTo>
                  <a:pt x="870374" y="30536"/>
                </a:lnTo>
                <a:lnTo>
                  <a:pt x="937312" y="32703"/>
                </a:lnTo>
                <a:lnTo>
                  <a:pt x="1002826" y="31845"/>
                </a:lnTo>
                <a:lnTo>
                  <a:pt x="1068289" y="27432"/>
                </a:lnTo>
                <a:lnTo>
                  <a:pt x="1135096" y="20056"/>
                </a:lnTo>
                <a:lnTo>
                  <a:pt x="1204294" y="11349"/>
                </a:lnTo>
                <a:lnTo>
                  <a:pt x="1276278" y="3725"/>
                </a:lnTo>
                <a:lnTo>
                  <a:pt x="1350617" y="0"/>
                </a:lnTo>
                <a:lnTo>
                  <a:pt x="1426032" y="2950"/>
                </a:lnTo>
                <a:lnTo>
                  <a:pt x="1500546" y="14885"/>
                </a:lnTo>
                <a:lnTo>
                  <a:pt x="1571770" y="37291"/>
                </a:lnTo>
                <a:lnTo>
                  <a:pt x="1637291" y="70620"/>
                </a:lnTo>
                <a:lnTo>
                  <a:pt x="1695073" y="114240"/>
                </a:lnTo>
                <a:lnTo>
                  <a:pt x="1743819" y="166560"/>
                </a:lnTo>
                <a:lnTo>
                  <a:pt x="1783213" y="225300"/>
                </a:lnTo>
                <a:lnTo>
                  <a:pt x="1814001" y="287865"/>
                </a:lnTo>
                <a:lnTo>
                  <a:pt x="1837898" y="351744"/>
                </a:lnTo>
                <a:lnTo>
                  <a:pt x="1857312" y="414884"/>
                </a:lnTo>
                <a:lnTo>
                  <a:pt x="1874952" y="475959"/>
                </a:lnTo>
                <a:lnTo>
                  <a:pt x="1893370" y="534503"/>
                </a:lnTo>
                <a:lnTo>
                  <a:pt x="1914512" y="590882"/>
                </a:lnTo>
                <a:lnTo>
                  <a:pt x="1939359" y="646117"/>
                </a:lnTo>
                <a:lnTo>
                  <a:pt x="1967720" y="701599"/>
                </a:lnTo>
                <a:lnTo>
                  <a:pt x="1998211" y="758736"/>
                </a:lnTo>
                <a:lnTo>
                  <a:pt x="2028432" y="818618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71700" y="2844363"/>
            <a:ext cx="2103120" cy="1900794"/>
          </a:xfrm>
          <a:custGeom>
            <a:avLst/>
            <a:gdLst/>
            <a:ahLst/>
            <a:cxnLst/>
            <a:rect l="l" t="t" r="r" b="b"/>
            <a:pathLst>
              <a:path w="2103120" h="1900794">
                <a:moveTo>
                  <a:pt x="2103120" y="950397"/>
                </a:moveTo>
                <a:lnTo>
                  <a:pt x="2100558" y="1016734"/>
                </a:lnTo>
                <a:lnTo>
                  <a:pt x="2092886" y="1082747"/>
                </a:lnTo>
                <a:lnTo>
                  <a:pt x="2080141" y="1148116"/>
                </a:lnTo>
                <a:lnTo>
                  <a:pt x="2062384" y="1212522"/>
                </a:lnTo>
                <a:lnTo>
                  <a:pt x="2039703" y="1275650"/>
                </a:lnTo>
                <a:lnTo>
                  <a:pt x="2012208" y="1337194"/>
                </a:lnTo>
                <a:lnTo>
                  <a:pt x="1980032" y="1396853"/>
                </a:lnTo>
                <a:lnTo>
                  <a:pt x="1943333" y="1454338"/>
                </a:lnTo>
                <a:lnTo>
                  <a:pt x="1902290" y="1509367"/>
                </a:lnTo>
                <a:lnTo>
                  <a:pt x="1857102" y="1561673"/>
                </a:lnTo>
                <a:lnTo>
                  <a:pt x="1807989" y="1611000"/>
                </a:lnTo>
                <a:lnTo>
                  <a:pt x="1755191" y="1657110"/>
                </a:lnTo>
                <a:lnTo>
                  <a:pt x="1698965" y="1699776"/>
                </a:lnTo>
                <a:lnTo>
                  <a:pt x="1639585" y="1738792"/>
                </a:lnTo>
                <a:lnTo>
                  <a:pt x="1577340" y="1773966"/>
                </a:lnTo>
                <a:lnTo>
                  <a:pt x="1512534" y="1805129"/>
                </a:lnTo>
                <a:lnTo>
                  <a:pt x="1445481" y="1832127"/>
                </a:lnTo>
                <a:lnTo>
                  <a:pt x="1376510" y="1854829"/>
                </a:lnTo>
                <a:lnTo>
                  <a:pt x="1305955" y="1873125"/>
                </a:lnTo>
                <a:lnTo>
                  <a:pt x="1234161" y="1886926"/>
                </a:lnTo>
                <a:lnTo>
                  <a:pt x="1161478" y="1896163"/>
                </a:lnTo>
                <a:lnTo>
                  <a:pt x="1088259" y="1900794"/>
                </a:lnTo>
                <a:lnTo>
                  <a:pt x="1014861" y="1900794"/>
                </a:lnTo>
                <a:lnTo>
                  <a:pt x="941642" y="1896163"/>
                </a:lnTo>
                <a:lnTo>
                  <a:pt x="868959" y="1886926"/>
                </a:lnTo>
                <a:lnTo>
                  <a:pt x="797165" y="1873125"/>
                </a:lnTo>
                <a:lnTo>
                  <a:pt x="726610" y="1854829"/>
                </a:lnTo>
                <a:lnTo>
                  <a:pt x="657639" y="1832127"/>
                </a:lnTo>
                <a:lnTo>
                  <a:pt x="590586" y="1805129"/>
                </a:lnTo>
                <a:lnTo>
                  <a:pt x="525780" y="1773966"/>
                </a:lnTo>
                <a:lnTo>
                  <a:pt x="463535" y="1738792"/>
                </a:lnTo>
                <a:lnTo>
                  <a:pt x="404155" y="1699776"/>
                </a:lnTo>
                <a:lnTo>
                  <a:pt x="347929" y="1657110"/>
                </a:lnTo>
                <a:lnTo>
                  <a:pt x="295131" y="1611000"/>
                </a:lnTo>
                <a:lnTo>
                  <a:pt x="246018" y="1561673"/>
                </a:lnTo>
                <a:lnTo>
                  <a:pt x="200830" y="1509367"/>
                </a:lnTo>
                <a:lnTo>
                  <a:pt x="159787" y="1454338"/>
                </a:lnTo>
                <a:lnTo>
                  <a:pt x="123088" y="1396853"/>
                </a:lnTo>
                <a:lnTo>
                  <a:pt x="90912" y="1337194"/>
                </a:lnTo>
                <a:lnTo>
                  <a:pt x="63417" y="1275650"/>
                </a:lnTo>
                <a:lnTo>
                  <a:pt x="40736" y="1212522"/>
                </a:lnTo>
                <a:lnTo>
                  <a:pt x="22979" y="1148116"/>
                </a:lnTo>
                <a:lnTo>
                  <a:pt x="10234" y="1082747"/>
                </a:lnTo>
                <a:lnTo>
                  <a:pt x="2562" y="1016734"/>
                </a:lnTo>
                <a:lnTo>
                  <a:pt x="0" y="950397"/>
                </a:lnTo>
                <a:lnTo>
                  <a:pt x="2562" y="884060"/>
                </a:lnTo>
                <a:lnTo>
                  <a:pt x="10234" y="818047"/>
                </a:lnTo>
                <a:lnTo>
                  <a:pt x="22979" y="752678"/>
                </a:lnTo>
                <a:lnTo>
                  <a:pt x="40736" y="688272"/>
                </a:lnTo>
                <a:lnTo>
                  <a:pt x="63417" y="625144"/>
                </a:lnTo>
                <a:lnTo>
                  <a:pt x="90912" y="563600"/>
                </a:lnTo>
                <a:lnTo>
                  <a:pt x="123088" y="503941"/>
                </a:lnTo>
                <a:lnTo>
                  <a:pt x="159787" y="446456"/>
                </a:lnTo>
                <a:lnTo>
                  <a:pt x="200830" y="391427"/>
                </a:lnTo>
                <a:lnTo>
                  <a:pt x="246018" y="339121"/>
                </a:lnTo>
                <a:lnTo>
                  <a:pt x="295131" y="289794"/>
                </a:lnTo>
                <a:lnTo>
                  <a:pt x="347929" y="243684"/>
                </a:lnTo>
                <a:lnTo>
                  <a:pt x="404155" y="201018"/>
                </a:lnTo>
                <a:lnTo>
                  <a:pt x="463535" y="162002"/>
                </a:lnTo>
                <a:lnTo>
                  <a:pt x="525780" y="126828"/>
                </a:lnTo>
                <a:lnTo>
                  <a:pt x="590586" y="95665"/>
                </a:lnTo>
                <a:lnTo>
                  <a:pt x="657639" y="68667"/>
                </a:lnTo>
                <a:lnTo>
                  <a:pt x="726610" y="45965"/>
                </a:lnTo>
                <a:lnTo>
                  <a:pt x="797165" y="27669"/>
                </a:lnTo>
                <a:lnTo>
                  <a:pt x="868959" y="13868"/>
                </a:lnTo>
                <a:lnTo>
                  <a:pt x="941642" y="4631"/>
                </a:lnTo>
                <a:lnTo>
                  <a:pt x="1014861" y="0"/>
                </a:lnTo>
                <a:lnTo>
                  <a:pt x="1088259" y="0"/>
                </a:lnTo>
                <a:lnTo>
                  <a:pt x="1161478" y="4631"/>
                </a:lnTo>
                <a:lnTo>
                  <a:pt x="1234161" y="13868"/>
                </a:lnTo>
                <a:lnTo>
                  <a:pt x="1305955" y="27669"/>
                </a:lnTo>
                <a:lnTo>
                  <a:pt x="1376510" y="45965"/>
                </a:lnTo>
                <a:lnTo>
                  <a:pt x="1445481" y="68667"/>
                </a:lnTo>
                <a:lnTo>
                  <a:pt x="1512534" y="95665"/>
                </a:lnTo>
                <a:lnTo>
                  <a:pt x="1577340" y="126828"/>
                </a:lnTo>
                <a:lnTo>
                  <a:pt x="1639585" y="162002"/>
                </a:lnTo>
                <a:lnTo>
                  <a:pt x="1698965" y="201018"/>
                </a:lnTo>
                <a:lnTo>
                  <a:pt x="1755191" y="243684"/>
                </a:lnTo>
                <a:lnTo>
                  <a:pt x="1807989" y="289794"/>
                </a:lnTo>
                <a:lnTo>
                  <a:pt x="1857102" y="339121"/>
                </a:lnTo>
                <a:lnTo>
                  <a:pt x="1902290" y="391427"/>
                </a:lnTo>
                <a:lnTo>
                  <a:pt x="1943333" y="446456"/>
                </a:lnTo>
                <a:lnTo>
                  <a:pt x="1980032" y="503941"/>
                </a:lnTo>
                <a:lnTo>
                  <a:pt x="2012208" y="563600"/>
                </a:lnTo>
                <a:lnTo>
                  <a:pt x="2039703" y="625144"/>
                </a:lnTo>
                <a:lnTo>
                  <a:pt x="2062384" y="688272"/>
                </a:lnTo>
                <a:lnTo>
                  <a:pt x="2080141" y="752678"/>
                </a:lnTo>
                <a:lnTo>
                  <a:pt x="2092886" y="818047"/>
                </a:lnTo>
                <a:lnTo>
                  <a:pt x="2100558" y="884060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≈ 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둥근 불량(핀홀·흑점) — Ra ≈ Rb</a:t>
            </a:r>
          </a:p>
        </p:txBody>
      </p:sp>
      <p:sp>
        <p:nvSpPr>
          <p:cNvPr id="15" name="Freeform 14"/>
          <p:cNvSpPr/>
          <p:nvPr/>
        </p:nvSpPr>
        <p:spPr>
          <a:xfrm>
            <a:off x="6561015" y="3317346"/>
            <a:ext cx="4845930" cy="954828"/>
          </a:xfrm>
          <a:custGeom>
            <a:avLst/>
            <a:gdLst/>
            <a:ahLst/>
            <a:cxnLst/>
            <a:rect l="l" t="t" r="r" b="b"/>
            <a:pathLst>
              <a:path w="4845930" h="954828">
                <a:moveTo>
                  <a:pt x="4747802" y="150679"/>
                </a:moveTo>
                <a:lnTo>
                  <a:pt x="4832217" y="162625"/>
                </a:lnTo>
                <a:lnTo>
                  <a:pt x="4845930" y="184947"/>
                </a:lnTo>
                <a:lnTo>
                  <a:pt x="4781217" y="216627"/>
                </a:lnTo>
                <a:lnTo>
                  <a:pt x="4652431" y="254050"/>
                </a:lnTo>
                <a:lnTo>
                  <a:pt x="4490883" y="292550"/>
                </a:lnTo>
                <a:lnTo>
                  <a:pt x="4334078" y="328202"/>
                </a:lnTo>
                <a:lnTo>
                  <a:pt x="4213174" y="359139"/>
                </a:lnTo>
                <a:lnTo>
                  <a:pt x="4143028" y="385948"/>
                </a:lnTo>
                <a:lnTo>
                  <a:pt x="4118229" y="411028"/>
                </a:lnTo>
                <a:lnTo>
                  <a:pt x="4116231" y="437273"/>
                </a:lnTo>
                <a:lnTo>
                  <a:pt x="4106194" y="466631"/>
                </a:lnTo>
                <a:lnTo>
                  <a:pt x="4060129" y="499183"/>
                </a:lnTo>
                <a:lnTo>
                  <a:pt x="3962275" y="533107"/>
                </a:lnTo>
                <a:lnTo>
                  <a:pt x="3813478" y="565531"/>
                </a:lnTo>
                <a:lnTo>
                  <a:pt x="3629338" y="593905"/>
                </a:lnTo>
                <a:lnTo>
                  <a:pt x="3433227" y="617289"/>
                </a:lnTo>
                <a:lnTo>
                  <a:pt x="3247141" y="636971"/>
                </a:lnTo>
                <a:lnTo>
                  <a:pt x="3083992" y="656115"/>
                </a:lnTo>
                <a:lnTo>
                  <a:pt x="2944167" y="678532"/>
                </a:lnTo>
                <a:lnTo>
                  <a:pt x="2817396" y="707015"/>
                </a:lnTo>
                <a:lnTo>
                  <a:pt x="2688780" y="741941"/>
                </a:lnTo>
                <a:lnTo>
                  <a:pt x="2546273" y="780714"/>
                </a:lnTo>
                <a:lnTo>
                  <a:pt x="2386381" y="818365"/>
                </a:lnTo>
                <a:lnTo>
                  <a:pt x="2215726" y="849150"/>
                </a:lnTo>
                <a:lnTo>
                  <a:pt x="2047878" y="868606"/>
                </a:lnTo>
                <a:lnTo>
                  <a:pt x="1896881" y="875292"/>
                </a:lnTo>
                <a:lnTo>
                  <a:pt x="1770322" y="871543"/>
                </a:lnTo>
                <a:lnTo>
                  <a:pt x="1665012" y="862888"/>
                </a:lnTo>
                <a:lnTo>
                  <a:pt x="1567324" y="856274"/>
                </a:lnTo>
                <a:lnTo>
                  <a:pt x="1458345" y="857691"/>
                </a:lnTo>
                <a:lnTo>
                  <a:pt x="1321920" y="870041"/>
                </a:lnTo>
                <a:lnTo>
                  <a:pt x="1152417" y="892008"/>
                </a:lnTo>
                <a:lnTo>
                  <a:pt x="958900" y="918377"/>
                </a:lnTo>
                <a:lnTo>
                  <a:pt x="763721" y="941712"/>
                </a:lnTo>
                <a:lnTo>
                  <a:pt x="595635" y="954828"/>
                </a:lnTo>
                <a:lnTo>
                  <a:pt x="479723" y="953191"/>
                </a:lnTo>
                <a:lnTo>
                  <a:pt x="427823" y="936419"/>
                </a:lnTo>
                <a:lnTo>
                  <a:pt x="433157" y="908357"/>
                </a:lnTo>
                <a:lnTo>
                  <a:pt x="471442" y="875720"/>
                </a:lnTo>
                <a:lnTo>
                  <a:pt x="508455" y="845798"/>
                </a:lnTo>
                <a:lnTo>
                  <a:pt x="511596" y="824037"/>
                </a:lnTo>
                <a:lnTo>
                  <a:pt x="461399" y="812344"/>
                </a:lnTo>
                <a:lnTo>
                  <a:pt x="358863" y="808670"/>
                </a:lnTo>
                <a:lnTo>
                  <a:pt x="225832" y="807973"/>
                </a:lnTo>
                <a:lnTo>
                  <a:pt x="98128" y="804149"/>
                </a:lnTo>
                <a:lnTo>
                  <a:pt x="13713" y="792203"/>
                </a:lnTo>
                <a:lnTo>
                  <a:pt x="0" y="769881"/>
                </a:lnTo>
                <a:lnTo>
                  <a:pt x="64713" y="738201"/>
                </a:lnTo>
                <a:lnTo>
                  <a:pt x="193499" y="700778"/>
                </a:lnTo>
                <a:lnTo>
                  <a:pt x="355047" y="662278"/>
                </a:lnTo>
                <a:lnTo>
                  <a:pt x="511852" y="626626"/>
                </a:lnTo>
                <a:lnTo>
                  <a:pt x="632756" y="595689"/>
                </a:lnTo>
                <a:lnTo>
                  <a:pt x="702902" y="568880"/>
                </a:lnTo>
                <a:lnTo>
                  <a:pt x="727701" y="543800"/>
                </a:lnTo>
                <a:lnTo>
                  <a:pt x="729699" y="517555"/>
                </a:lnTo>
                <a:lnTo>
                  <a:pt x="739736" y="488197"/>
                </a:lnTo>
                <a:lnTo>
                  <a:pt x="785801" y="455645"/>
                </a:lnTo>
                <a:lnTo>
                  <a:pt x="883655" y="421721"/>
                </a:lnTo>
                <a:lnTo>
                  <a:pt x="1032452" y="389297"/>
                </a:lnTo>
                <a:lnTo>
                  <a:pt x="1216592" y="360923"/>
                </a:lnTo>
                <a:lnTo>
                  <a:pt x="1412703" y="337539"/>
                </a:lnTo>
                <a:lnTo>
                  <a:pt x="1598789" y="317857"/>
                </a:lnTo>
                <a:lnTo>
                  <a:pt x="1761938" y="298713"/>
                </a:lnTo>
                <a:lnTo>
                  <a:pt x="1901763" y="276296"/>
                </a:lnTo>
                <a:lnTo>
                  <a:pt x="2028534" y="247813"/>
                </a:lnTo>
                <a:lnTo>
                  <a:pt x="2157150" y="212887"/>
                </a:lnTo>
                <a:lnTo>
                  <a:pt x="2299657" y="174114"/>
                </a:lnTo>
                <a:lnTo>
                  <a:pt x="2459549" y="136463"/>
                </a:lnTo>
                <a:lnTo>
                  <a:pt x="2630204" y="105678"/>
                </a:lnTo>
                <a:lnTo>
                  <a:pt x="2798052" y="86222"/>
                </a:lnTo>
                <a:lnTo>
                  <a:pt x="2949049" y="79536"/>
                </a:lnTo>
                <a:lnTo>
                  <a:pt x="3075608" y="83285"/>
                </a:lnTo>
                <a:lnTo>
                  <a:pt x="3180918" y="91940"/>
                </a:lnTo>
                <a:lnTo>
                  <a:pt x="3278606" y="98554"/>
                </a:lnTo>
                <a:lnTo>
                  <a:pt x="3387585" y="97137"/>
                </a:lnTo>
                <a:lnTo>
                  <a:pt x="3524010" y="84787"/>
                </a:lnTo>
                <a:lnTo>
                  <a:pt x="3693513" y="62820"/>
                </a:lnTo>
                <a:lnTo>
                  <a:pt x="3887030" y="36451"/>
                </a:lnTo>
                <a:lnTo>
                  <a:pt x="4082209" y="13116"/>
                </a:lnTo>
                <a:lnTo>
                  <a:pt x="4250295" y="0"/>
                </a:lnTo>
                <a:lnTo>
                  <a:pt x="4366207" y="1637"/>
                </a:lnTo>
                <a:lnTo>
                  <a:pt x="4418107" y="18409"/>
                </a:lnTo>
                <a:lnTo>
                  <a:pt x="4412773" y="46471"/>
                </a:lnTo>
                <a:lnTo>
                  <a:pt x="4374488" y="79108"/>
                </a:lnTo>
                <a:lnTo>
                  <a:pt x="4337475" y="109030"/>
                </a:lnTo>
                <a:lnTo>
                  <a:pt x="4334334" y="130791"/>
                </a:lnTo>
                <a:lnTo>
                  <a:pt x="4384531" y="142484"/>
                </a:lnTo>
                <a:lnTo>
                  <a:pt x="4487067" y="146158"/>
                </a:lnTo>
                <a:lnTo>
                  <a:pt x="4620098" y="146855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674952" y="3308451"/>
            <a:ext cx="4618056" cy="972618"/>
          </a:xfrm>
          <a:custGeom>
            <a:avLst/>
            <a:gdLst/>
            <a:ahLst/>
            <a:cxnLst/>
            <a:rect l="l" t="t" r="r" b="b"/>
            <a:pathLst>
              <a:path w="4618056" h="972618">
                <a:moveTo>
                  <a:pt x="4618056" y="161796"/>
                </a:moveTo>
                <a:lnTo>
                  <a:pt x="4615982" y="187853"/>
                </a:lnTo>
                <a:lnTo>
                  <a:pt x="4602669" y="215363"/>
                </a:lnTo>
                <a:lnTo>
                  <a:pt x="4578182" y="244193"/>
                </a:lnTo>
                <a:lnTo>
                  <a:pt x="4542639" y="274203"/>
                </a:lnTo>
                <a:lnTo>
                  <a:pt x="4496215" y="305247"/>
                </a:lnTo>
                <a:lnTo>
                  <a:pt x="4439134" y="337172"/>
                </a:lnTo>
                <a:lnTo>
                  <a:pt x="4371677" y="369824"/>
                </a:lnTo>
                <a:lnTo>
                  <a:pt x="4294170" y="403044"/>
                </a:lnTo>
                <a:lnTo>
                  <a:pt x="4206991" y="436669"/>
                </a:lnTo>
                <a:lnTo>
                  <a:pt x="4110566" y="470536"/>
                </a:lnTo>
                <a:lnTo>
                  <a:pt x="4005364" y="504480"/>
                </a:lnTo>
                <a:lnTo>
                  <a:pt x="3891898" y="538335"/>
                </a:lnTo>
                <a:lnTo>
                  <a:pt x="3770720" y="571937"/>
                </a:lnTo>
                <a:lnTo>
                  <a:pt x="3642421" y="605122"/>
                </a:lnTo>
                <a:lnTo>
                  <a:pt x="3507626" y="637727"/>
                </a:lnTo>
                <a:lnTo>
                  <a:pt x="3366991" y="669596"/>
                </a:lnTo>
                <a:lnTo>
                  <a:pt x="3221202" y="700571"/>
                </a:lnTo>
                <a:lnTo>
                  <a:pt x="3070969" y="730502"/>
                </a:lnTo>
                <a:lnTo>
                  <a:pt x="2917024" y="759244"/>
                </a:lnTo>
                <a:lnTo>
                  <a:pt x="2760117" y="786656"/>
                </a:lnTo>
                <a:lnTo>
                  <a:pt x="2601012" y="812604"/>
                </a:lnTo>
                <a:lnTo>
                  <a:pt x="2440485" y="836963"/>
                </a:lnTo>
                <a:lnTo>
                  <a:pt x="2279317" y="859614"/>
                </a:lnTo>
                <a:lnTo>
                  <a:pt x="2118294" y="880446"/>
                </a:lnTo>
                <a:lnTo>
                  <a:pt x="1958200" y="899358"/>
                </a:lnTo>
                <a:lnTo>
                  <a:pt x="1799815" y="916257"/>
                </a:lnTo>
                <a:lnTo>
                  <a:pt x="1643912" y="931062"/>
                </a:lnTo>
                <a:lnTo>
                  <a:pt x="1491248" y="943700"/>
                </a:lnTo>
                <a:lnTo>
                  <a:pt x="1342569" y="954110"/>
                </a:lnTo>
                <a:lnTo>
                  <a:pt x="1198598" y="962240"/>
                </a:lnTo>
                <a:lnTo>
                  <a:pt x="1060037" y="968052"/>
                </a:lnTo>
                <a:lnTo>
                  <a:pt x="927561" y="971517"/>
                </a:lnTo>
                <a:lnTo>
                  <a:pt x="801816" y="972618"/>
                </a:lnTo>
                <a:lnTo>
                  <a:pt x="683413" y="971349"/>
                </a:lnTo>
                <a:lnTo>
                  <a:pt x="572930" y="967718"/>
                </a:lnTo>
                <a:lnTo>
                  <a:pt x="470906" y="961741"/>
                </a:lnTo>
                <a:lnTo>
                  <a:pt x="377836" y="953448"/>
                </a:lnTo>
                <a:lnTo>
                  <a:pt x="294175" y="942880"/>
                </a:lnTo>
                <a:lnTo>
                  <a:pt x="220331" y="930086"/>
                </a:lnTo>
                <a:lnTo>
                  <a:pt x="156662" y="915131"/>
                </a:lnTo>
                <a:lnTo>
                  <a:pt x="103479" y="898087"/>
                </a:lnTo>
                <a:lnTo>
                  <a:pt x="61041" y="879036"/>
                </a:lnTo>
                <a:lnTo>
                  <a:pt x="29556" y="858072"/>
                </a:lnTo>
                <a:lnTo>
                  <a:pt x="9176" y="835297"/>
                </a:lnTo>
                <a:lnTo>
                  <a:pt x="0" y="810822"/>
                </a:lnTo>
                <a:lnTo>
                  <a:pt x="2074" y="784765"/>
                </a:lnTo>
                <a:lnTo>
                  <a:pt x="15387" y="757255"/>
                </a:lnTo>
                <a:lnTo>
                  <a:pt x="39874" y="728425"/>
                </a:lnTo>
                <a:lnTo>
                  <a:pt x="75417" y="698415"/>
                </a:lnTo>
                <a:lnTo>
                  <a:pt x="121841" y="667371"/>
                </a:lnTo>
                <a:lnTo>
                  <a:pt x="178922" y="635446"/>
                </a:lnTo>
                <a:lnTo>
                  <a:pt x="246379" y="602794"/>
                </a:lnTo>
                <a:lnTo>
                  <a:pt x="323886" y="569574"/>
                </a:lnTo>
                <a:lnTo>
                  <a:pt x="411065" y="535949"/>
                </a:lnTo>
                <a:lnTo>
                  <a:pt x="507490" y="502082"/>
                </a:lnTo>
                <a:lnTo>
                  <a:pt x="612692" y="468138"/>
                </a:lnTo>
                <a:lnTo>
                  <a:pt x="726158" y="434283"/>
                </a:lnTo>
                <a:lnTo>
                  <a:pt x="847336" y="400681"/>
                </a:lnTo>
                <a:lnTo>
                  <a:pt x="975635" y="367496"/>
                </a:lnTo>
                <a:lnTo>
                  <a:pt x="1110430" y="334891"/>
                </a:lnTo>
                <a:lnTo>
                  <a:pt x="1251065" y="303022"/>
                </a:lnTo>
                <a:lnTo>
                  <a:pt x="1396854" y="272047"/>
                </a:lnTo>
                <a:lnTo>
                  <a:pt x="1547087" y="242116"/>
                </a:lnTo>
                <a:lnTo>
                  <a:pt x="1701032" y="213374"/>
                </a:lnTo>
                <a:lnTo>
                  <a:pt x="1857939" y="185962"/>
                </a:lnTo>
                <a:lnTo>
                  <a:pt x="2017044" y="160014"/>
                </a:lnTo>
                <a:lnTo>
                  <a:pt x="2177571" y="135655"/>
                </a:lnTo>
                <a:lnTo>
                  <a:pt x="2338739" y="113004"/>
                </a:lnTo>
                <a:lnTo>
                  <a:pt x="2499762" y="92172"/>
                </a:lnTo>
                <a:lnTo>
                  <a:pt x="2659856" y="73260"/>
                </a:lnTo>
                <a:lnTo>
                  <a:pt x="2818241" y="56361"/>
                </a:lnTo>
                <a:lnTo>
                  <a:pt x="2974144" y="41556"/>
                </a:lnTo>
                <a:lnTo>
                  <a:pt x="3126808" y="28918"/>
                </a:lnTo>
                <a:lnTo>
                  <a:pt x="3275487" y="18508"/>
                </a:lnTo>
                <a:lnTo>
                  <a:pt x="3419458" y="10378"/>
                </a:lnTo>
                <a:lnTo>
                  <a:pt x="3558019" y="4566"/>
                </a:lnTo>
                <a:lnTo>
                  <a:pt x="3690495" y="1101"/>
                </a:lnTo>
                <a:lnTo>
                  <a:pt x="3816240" y="0"/>
                </a:lnTo>
                <a:lnTo>
                  <a:pt x="3934643" y="1269"/>
                </a:lnTo>
                <a:lnTo>
                  <a:pt x="4045126" y="4900"/>
                </a:lnTo>
                <a:lnTo>
                  <a:pt x="4147150" y="10877"/>
                </a:lnTo>
                <a:lnTo>
                  <a:pt x="4240220" y="19170"/>
                </a:lnTo>
                <a:lnTo>
                  <a:pt x="4323881" y="29738"/>
                </a:lnTo>
                <a:lnTo>
                  <a:pt x="4397725" y="42532"/>
                </a:lnTo>
                <a:lnTo>
                  <a:pt x="4461394" y="57487"/>
                </a:lnTo>
                <a:lnTo>
                  <a:pt x="4514577" y="74531"/>
                </a:lnTo>
                <a:lnTo>
                  <a:pt x="4557015" y="93582"/>
                </a:lnTo>
                <a:lnTo>
                  <a:pt x="4588500" y="114546"/>
                </a:lnTo>
                <a:lnTo>
                  <a:pt x="4608880" y="137321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60" y="226771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≈ 6.8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가늘고 긴 불량(주름·크랙·스크래치) — Ra ≫ Rb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실전 감각: 주름/크랙은 Anisometry ≥ 5 처럼 길쭉 — 롤프레스 주력.  Area가 같아도 이 값으로 점 vs 선을 가른다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Bulkiness 부피감 · StructureFactor 구조 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등가 타원 면적 대비 실제 면적 — 픽셀이 퍼져(흩어져) 있을수록 타원이 헐렁해져 커진다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9528" y="1371600"/>
            <a:ext cx="96926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Bulkiness = π·Ra·Rb / A      StructureFactor = Anisometry × Bulkiness − 1  (원 =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183558" y="2971165"/>
            <a:ext cx="2148411" cy="1687716"/>
          </a:xfrm>
          <a:custGeom>
            <a:avLst/>
            <a:gdLst/>
            <a:ahLst/>
            <a:cxnLst/>
            <a:rect l="l" t="t" r="r" b="b"/>
            <a:pathLst>
              <a:path w="2148411" h="1687716">
                <a:moveTo>
                  <a:pt x="2140685" y="823595"/>
                </a:moveTo>
                <a:lnTo>
                  <a:pt x="2148411" y="884269"/>
                </a:lnTo>
                <a:lnTo>
                  <a:pt x="2143485" y="944998"/>
                </a:lnTo>
                <a:lnTo>
                  <a:pt x="2125677" y="1004245"/>
                </a:lnTo>
                <a:lnTo>
                  <a:pt x="2095904" y="1060617"/>
                </a:lnTo>
                <a:lnTo>
                  <a:pt x="2056075" y="1113105"/>
                </a:lnTo>
                <a:lnTo>
                  <a:pt x="2008804" y="1161269"/>
                </a:lnTo>
                <a:lnTo>
                  <a:pt x="1957005" y="1205303"/>
                </a:lnTo>
                <a:lnTo>
                  <a:pt x="1903466" y="1246000"/>
                </a:lnTo>
                <a:lnTo>
                  <a:pt x="1850448" y="1284584"/>
                </a:lnTo>
                <a:lnTo>
                  <a:pt x="1799391" y="1322473"/>
                </a:lnTo>
                <a:lnTo>
                  <a:pt x="1750762" y="1360983"/>
                </a:lnTo>
                <a:lnTo>
                  <a:pt x="1704071" y="1401048"/>
                </a:lnTo>
                <a:lnTo>
                  <a:pt x="1658044" y="1442984"/>
                </a:lnTo>
                <a:lnTo>
                  <a:pt x="1610928" y="1486368"/>
                </a:lnTo>
                <a:lnTo>
                  <a:pt x="1560855" y="1530027"/>
                </a:lnTo>
                <a:lnTo>
                  <a:pt x="1506221" y="1572165"/>
                </a:lnTo>
                <a:lnTo>
                  <a:pt x="1445996" y="1610596"/>
                </a:lnTo>
                <a:lnTo>
                  <a:pt x="1379924" y="1643062"/>
                </a:lnTo>
                <a:lnTo>
                  <a:pt x="1308578" y="1667562"/>
                </a:lnTo>
                <a:lnTo>
                  <a:pt x="1233255" y="1682662"/>
                </a:lnTo>
                <a:lnTo>
                  <a:pt x="1155753" y="1687716"/>
                </a:lnTo>
                <a:lnTo>
                  <a:pt x="1078048" y="1682975"/>
                </a:lnTo>
                <a:lnTo>
                  <a:pt x="1001955" y="1669550"/>
                </a:lnTo>
                <a:lnTo>
                  <a:pt x="928817" y="1649249"/>
                </a:lnTo>
                <a:lnTo>
                  <a:pt x="859297" y="1624303"/>
                </a:lnTo>
                <a:lnTo>
                  <a:pt x="793297" y="1597029"/>
                </a:lnTo>
                <a:lnTo>
                  <a:pt x="730025" y="1569491"/>
                </a:lnTo>
                <a:lnTo>
                  <a:pt x="668203" y="1543197"/>
                </a:lnTo>
                <a:lnTo>
                  <a:pt x="606377" y="1518903"/>
                </a:lnTo>
                <a:lnTo>
                  <a:pt x="543260" y="1496531"/>
                </a:lnTo>
                <a:lnTo>
                  <a:pt x="478074" y="1475232"/>
                </a:lnTo>
                <a:lnTo>
                  <a:pt x="410792" y="1453570"/>
                </a:lnTo>
                <a:lnTo>
                  <a:pt x="342263" y="1429792"/>
                </a:lnTo>
                <a:lnTo>
                  <a:pt x="274173" y="1402148"/>
                </a:lnTo>
                <a:lnTo>
                  <a:pt x="208859" y="1369198"/>
                </a:lnTo>
                <a:lnTo>
                  <a:pt x="148988" y="1330054"/>
                </a:lnTo>
                <a:lnTo>
                  <a:pt x="97168" y="1284521"/>
                </a:lnTo>
                <a:lnTo>
                  <a:pt x="55542" y="1233124"/>
                </a:lnTo>
                <a:lnTo>
                  <a:pt x="25450" y="1177001"/>
                </a:lnTo>
                <a:lnTo>
                  <a:pt x="7200" y="1117699"/>
                </a:lnTo>
                <a:lnTo>
                  <a:pt x="0" y="1056914"/>
                </a:lnTo>
                <a:lnTo>
                  <a:pt x="2070" y="996204"/>
                </a:lnTo>
                <a:lnTo>
                  <a:pt x="10903" y="936751"/>
                </a:lnTo>
                <a:lnTo>
                  <a:pt x="23652" y="879199"/>
                </a:lnTo>
                <a:lnTo>
                  <a:pt x="37565" y="823595"/>
                </a:lnTo>
                <a:lnTo>
                  <a:pt x="50414" y="769456"/>
                </a:lnTo>
                <a:lnTo>
                  <a:pt x="60832" y="715931"/>
                </a:lnTo>
                <a:lnTo>
                  <a:pt x="68516" y="662039"/>
                </a:lnTo>
                <a:lnTo>
                  <a:pt x="74255" y="606940"/>
                </a:lnTo>
                <a:lnTo>
                  <a:pt x="79789" y="550167"/>
                </a:lnTo>
                <a:lnTo>
                  <a:pt x="87508" y="491813"/>
                </a:lnTo>
                <a:lnTo>
                  <a:pt x="100060" y="432591"/>
                </a:lnTo>
                <a:lnTo>
                  <a:pt x="119919" y="373795"/>
                </a:lnTo>
                <a:lnTo>
                  <a:pt x="148988" y="317136"/>
                </a:lnTo>
                <a:lnTo>
                  <a:pt x="188308" y="264496"/>
                </a:lnTo>
                <a:lnTo>
                  <a:pt x="237904" y="217631"/>
                </a:lnTo>
                <a:lnTo>
                  <a:pt x="296809" y="177891"/>
                </a:lnTo>
                <a:lnTo>
                  <a:pt x="363234" y="145982"/>
                </a:lnTo>
                <a:lnTo>
                  <a:pt x="434878" y="121839"/>
                </a:lnTo>
                <a:lnTo>
                  <a:pt x="509295" y="104619"/>
                </a:lnTo>
                <a:lnTo>
                  <a:pt x="584274" y="92822"/>
                </a:lnTo>
                <a:lnTo>
                  <a:pt x="658153" y="84526"/>
                </a:lnTo>
                <a:lnTo>
                  <a:pt x="730025" y="77699"/>
                </a:lnTo>
                <a:lnTo>
                  <a:pt x="799787" y="70533"/>
                </a:lnTo>
                <a:lnTo>
                  <a:pt x="868053" y="61747"/>
                </a:lnTo>
                <a:lnTo>
                  <a:pt x="935917" y="50813"/>
                </a:lnTo>
                <a:lnTo>
                  <a:pt x="1004651" y="38058"/>
                </a:lnTo>
                <a:lnTo>
                  <a:pt x="1075352" y="24633"/>
                </a:lnTo>
                <a:lnTo>
                  <a:pt x="1148653" y="12346"/>
                </a:lnTo>
                <a:lnTo>
                  <a:pt x="1224500" y="3388"/>
                </a:lnTo>
                <a:lnTo>
                  <a:pt x="1302088" y="0"/>
                </a:lnTo>
                <a:lnTo>
                  <a:pt x="1379924" y="4128"/>
                </a:lnTo>
                <a:lnTo>
                  <a:pt x="1456046" y="17127"/>
                </a:lnTo>
                <a:lnTo>
                  <a:pt x="1528324" y="39560"/>
                </a:lnTo>
                <a:lnTo>
                  <a:pt x="1594820" y="71122"/>
                </a:lnTo>
                <a:lnTo>
                  <a:pt x="1654124" y="110702"/>
                </a:lnTo>
                <a:lnTo>
                  <a:pt x="1705602" y="156567"/>
                </a:lnTo>
                <a:lnTo>
                  <a:pt x="1749525" y="206635"/>
                </a:lnTo>
                <a:lnTo>
                  <a:pt x="1787031" y="258796"/>
                </a:lnTo>
                <a:lnTo>
                  <a:pt x="1819942" y="311222"/>
                </a:lnTo>
                <a:lnTo>
                  <a:pt x="1850448" y="362606"/>
                </a:lnTo>
                <a:lnTo>
                  <a:pt x="1880714" y="412316"/>
                </a:lnTo>
                <a:lnTo>
                  <a:pt x="1912487" y="460411"/>
                </a:lnTo>
                <a:lnTo>
                  <a:pt x="1946746" y="507545"/>
                </a:lnTo>
                <a:lnTo>
                  <a:pt x="1983486" y="554762"/>
                </a:lnTo>
                <a:lnTo>
                  <a:pt x="2021649" y="603237"/>
                </a:lnTo>
                <a:lnTo>
                  <a:pt x="2059231" y="653998"/>
                </a:lnTo>
                <a:lnTo>
                  <a:pt x="2093555" y="707683"/>
                </a:lnTo>
                <a:lnTo>
                  <a:pt x="2121648" y="764385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07692" y="2908332"/>
            <a:ext cx="2231136" cy="1772856"/>
          </a:xfrm>
          <a:custGeom>
            <a:avLst/>
            <a:gdLst/>
            <a:ahLst/>
            <a:cxnLst/>
            <a:rect l="l" t="t" r="r" b="b"/>
            <a:pathLst>
              <a:path w="2231136" h="1772856">
                <a:moveTo>
                  <a:pt x="2231136" y="886428"/>
                </a:moveTo>
                <a:lnTo>
                  <a:pt x="2228419" y="948300"/>
                </a:lnTo>
                <a:lnTo>
                  <a:pt x="2220279" y="1009870"/>
                </a:lnTo>
                <a:lnTo>
                  <a:pt x="2206758" y="1070839"/>
                </a:lnTo>
                <a:lnTo>
                  <a:pt x="2187921" y="1130910"/>
                </a:lnTo>
                <a:lnTo>
                  <a:pt x="2163859" y="1189789"/>
                </a:lnTo>
                <a:lnTo>
                  <a:pt x="2134690" y="1247190"/>
                </a:lnTo>
                <a:lnTo>
                  <a:pt x="2100556" y="1302834"/>
                </a:lnTo>
                <a:lnTo>
                  <a:pt x="2061623" y="1356449"/>
                </a:lnTo>
                <a:lnTo>
                  <a:pt x="2018081" y="1407775"/>
                </a:lnTo>
                <a:lnTo>
                  <a:pt x="1970143" y="1456560"/>
                </a:lnTo>
                <a:lnTo>
                  <a:pt x="1918040" y="1502568"/>
                </a:lnTo>
                <a:lnTo>
                  <a:pt x="1862029" y="1545574"/>
                </a:lnTo>
                <a:lnTo>
                  <a:pt x="1802380" y="1585368"/>
                </a:lnTo>
                <a:lnTo>
                  <a:pt x="1739386" y="1621758"/>
                </a:lnTo>
                <a:lnTo>
                  <a:pt x="1673352" y="1654565"/>
                </a:lnTo>
                <a:lnTo>
                  <a:pt x="1604601" y="1683630"/>
                </a:lnTo>
                <a:lnTo>
                  <a:pt x="1533467" y="1708810"/>
                </a:lnTo>
                <a:lnTo>
                  <a:pt x="1460297" y="1729985"/>
                </a:lnTo>
                <a:lnTo>
                  <a:pt x="1385448" y="1747049"/>
                </a:lnTo>
                <a:lnTo>
                  <a:pt x="1309284" y="1759921"/>
                </a:lnTo>
                <a:lnTo>
                  <a:pt x="1232177" y="1768537"/>
                </a:lnTo>
                <a:lnTo>
                  <a:pt x="1154501" y="1772856"/>
                </a:lnTo>
                <a:lnTo>
                  <a:pt x="1076635" y="1772856"/>
                </a:lnTo>
                <a:lnTo>
                  <a:pt x="998959" y="1768537"/>
                </a:lnTo>
                <a:lnTo>
                  <a:pt x="921852" y="1759921"/>
                </a:lnTo>
                <a:lnTo>
                  <a:pt x="845688" y="1747049"/>
                </a:lnTo>
                <a:lnTo>
                  <a:pt x="770839" y="1729985"/>
                </a:lnTo>
                <a:lnTo>
                  <a:pt x="697669" y="1708810"/>
                </a:lnTo>
                <a:lnTo>
                  <a:pt x="626535" y="1683630"/>
                </a:lnTo>
                <a:lnTo>
                  <a:pt x="557784" y="1654565"/>
                </a:lnTo>
                <a:lnTo>
                  <a:pt x="491750" y="1621758"/>
                </a:lnTo>
                <a:lnTo>
                  <a:pt x="428756" y="1585368"/>
                </a:lnTo>
                <a:lnTo>
                  <a:pt x="369107" y="1545574"/>
                </a:lnTo>
                <a:lnTo>
                  <a:pt x="313096" y="1502568"/>
                </a:lnTo>
                <a:lnTo>
                  <a:pt x="260993" y="1456560"/>
                </a:lnTo>
                <a:lnTo>
                  <a:pt x="213055" y="1407775"/>
                </a:lnTo>
                <a:lnTo>
                  <a:pt x="169513" y="1356449"/>
                </a:lnTo>
                <a:lnTo>
                  <a:pt x="130580" y="1302834"/>
                </a:lnTo>
                <a:lnTo>
                  <a:pt x="96446" y="1247190"/>
                </a:lnTo>
                <a:lnTo>
                  <a:pt x="67277" y="1189789"/>
                </a:lnTo>
                <a:lnTo>
                  <a:pt x="43215" y="1130910"/>
                </a:lnTo>
                <a:lnTo>
                  <a:pt x="24378" y="1070839"/>
                </a:lnTo>
                <a:lnTo>
                  <a:pt x="10857" y="1009870"/>
                </a:lnTo>
                <a:lnTo>
                  <a:pt x="2717" y="948300"/>
                </a:lnTo>
                <a:lnTo>
                  <a:pt x="0" y="886428"/>
                </a:lnTo>
                <a:lnTo>
                  <a:pt x="2717" y="824556"/>
                </a:lnTo>
                <a:lnTo>
                  <a:pt x="10857" y="762986"/>
                </a:lnTo>
                <a:lnTo>
                  <a:pt x="24378" y="702017"/>
                </a:lnTo>
                <a:lnTo>
                  <a:pt x="43215" y="641946"/>
                </a:lnTo>
                <a:lnTo>
                  <a:pt x="67277" y="583067"/>
                </a:lnTo>
                <a:lnTo>
                  <a:pt x="96446" y="525666"/>
                </a:lnTo>
                <a:lnTo>
                  <a:pt x="130580" y="470022"/>
                </a:lnTo>
                <a:lnTo>
                  <a:pt x="169513" y="416407"/>
                </a:lnTo>
                <a:lnTo>
                  <a:pt x="213055" y="365081"/>
                </a:lnTo>
                <a:lnTo>
                  <a:pt x="260993" y="316296"/>
                </a:lnTo>
                <a:lnTo>
                  <a:pt x="313096" y="270288"/>
                </a:lnTo>
                <a:lnTo>
                  <a:pt x="369107" y="227282"/>
                </a:lnTo>
                <a:lnTo>
                  <a:pt x="428756" y="187488"/>
                </a:lnTo>
                <a:lnTo>
                  <a:pt x="491750" y="151098"/>
                </a:lnTo>
                <a:lnTo>
                  <a:pt x="557784" y="118291"/>
                </a:lnTo>
                <a:lnTo>
                  <a:pt x="626535" y="89226"/>
                </a:lnTo>
                <a:lnTo>
                  <a:pt x="697669" y="64046"/>
                </a:lnTo>
                <a:lnTo>
                  <a:pt x="770839" y="42871"/>
                </a:lnTo>
                <a:lnTo>
                  <a:pt x="845688" y="25807"/>
                </a:lnTo>
                <a:lnTo>
                  <a:pt x="921852" y="12935"/>
                </a:lnTo>
                <a:lnTo>
                  <a:pt x="998959" y="4319"/>
                </a:lnTo>
                <a:lnTo>
                  <a:pt x="1076635" y="0"/>
                </a:lnTo>
                <a:lnTo>
                  <a:pt x="1154501" y="0"/>
                </a:lnTo>
                <a:lnTo>
                  <a:pt x="1232177" y="4319"/>
                </a:lnTo>
                <a:lnTo>
                  <a:pt x="1309284" y="12935"/>
                </a:lnTo>
                <a:lnTo>
                  <a:pt x="1385448" y="25807"/>
                </a:lnTo>
                <a:lnTo>
                  <a:pt x="1460297" y="42871"/>
                </a:lnTo>
                <a:lnTo>
                  <a:pt x="1533467" y="64046"/>
                </a:lnTo>
                <a:lnTo>
                  <a:pt x="1604601" y="89226"/>
                </a:lnTo>
                <a:lnTo>
                  <a:pt x="1673352" y="118291"/>
                </a:lnTo>
                <a:lnTo>
                  <a:pt x="1739386" y="151098"/>
                </a:lnTo>
                <a:lnTo>
                  <a:pt x="1802380" y="187488"/>
                </a:lnTo>
                <a:lnTo>
                  <a:pt x="1862029" y="227282"/>
                </a:lnTo>
                <a:lnTo>
                  <a:pt x="1918040" y="270288"/>
                </a:lnTo>
                <a:lnTo>
                  <a:pt x="1970143" y="316296"/>
                </a:lnTo>
                <a:lnTo>
                  <a:pt x="2018081" y="365081"/>
                </a:lnTo>
                <a:lnTo>
                  <a:pt x="2061623" y="416407"/>
                </a:lnTo>
                <a:lnTo>
                  <a:pt x="2100556" y="470022"/>
                </a:lnTo>
                <a:lnTo>
                  <a:pt x="2134690" y="525666"/>
                </a:lnTo>
                <a:lnTo>
                  <a:pt x="2163859" y="583067"/>
                </a:lnTo>
                <a:lnTo>
                  <a:pt x="2187921" y="641946"/>
                </a:lnTo>
                <a:lnTo>
                  <a:pt x="2206758" y="702017"/>
                </a:lnTo>
                <a:lnTo>
                  <a:pt x="2220279" y="762986"/>
                </a:lnTo>
                <a:lnTo>
                  <a:pt x="2228419" y="824556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2267712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B ≈ 1.1 · SF ≈ 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속이 꽉 찬 덩어리 — 타원과 밀착 (Bulkiness ≈ 1)</a:t>
            </a:r>
          </a:p>
        </p:txBody>
      </p:sp>
      <p:sp>
        <p:nvSpPr>
          <p:cNvPr id="15" name="Freeform 14"/>
          <p:cNvSpPr/>
          <p:nvPr/>
        </p:nvSpPr>
        <p:spPr>
          <a:xfrm>
            <a:off x="8290396" y="2852928"/>
            <a:ext cx="2027248" cy="2340864"/>
          </a:xfrm>
          <a:custGeom>
            <a:avLst/>
            <a:gdLst/>
            <a:ahLst/>
            <a:cxnLst/>
            <a:rect l="l" t="t" r="r" b="b"/>
            <a:pathLst>
              <a:path w="2027248" h="2340864">
                <a:moveTo>
                  <a:pt x="1013624" y="0"/>
                </a:moveTo>
                <a:lnTo>
                  <a:pt x="1187360" y="869512"/>
                </a:lnTo>
                <a:lnTo>
                  <a:pt x="2027248" y="585216"/>
                </a:lnTo>
                <a:lnTo>
                  <a:pt x="1361096" y="1170432"/>
                </a:lnTo>
                <a:lnTo>
                  <a:pt x="2027248" y="1755648"/>
                </a:lnTo>
                <a:lnTo>
                  <a:pt x="1187360" y="1471352"/>
                </a:lnTo>
                <a:lnTo>
                  <a:pt x="1013624" y="2340864"/>
                </a:lnTo>
                <a:lnTo>
                  <a:pt x="839888" y="1471352"/>
                </a:lnTo>
                <a:lnTo>
                  <a:pt x="0" y="1755648"/>
                </a:lnTo>
                <a:lnTo>
                  <a:pt x="666152" y="1170432"/>
                </a:lnTo>
                <a:lnTo>
                  <a:pt x="0" y="585216"/>
                </a:lnTo>
                <a:lnTo>
                  <a:pt x="839888" y="869512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060436" y="2817087"/>
            <a:ext cx="2487168" cy="2412546"/>
          </a:xfrm>
          <a:custGeom>
            <a:avLst/>
            <a:gdLst/>
            <a:ahLst/>
            <a:cxnLst/>
            <a:rect l="l" t="t" r="r" b="b"/>
            <a:pathLst>
              <a:path w="2487168" h="2412546">
                <a:moveTo>
                  <a:pt x="2487168" y="1206273"/>
                </a:moveTo>
                <a:lnTo>
                  <a:pt x="2484139" y="1290470"/>
                </a:lnTo>
                <a:lnTo>
                  <a:pt x="2475066" y="1374256"/>
                </a:lnTo>
                <a:lnTo>
                  <a:pt x="2459993" y="1457224"/>
                </a:lnTo>
                <a:lnTo>
                  <a:pt x="2438994" y="1538969"/>
                </a:lnTo>
                <a:lnTo>
                  <a:pt x="2412171" y="1619094"/>
                </a:lnTo>
                <a:lnTo>
                  <a:pt x="2379655" y="1697207"/>
                </a:lnTo>
                <a:lnTo>
                  <a:pt x="2341603" y="1772929"/>
                </a:lnTo>
                <a:lnTo>
                  <a:pt x="2298203" y="1845890"/>
                </a:lnTo>
                <a:lnTo>
                  <a:pt x="2249665" y="1915735"/>
                </a:lnTo>
                <a:lnTo>
                  <a:pt x="2196225" y="1982123"/>
                </a:lnTo>
                <a:lnTo>
                  <a:pt x="2138143" y="2044731"/>
                </a:lnTo>
                <a:lnTo>
                  <a:pt x="2075704" y="2103255"/>
                </a:lnTo>
                <a:lnTo>
                  <a:pt x="2009211" y="2157408"/>
                </a:lnTo>
                <a:lnTo>
                  <a:pt x="1938987" y="2206928"/>
                </a:lnTo>
                <a:lnTo>
                  <a:pt x="1865376" y="2251573"/>
                </a:lnTo>
                <a:lnTo>
                  <a:pt x="1788735" y="2291125"/>
                </a:lnTo>
                <a:lnTo>
                  <a:pt x="1709439" y="2325391"/>
                </a:lnTo>
                <a:lnTo>
                  <a:pt x="1627873" y="2354206"/>
                </a:lnTo>
                <a:lnTo>
                  <a:pt x="1544434" y="2377428"/>
                </a:lnTo>
                <a:lnTo>
                  <a:pt x="1459530" y="2394944"/>
                </a:lnTo>
                <a:lnTo>
                  <a:pt x="1373574" y="2406669"/>
                </a:lnTo>
                <a:lnTo>
                  <a:pt x="1286984" y="2412546"/>
                </a:lnTo>
                <a:lnTo>
                  <a:pt x="1200184" y="2412546"/>
                </a:lnTo>
                <a:lnTo>
                  <a:pt x="1113594" y="2406669"/>
                </a:lnTo>
                <a:lnTo>
                  <a:pt x="1027638" y="2394944"/>
                </a:lnTo>
                <a:lnTo>
                  <a:pt x="942734" y="2377428"/>
                </a:lnTo>
                <a:lnTo>
                  <a:pt x="859295" y="2354206"/>
                </a:lnTo>
                <a:lnTo>
                  <a:pt x="777729" y="2325391"/>
                </a:lnTo>
                <a:lnTo>
                  <a:pt x="698433" y="2291125"/>
                </a:lnTo>
                <a:lnTo>
                  <a:pt x="621792" y="2251573"/>
                </a:lnTo>
                <a:lnTo>
                  <a:pt x="548181" y="2206928"/>
                </a:lnTo>
                <a:lnTo>
                  <a:pt x="477957" y="2157408"/>
                </a:lnTo>
                <a:lnTo>
                  <a:pt x="411464" y="2103255"/>
                </a:lnTo>
                <a:lnTo>
                  <a:pt x="349025" y="2044731"/>
                </a:lnTo>
                <a:lnTo>
                  <a:pt x="290943" y="1982123"/>
                </a:lnTo>
                <a:lnTo>
                  <a:pt x="237503" y="1915735"/>
                </a:lnTo>
                <a:lnTo>
                  <a:pt x="188965" y="1845890"/>
                </a:lnTo>
                <a:lnTo>
                  <a:pt x="145565" y="1772929"/>
                </a:lnTo>
                <a:lnTo>
                  <a:pt x="107513" y="1697207"/>
                </a:lnTo>
                <a:lnTo>
                  <a:pt x="74997" y="1619094"/>
                </a:lnTo>
                <a:lnTo>
                  <a:pt x="48174" y="1538969"/>
                </a:lnTo>
                <a:lnTo>
                  <a:pt x="27175" y="1457224"/>
                </a:lnTo>
                <a:lnTo>
                  <a:pt x="12102" y="1374256"/>
                </a:lnTo>
                <a:lnTo>
                  <a:pt x="3029" y="1290470"/>
                </a:lnTo>
                <a:lnTo>
                  <a:pt x="0" y="1206273"/>
                </a:lnTo>
                <a:lnTo>
                  <a:pt x="3029" y="1122076"/>
                </a:lnTo>
                <a:lnTo>
                  <a:pt x="12102" y="1038290"/>
                </a:lnTo>
                <a:lnTo>
                  <a:pt x="27175" y="955322"/>
                </a:lnTo>
                <a:lnTo>
                  <a:pt x="48174" y="873577"/>
                </a:lnTo>
                <a:lnTo>
                  <a:pt x="74997" y="793452"/>
                </a:lnTo>
                <a:lnTo>
                  <a:pt x="107513" y="715339"/>
                </a:lnTo>
                <a:lnTo>
                  <a:pt x="145565" y="639617"/>
                </a:lnTo>
                <a:lnTo>
                  <a:pt x="188965" y="566656"/>
                </a:lnTo>
                <a:lnTo>
                  <a:pt x="237503" y="496811"/>
                </a:lnTo>
                <a:lnTo>
                  <a:pt x="290943" y="430423"/>
                </a:lnTo>
                <a:lnTo>
                  <a:pt x="349025" y="367815"/>
                </a:lnTo>
                <a:lnTo>
                  <a:pt x="411464" y="309291"/>
                </a:lnTo>
                <a:lnTo>
                  <a:pt x="477957" y="255138"/>
                </a:lnTo>
                <a:lnTo>
                  <a:pt x="548181" y="205618"/>
                </a:lnTo>
                <a:lnTo>
                  <a:pt x="621792" y="160973"/>
                </a:lnTo>
                <a:lnTo>
                  <a:pt x="698433" y="121421"/>
                </a:lnTo>
                <a:lnTo>
                  <a:pt x="777729" y="87155"/>
                </a:lnTo>
                <a:lnTo>
                  <a:pt x="859295" y="58340"/>
                </a:lnTo>
                <a:lnTo>
                  <a:pt x="942734" y="35118"/>
                </a:lnTo>
                <a:lnTo>
                  <a:pt x="1027638" y="17602"/>
                </a:lnTo>
                <a:lnTo>
                  <a:pt x="1113594" y="5877"/>
                </a:lnTo>
                <a:lnTo>
                  <a:pt x="1200184" y="0"/>
                </a:lnTo>
                <a:lnTo>
                  <a:pt x="1286984" y="0"/>
                </a:lnTo>
                <a:lnTo>
                  <a:pt x="1373574" y="5877"/>
                </a:lnTo>
                <a:lnTo>
                  <a:pt x="1459530" y="17602"/>
                </a:lnTo>
                <a:lnTo>
                  <a:pt x="1544434" y="35118"/>
                </a:lnTo>
                <a:lnTo>
                  <a:pt x="1627873" y="58340"/>
                </a:lnTo>
                <a:lnTo>
                  <a:pt x="1709439" y="87155"/>
                </a:lnTo>
                <a:lnTo>
                  <a:pt x="1788735" y="121421"/>
                </a:lnTo>
                <a:lnTo>
                  <a:pt x="1865376" y="160973"/>
                </a:lnTo>
                <a:lnTo>
                  <a:pt x="1938987" y="205618"/>
                </a:lnTo>
                <a:lnTo>
                  <a:pt x="2009211" y="255138"/>
                </a:lnTo>
                <a:lnTo>
                  <a:pt x="2075704" y="309291"/>
                </a:lnTo>
                <a:lnTo>
                  <a:pt x="2138143" y="367815"/>
                </a:lnTo>
                <a:lnTo>
                  <a:pt x="2196225" y="430423"/>
                </a:lnTo>
                <a:lnTo>
                  <a:pt x="2249665" y="496811"/>
                </a:lnTo>
                <a:lnTo>
                  <a:pt x="2298203" y="566656"/>
                </a:lnTo>
                <a:lnTo>
                  <a:pt x="2341603" y="639617"/>
                </a:lnTo>
                <a:lnTo>
                  <a:pt x="2379655" y="715339"/>
                </a:lnTo>
                <a:lnTo>
                  <a:pt x="2412171" y="793452"/>
                </a:lnTo>
                <a:lnTo>
                  <a:pt x="2438994" y="873577"/>
                </a:lnTo>
                <a:lnTo>
                  <a:pt x="2459993" y="955322"/>
                </a:lnTo>
                <a:lnTo>
                  <a:pt x="2475066" y="1038290"/>
                </a:lnTo>
                <a:lnTo>
                  <a:pt x="2484139" y="1122076"/>
                </a:lnTo>
                <a:close/>
              </a:path>
            </a:pathLst>
          </a:custGeom>
          <a:noFill/>
          <a:ln w="1905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468880"/>
            <a:ext cx="1828800" cy="6858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타원이 헐렁</a:t>
            </a:r>
          </a:p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(빈 공간 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267712"/>
            <a:ext cx="2606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B ≈ 2.4 · SF ≈ 2.1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5504688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가지·촉수가 뻗은 형상 — 같은 타원인데 면적이 작음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Bulkiness ↑ = '퍼진' 불량(번짐·군집), StructureFactor는 길쭉함까지 합친 종합 복잡도 — AI 분류 보조 특징으로도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Orientation 방향각 — MD/TD, 불량이 어느 방향으로 누웠나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등가 타원 Phi에 '가장 먼 경계점 방향'으로 부호를 정한 방향각 — 범위 (−180°, 180°]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2488" y="137160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Orientation: 0° = 가로(TD, 폭 방향) · ±90° = 세로(MD, 진행 방향)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97280" y="3886200"/>
            <a:ext cx="566928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260794" y="2774196"/>
            <a:ext cx="3342252" cy="2224008"/>
          </a:xfrm>
          <a:custGeom>
            <a:avLst/>
            <a:gdLst/>
            <a:ahLst/>
            <a:cxnLst/>
            <a:rect l="l" t="t" r="r" b="b"/>
            <a:pathLst>
              <a:path w="3342252" h="2224008">
                <a:moveTo>
                  <a:pt x="3254480" y="3328"/>
                </a:moveTo>
                <a:lnTo>
                  <a:pt x="3308669" y="0"/>
                </a:lnTo>
                <a:lnTo>
                  <a:pt x="3339636" y="13883"/>
                </a:lnTo>
                <a:lnTo>
                  <a:pt x="3342252" y="47115"/>
                </a:lnTo>
                <a:lnTo>
                  <a:pt x="3315488" y="98887"/>
                </a:lnTo>
                <a:lnTo>
                  <a:pt x="3262615" y="165717"/>
                </a:lnTo>
                <a:lnTo>
                  <a:pt x="3190509" y="242266"/>
                </a:lnTo>
                <a:lnTo>
                  <a:pt x="3108212" y="322516"/>
                </a:lnTo>
                <a:lnTo>
                  <a:pt x="3025073" y="401028"/>
                </a:lnTo>
                <a:lnTo>
                  <a:pt x="2948879" y="474006"/>
                </a:lnTo>
                <a:lnTo>
                  <a:pt x="2884369" y="539919"/>
                </a:lnTo>
                <a:lnTo>
                  <a:pt x="2832452" y="599589"/>
                </a:lnTo>
                <a:lnTo>
                  <a:pt x="2790280" y="655715"/>
                </a:lnTo>
                <a:lnTo>
                  <a:pt x="2752122" y="712001"/>
                </a:lnTo>
                <a:lnTo>
                  <a:pt x="2710825" y="772095"/>
                </a:lnTo>
                <a:lnTo>
                  <a:pt x="2659515" y="838600"/>
                </a:lnTo>
                <a:lnTo>
                  <a:pt x="2593139" y="912412"/>
                </a:lnTo>
                <a:lnTo>
                  <a:pt x="2509512" y="992522"/>
                </a:lnTo>
                <a:lnTo>
                  <a:pt x="2409645" y="1076317"/>
                </a:lnTo>
                <a:lnTo>
                  <a:pt x="2297318" y="1160304"/>
                </a:lnTo>
                <a:lnTo>
                  <a:pt x="2178026" y="1241054"/>
                </a:lnTo>
                <a:lnTo>
                  <a:pt x="2057579" y="1316118"/>
                </a:lnTo>
                <a:lnTo>
                  <a:pt x="1940714" y="1384687"/>
                </a:lnTo>
                <a:lnTo>
                  <a:pt x="1830057" y="1447814"/>
                </a:lnTo>
                <a:lnTo>
                  <a:pt x="1725682" y="1508125"/>
                </a:lnTo>
                <a:lnTo>
                  <a:pt x="1625367" y="1569103"/>
                </a:lnTo>
                <a:lnTo>
                  <a:pt x="1525461" y="1634091"/>
                </a:lnTo>
                <a:lnTo>
                  <a:pt x="1422144" y="1705278"/>
                </a:lnTo>
                <a:lnTo>
                  <a:pt x="1312733" y="1782909"/>
                </a:lnTo>
                <a:lnTo>
                  <a:pt x="1196704" y="1864948"/>
                </a:lnTo>
                <a:lnTo>
                  <a:pt x="1076161" y="1947276"/>
                </a:lnTo>
                <a:lnTo>
                  <a:pt x="955596" y="2024417"/>
                </a:lnTo>
                <a:lnTo>
                  <a:pt x="841002" y="2090643"/>
                </a:lnTo>
                <a:lnTo>
                  <a:pt x="738519" y="2141206"/>
                </a:lnTo>
                <a:lnTo>
                  <a:pt x="652956" y="2173421"/>
                </a:lnTo>
                <a:lnTo>
                  <a:pt x="586537" y="2187340"/>
                </a:lnTo>
                <a:lnTo>
                  <a:pt x="538195" y="2185855"/>
                </a:lnTo>
                <a:lnTo>
                  <a:pt x="503628" y="2174176"/>
                </a:lnTo>
                <a:lnTo>
                  <a:pt x="476110" y="2158789"/>
                </a:lnTo>
                <a:lnTo>
                  <a:pt x="447929" y="2146123"/>
                </a:lnTo>
                <a:lnTo>
                  <a:pt x="412124" y="2141188"/>
                </a:lnTo>
                <a:lnTo>
                  <a:pt x="364135" y="2146507"/>
                </a:lnTo>
                <a:lnTo>
                  <a:pt x="302990" y="2161567"/>
                </a:lnTo>
                <a:lnTo>
                  <a:pt x="231737" y="2182912"/>
                </a:lnTo>
                <a:lnTo>
                  <a:pt x="157006" y="2204857"/>
                </a:lnTo>
                <a:lnTo>
                  <a:pt x="87772" y="2220680"/>
                </a:lnTo>
                <a:lnTo>
                  <a:pt x="33583" y="2224008"/>
                </a:lnTo>
                <a:lnTo>
                  <a:pt x="2616" y="2210125"/>
                </a:lnTo>
                <a:lnTo>
                  <a:pt x="0" y="2176893"/>
                </a:lnTo>
                <a:lnTo>
                  <a:pt x="26764" y="2125121"/>
                </a:lnTo>
                <a:lnTo>
                  <a:pt x="79637" y="2058291"/>
                </a:lnTo>
                <a:lnTo>
                  <a:pt x="151743" y="1981742"/>
                </a:lnTo>
                <a:lnTo>
                  <a:pt x="234040" y="1901492"/>
                </a:lnTo>
                <a:lnTo>
                  <a:pt x="317179" y="1822980"/>
                </a:lnTo>
                <a:lnTo>
                  <a:pt x="393373" y="1750002"/>
                </a:lnTo>
                <a:lnTo>
                  <a:pt x="457883" y="1684089"/>
                </a:lnTo>
                <a:lnTo>
                  <a:pt x="509800" y="1624419"/>
                </a:lnTo>
                <a:lnTo>
                  <a:pt x="551972" y="1568293"/>
                </a:lnTo>
                <a:lnTo>
                  <a:pt x="590130" y="1512007"/>
                </a:lnTo>
                <a:lnTo>
                  <a:pt x="631427" y="1451913"/>
                </a:lnTo>
                <a:lnTo>
                  <a:pt x="682737" y="1385408"/>
                </a:lnTo>
                <a:lnTo>
                  <a:pt x="749113" y="1311596"/>
                </a:lnTo>
                <a:lnTo>
                  <a:pt x="832740" y="1231486"/>
                </a:lnTo>
                <a:lnTo>
                  <a:pt x="932607" y="1147691"/>
                </a:lnTo>
                <a:lnTo>
                  <a:pt x="1044934" y="1063704"/>
                </a:lnTo>
                <a:lnTo>
                  <a:pt x="1164226" y="982954"/>
                </a:lnTo>
                <a:lnTo>
                  <a:pt x="1284673" y="907890"/>
                </a:lnTo>
                <a:lnTo>
                  <a:pt x="1401538" y="839321"/>
                </a:lnTo>
                <a:lnTo>
                  <a:pt x="1512195" y="776194"/>
                </a:lnTo>
                <a:lnTo>
                  <a:pt x="1616570" y="715883"/>
                </a:lnTo>
                <a:lnTo>
                  <a:pt x="1716885" y="654905"/>
                </a:lnTo>
                <a:lnTo>
                  <a:pt x="1816791" y="589917"/>
                </a:lnTo>
                <a:lnTo>
                  <a:pt x="1920108" y="518730"/>
                </a:lnTo>
                <a:lnTo>
                  <a:pt x="2029519" y="441099"/>
                </a:lnTo>
                <a:lnTo>
                  <a:pt x="2145548" y="359060"/>
                </a:lnTo>
                <a:lnTo>
                  <a:pt x="2266091" y="276732"/>
                </a:lnTo>
                <a:lnTo>
                  <a:pt x="2386656" y="199591"/>
                </a:lnTo>
                <a:lnTo>
                  <a:pt x="2501250" y="133365"/>
                </a:lnTo>
                <a:lnTo>
                  <a:pt x="2603733" y="82802"/>
                </a:lnTo>
                <a:lnTo>
                  <a:pt x="2689296" y="50587"/>
                </a:lnTo>
                <a:lnTo>
                  <a:pt x="2755715" y="36668"/>
                </a:lnTo>
                <a:lnTo>
                  <a:pt x="2804057" y="38153"/>
                </a:lnTo>
                <a:lnTo>
                  <a:pt x="2838624" y="49832"/>
                </a:lnTo>
                <a:lnTo>
                  <a:pt x="2866142" y="65219"/>
                </a:lnTo>
                <a:lnTo>
                  <a:pt x="2894323" y="77885"/>
                </a:lnTo>
                <a:lnTo>
                  <a:pt x="2930128" y="82820"/>
                </a:lnTo>
                <a:lnTo>
                  <a:pt x="2978117" y="77501"/>
                </a:lnTo>
                <a:lnTo>
                  <a:pt x="3039262" y="62441"/>
                </a:lnTo>
                <a:lnTo>
                  <a:pt x="3110515" y="41096"/>
                </a:lnTo>
                <a:lnTo>
                  <a:pt x="3185246" y="19151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931920" y="2706124"/>
            <a:ext cx="1685323" cy="1180076"/>
          </a:xfrm>
          <a:prstGeom prst="line">
            <a:avLst/>
          </a:prstGeom>
          <a:ln w="25400">
            <a:solidFill>
              <a:srgbClr val="ED7D3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4793308" y="3283050"/>
            <a:ext cx="190172" cy="603150"/>
          </a:xfrm>
          <a:custGeom>
            <a:avLst/>
            <a:gdLst/>
            <a:ahLst/>
            <a:cxnLst/>
            <a:rect l="l" t="t" r="r" b="b"/>
            <a:pathLst>
              <a:path w="190172" h="603150">
                <a:moveTo>
                  <a:pt x="0" y="0"/>
                </a:moveTo>
                <a:lnTo>
                  <a:pt x="15071" y="22118"/>
                </a:lnTo>
                <a:lnTo>
                  <a:pt x="29574" y="44612"/>
                </a:lnTo>
                <a:lnTo>
                  <a:pt x="43500" y="67468"/>
                </a:lnTo>
                <a:lnTo>
                  <a:pt x="56840" y="90670"/>
                </a:lnTo>
                <a:lnTo>
                  <a:pt x="69585" y="114205"/>
                </a:lnTo>
                <a:lnTo>
                  <a:pt x="81728" y="138057"/>
                </a:lnTo>
                <a:lnTo>
                  <a:pt x="93259" y="162210"/>
                </a:lnTo>
                <a:lnTo>
                  <a:pt x="104171" y="186648"/>
                </a:lnTo>
                <a:lnTo>
                  <a:pt x="114459" y="211357"/>
                </a:lnTo>
                <a:lnTo>
                  <a:pt x="124114" y="236319"/>
                </a:lnTo>
                <a:lnTo>
                  <a:pt x="133130" y="261519"/>
                </a:lnTo>
                <a:lnTo>
                  <a:pt x="141503" y="286940"/>
                </a:lnTo>
                <a:lnTo>
                  <a:pt x="149225" y="312566"/>
                </a:lnTo>
                <a:lnTo>
                  <a:pt x="156293" y="338380"/>
                </a:lnTo>
                <a:lnTo>
                  <a:pt x="162702" y="364366"/>
                </a:lnTo>
                <a:lnTo>
                  <a:pt x="168447" y="390506"/>
                </a:lnTo>
                <a:lnTo>
                  <a:pt x="173526" y="416784"/>
                </a:lnTo>
                <a:lnTo>
                  <a:pt x="177933" y="443183"/>
                </a:lnTo>
                <a:lnTo>
                  <a:pt x="181668" y="469686"/>
                </a:lnTo>
                <a:lnTo>
                  <a:pt x="184727" y="496275"/>
                </a:lnTo>
                <a:lnTo>
                  <a:pt x="187108" y="522933"/>
                </a:lnTo>
                <a:lnTo>
                  <a:pt x="188810" y="549643"/>
                </a:lnTo>
                <a:lnTo>
                  <a:pt x="189831" y="576388"/>
                </a:lnTo>
                <a:lnTo>
                  <a:pt x="190172" y="603150"/>
                </a:lnTo>
              </a:path>
            </a:pathLst>
          </a:custGeom>
          <a:noFill/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410712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맑은 고딕"/>
                <a:ea typeface="맑은 고딕"/>
              </a:rPr>
              <a:t>Orientation = +35°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3931920"/>
            <a:ext cx="2743200" cy="0"/>
          </a:xfrm>
          <a:prstGeom prst="line">
            <a:avLst/>
          </a:prstGeom>
          <a:ln w="25400">
            <a:solidFill>
              <a:srgbClr val="2E559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84080" y="2697480"/>
            <a:ext cx="0" cy="2468880"/>
          </a:xfrm>
          <a:prstGeom prst="line">
            <a:avLst/>
          </a:prstGeom>
          <a:ln w="25400">
            <a:solidFill>
              <a:srgbClr val="549435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87000" y="4023360"/>
            <a:ext cx="164592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2E5597"/>
                </a:solidFill>
                <a:latin typeface="맑은 고딕"/>
                <a:ea typeface="맑은 고딕"/>
              </a:rPr>
              <a:t>TD (폭) 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743200"/>
            <a:ext cx="201168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49435"/>
                </a:solidFill>
                <a:latin typeface="맑은 고딕"/>
                <a:ea typeface="맑은 고딕"/>
              </a:rPr>
              <a:t>MD (진행) ±90°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074920"/>
            <a:ext cx="3657600" cy="8229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롤 진행 방향 스크래치는 MD(±90°),</a:t>
            </a:r>
          </a:p>
          <a:p>
            <a:pPr algn="l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주름은 TD(0°) 부근에 몰린다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방향성 불량 분류 — 예: Anisometry ≥ 5 이고 |Orientation| ≈ 90° 이면 MD 스크래치, 0° 부근이면 가로 주름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BBox 바운딩박스 · Rect2 최소 회전 사각형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축에 평행한 상자(BBox)는 기울어진 불량을 과대평가 — 회전 사각형(Rect2)이 진짜 크기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2408" y="1371600"/>
            <a:ext cx="93268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BBox = (Row1,Col1)~(Row2,Col2) 축평행     Rect2 = 중심 + 반변(Len1,Len2) + 각도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84448" y="2968119"/>
            <a:ext cx="3894944" cy="1836162"/>
          </a:xfrm>
          <a:custGeom>
            <a:avLst/>
            <a:gdLst/>
            <a:ahLst/>
            <a:cxnLst/>
            <a:rect l="l" t="t" r="r" b="b"/>
            <a:pathLst>
              <a:path w="3894944" h="1836162">
                <a:moveTo>
                  <a:pt x="3824593" y="82333"/>
                </a:moveTo>
                <a:lnTo>
                  <a:pt x="3874995" y="97182"/>
                </a:lnTo>
                <a:lnTo>
                  <a:pt x="3894944" y="126185"/>
                </a:lnTo>
                <a:lnTo>
                  <a:pt x="3880687" y="169398"/>
                </a:lnTo>
                <a:lnTo>
                  <a:pt x="3833487" y="224727"/>
                </a:lnTo>
                <a:lnTo>
                  <a:pt x="3759342" y="288476"/>
                </a:lnTo>
                <a:lnTo>
                  <a:pt x="3667719" y="356198"/>
                </a:lnTo>
                <a:lnTo>
                  <a:pt x="3569587" y="423668"/>
                </a:lnTo>
                <a:lnTo>
                  <a:pt x="3475193" y="487745"/>
                </a:lnTo>
                <a:lnTo>
                  <a:pt x="3392041" y="546918"/>
                </a:lnTo>
                <a:lnTo>
                  <a:pt x="3323537" y="601451"/>
                </a:lnTo>
                <a:lnTo>
                  <a:pt x="3268553" y="653082"/>
                </a:lnTo>
                <a:lnTo>
                  <a:pt x="3221983" y="704389"/>
                </a:lnTo>
                <a:lnTo>
                  <a:pt x="3176140" y="757986"/>
                </a:lnTo>
                <a:lnTo>
                  <a:pt x="3122641" y="815748"/>
                </a:lnTo>
                <a:lnTo>
                  <a:pt x="3054353" y="878261"/>
                </a:lnTo>
                <a:lnTo>
                  <a:pt x="2966942" y="944643"/>
                </a:lnTo>
                <a:lnTo>
                  <a:pt x="2859702" y="1012750"/>
                </a:lnTo>
                <a:lnTo>
                  <a:pt x="2735496" y="1079736"/>
                </a:lnTo>
                <a:lnTo>
                  <a:pt x="2599874" y="1142809"/>
                </a:lnTo>
                <a:lnTo>
                  <a:pt x="2459603" y="1199981"/>
                </a:lnTo>
                <a:lnTo>
                  <a:pt x="2320990" y="1250634"/>
                </a:lnTo>
                <a:lnTo>
                  <a:pt x="2188429" y="1295730"/>
                </a:lnTo>
                <a:lnTo>
                  <a:pt x="2063507" y="1337616"/>
                </a:lnTo>
                <a:lnTo>
                  <a:pt x="1944891" y="1379450"/>
                </a:lnTo>
                <a:lnTo>
                  <a:pt x="1829005" y="1424376"/>
                </a:lnTo>
                <a:lnTo>
                  <a:pt x="1711300" y="1474653"/>
                </a:lnTo>
                <a:lnTo>
                  <a:pt x="1587805" y="1530943"/>
                </a:lnTo>
                <a:lnTo>
                  <a:pt x="1456528" y="1591946"/>
                </a:lnTo>
                <a:lnTo>
                  <a:pt x="1318363" y="1654478"/>
                </a:lnTo>
                <a:lnTo>
                  <a:pt x="1177232" y="1714010"/>
                </a:lnTo>
                <a:lnTo>
                  <a:pt x="1039420" y="1765542"/>
                </a:lnTo>
                <a:lnTo>
                  <a:pt x="912229" y="1804646"/>
                </a:lnTo>
                <a:lnTo>
                  <a:pt x="802280" y="1828420"/>
                </a:lnTo>
                <a:lnTo>
                  <a:pt x="713859" y="1836162"/>
                </a:lnTo>
                <a:lnTo>
                  <a:pt x="647732" y="1829586"/>
                </a:lnTo>
                <a:lnTo>
                  <a:pt x="600743" y="1812517"/>
                </a:lnTo>
                <a:lnTo>
                  <a:pt x="566313" y="1790143"/>
                </a:lnTo>
                <a:lnTo>
                  <a:pt x="535786" y="1767953"/>
                </a:lnTo>
                <a:lnTo>
                  <a:pt x="500322" y="1750613"/>
                </a:lnTo>
                <a:lnTo>
                  <a:pt x="452939" y="1741006"/>
                </a:lnTo>
                <a:lnTo>
                  <a:pt x="390219" y="1739653"/>
                </a:lnTo>
                <a:lnTo>
                  <a:pt x="313293" y="1744636"/>
                </a:lnTo>
                <a:lnTo>
                  <a:pt x="227860" y="1752041"/>
                </a:lnTo>
                <a:lnTo>
                  <a:pt x="143194" y="1756811"/>
                </a:lnTo>
                <a:lnTo>
                  <a:pt x="70351" y="1753829"/>
                </a:lnTo>
                <a:lnTo>
                  <a:pt x="19949" y="1738980"/>
                </a:lnTo>
                <a:lnTo>
                  <a:pt x="0" y="1709977"/>
                </a:lnTo>
                <a:lnTo>
                  <a:pt x="14257" y="1666764"/>
                </a:lnTo>
                <a:lnTo>
                  <a:pt x="61457" y="1611435"/>
                </a:lnTo>
                <a:lnTo>
                  <a:pt x="135602" y="1547686"/>
                </a:lnTo>
                <a:lnTo>
                  <a:pt x="227225" y="1479964"/>
                </a:lnTo>
                <a:lnTo>
                  <a:pt x="325357" y="1412494"/>
                </a:lnTo>
                <a:lnTo>
                  <a:pt x="419751" y="1348417"/>
                </a:lnTo>
                <a:lnTo>
                  <a:pt x="502903" y="1289244"/>
                </a:lnTo>
                <a:lnTo>
                  <a:pt x="571407" y="1234711"/>
                </a:lnTo>
                <a:lnTo>
                  <a:pt x="626391" y="1183080"/>
                </a:lnTo>
                <a:lnTo>
                  <a:pt x="672961" y="1131773"/>
                </a:lnTo>
                <a:lnTo>
                  <a:pt x="718804" y="1078176"/>
                </a:lnTo>
                <a:lnTo>
                  <a:pt x="772303" y="1020414"/>
                </a:lnTo>
                <a:lnTo>
                  <a:pt x="840591" y="957901"/>
                </a:lnTo>
                <a:lnTo>
                  <a:pt x="928002" y="891519"/>
                </a:lnTo>
                <a:lnTo>
                  <a:pt x="1035242" y="823412"/>
                </a:lnTo>
                <a:lnTo>
                  <a:pt x="1159448" y="756426"/>
                </a:lnTo>
                <a:lnTo>
                  <a:pt x="1295070" y="693353"/>
                </a:lnTo>
                <a:lnTo>
                  <a:pt x="1435341" y="636181"/>
                </a:lnTo>
                <a:lnTo>
                  <a:pt x="1573954" y="585528"/>
                </a:lnTo>
                <a:lnTo>
                  <a:pt x="1706515" y="540432"/>
                </a:lnTo>
                <a:lnTo>
                  <a:pt x="1831437" y="498546"/>
                </a:lnTo>
                <a:lnTo>
                  <a:pt x="1950053" y="456712"/>
                </a:lnTo>
                <a:lnTo>
                  <a:pt x="2065939" y="411786"/>
                </a:lnTo>
                <a:lnTo>
                  <a:pt x="2183644" y="361509"/>
                </a:lnTo>
                <a:lnTo>
                  <a:pt x="2307139" y="305219"/>
                </a:lnTo>
                <a:lnTo>
                  <a:pt x="2438416" y="244216"/>
                </a:lnTo>
                <a:lnTo>
                  <a:pt x="2576581" y="181684"/>
                </a:lnTo>
                <a:lnTo>
                  <a:pt x="2717712" y="122152"/>
                </a:lnTo>
                <a:lnTo>
                  <a:pt x="2855524" y="70620"/>
                </a:lnTo>
                <a:lnTo>
                  <a:pt x="2982715" y="31516"/>
                </a:lnTo>
                <a:lnTo>
                  <a:pt x="3092664" y="7742"/>
                </a:lnTo>
                <a:lnTo>
                  <a:pt x="3181085" y="0"/>
                </a:lnTo>
                <a:lnTo>
                  <a:pt x="3247212" y="6576"/>
                </a:lnTo>
                <a:lnTo>
                  <a:pt x="3294201" y="23645"/>
                </a:lnTo>
                <a:lnTo>
                  <a:pt x="3328631" y="46019"/>
                </a:lnTo>
                <a:lnTo>
                  <a:pt x="3359158" y="68209"/>
                </a:lnTo>
                <a:lnTo>
                  <a:pt x="3394622" y="85549"/>
                </a:lnTo>
                <a:lnTo>
                  <a:pt x="3442005" y="95156"/>
                </a:lnTo>
                <a:lnTo>
                  <a:pt x="3504725" y="96509"/>
                </a:lnTo>
                <a:lnTo>
                  <a:pt x="3581651" y="91526"/>
                </a:lnTo>
                <a:lnTo>
                  <a:pt x="3667084" y="84121"/>
                </a:lnTo>
                <a:lnTo>
                  <a:pt x="3751750" y="79351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80034" y="2512870"/>
            <a:ext cx="4303772" cy="2746661"/>
          </a:xfrm>
          <a:prstGeom prst="rect">
            <a:avLst/>
          </a:prstGeom>
          <a:noFill/>
          <a:ln w="22225">
            <a:solidFill>
              <a:srgbClr val="2E55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80034" y="2512870"/>
            <a:ext cx="4303772" cy="2746660"/>
          </a:xfrm>
          <a:custGeom>
            <a:avLst/>
            <a:gdLst/>
            <a:ahLst/>
            <a:cxnLst/>
            <a:rect l="l" t="t" r="r" b="b"/>
            <a:pathLst>
              <a:path w="4303772" h="2746660">
                <a:moveTo>
                  <a:pt x="0" y="1710831"/>
                </a:moveTo>
                <a:lnTo>
                  <a:pt x="3842591" y="0"/>
                </a:lnTo>
                <a:lnTo>
                  <a:pt x="4303772" y="1035829"/>
                </a:lnTo>
                <a:lnTo>
                  <a:pt x="461181" y="2746660"/>
                </a:lnTo>
                <a:close/>
              </a:path>
            </a:pathLst>
          </a:custGeom>
          <a:noFill/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5754" y="2128822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2E5597"/>
                </a:solidFill>
                <a:latin typeface="맑은 고딕"/>
                <a:ea typeface="맑은 고딕"/>
              </a:rPr>
              <a:t>BBox (축평행, 헐렁)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7200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Rect2 (회전, 밀착)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3317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예) 24° 기울어진 띠 불량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BBox: 458 × 213 px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→ 실제보다 크게 보임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Rect2: 460 × 62 px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→ 진짜 길이·폭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BBox는 크롭/저장 ROI 용도,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Rect2는 크기 판정 용도로 구분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기울어진 불량의 실제 폭은 Rect2로 — AspectRatio(종횡비)·FillRatio(충진율)도 Rect2 기준으로 계산한다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SmallestCircle 외접원 · InnerCircle 내접원 — 겉 크기와 속 두께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외접원 = 불량을 완전히 덮는 최소 원, 내접원 = 안에 들어가는 최대 원(가장 두꺼운 부분)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9608" y="1371600"/>
            <a:ext cx="84124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SmallestCircle: 겉 크기 R      InnerCircle: 두께감 r (거리변환 최대값)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204309" y="3094579"/>
            <a:ext cx="3992415" cy="1803565"/>
          </a:xfrm>
          <a:custGeom>
            <a:avLst/>
            <a:gdLst/>
            <a:ahLst/>
            <a:cxnLst/>
            <a:rect l="l" t="t" r="r" b="b"/>
            <a:pathLst>
              <a:path w="3992415" h="1803565">
                <a:moveTo>
                  <a:pt x="3964669" y="855629"/>
                </a:moveTo>
                <a:lnTo>
                  <a:pt x="3906231" y="922035"/>
                </a:lnTo>
                <a:lnTo>
                  <a:pt x="3820348" y="983833"/>
                </a:lnTo>
                <a:lnTo>
                  <a:pt x="3711523" y="1039444"/>
                </a:lnTo>
                <a:lnTo>
                  <a:pt x="3585201" y="1087812"/>
                </a:lnTo>
                <a:lnTo>
                  <a:pt x="3447378" y="1128476"/>
                </a:lnTo>
                <a:lnTo>
                  <a:pt x="3304180" y="1161600"/>
                </a:lnTo>
                <a:lnTo>
                  <a:pt x="3161434" y="1187947"/>
                </a:lnTo>
                <a:lnTo>
                  <a:pt x="3024275" y="1208813"/>
                </a:lnTo>
                <a:lnTo>
                  <a:pt x="2896799" y="1225908"/>
                </a:lnTo>
                <a:lnTo>
                  <a:pt x="2781811" y="1241215"/>
                </a:lnTo>
                <a:lnTo>
                  <a:pt x="2680671" y="1256811"/>
                </a:lnTo>
                <a:lnTo>
                  <a:pt x="2593253" y="1274698"/>
                </a:lnTo>
                <a:lnTo>
                  <a:pt x="2518024" y="1296619"/>
                </a:lnTo>
                <a:lnTo>
                  <a:pt x="2452227" y="1323908"/>
                </a:lnTo>
                <a:lnTo>
                  <a:pt x="2392162" y="1357363"/>
                </a:lnTo>
                <a:lnTo>
                  <a:pt x="2333536" y="1397158"/>
                </a:lnTo>
                <a:lnTo>
                  <a:pt x="2271861" y="1442811"/>
                </a:lnTo>
                <a:lnTo>
                  <a:pt x="2202856" y="1493196"/>
                </a:lnTo>
                <a:lnTo>
                  <a:pt x="2122841" y="1546606"/>
                </a:lnTo>
                <a:lnTo>
                  <a:pt x="2029068" y="1600860"/>
                </a:lnTo>
                <a:lnTo>
                  <a:pt x="1919984" y="1653456"/>
                </a:lnTo>
                <a:lnTo>
                  <a:pt x="1795395" y="1701737"/>
                </a:lnTo>
                <a:lnTo>
                  <a:pt x="1656515" y="1743082"/>
                </a:lnTo>
                <a:lnTo>
                  <a:pt x="1505910" y="1775087"/>
                </a:lnTo>
                <a:lnTo>
                  <a:pt x="1347321" y="1795742"/>
                </a:lnTo>
                <a:lnTo>
                  <a:pt x="1185403" y="1803565"/>
                </a:lnTo>
                <a:lnTo>
                  <a:pt x="1025377" y="1797715"/>
                </a:lnTo>
                <a:lnTo>
                  <a:pt x="872640" y="1778043"/>
                </a:lnTo>
                <a:lnTo>
                  <a:pt x="732362" y="1745105"/>
                </a:lnTo>
                <a:lnTo>
                  <a:pt x="609082" y="1700114"/>
                </a:lnTo>
                <a:lnTo>
                  <a:pt x="506367" y="1644851"/>
                </a:lnTo>
                <a:lnTo>
                  <a:pt x="426532" y="1581532"/>
                </a:lnTo>
                <a:lnTo>
                  <a:pt x="370458" y="1512645"/>
                </a:lnTo>
                <a:lnTo>
                  <a:pt x="337523" y="1440774"/>
                </a:lnTo>
                <a:lnTo>
                  <a:pt x="325644" y="1368414"/>
                </a:lnTo>
                <a:lnTo>
                  <a:pt x="331434" y="1297795"/>
                </a:lnTo>
                <a:lnTo>
                  <a:pt x="350461" y="1230736"/>
                </a:lnTo>
                <a:lnTo>
                  <a:pt x="377586" y="1168525"/>
                </a:lnTo>
                <a:lnTo>
                  <a:pt x="407359" y="1111856"/>
                </a:lnTo>
                <a:lnTo>
                  <a:pt x="434444" y="1060795"/>
                </a:lnTo>
                <a:lnTo>
                  <a:pt x="454027" y="1014816"/>
                </a:lnTo>
                <a:lnTo>
                  <a:pt x="462199" y="972873"/>
                </a:lnTo>
                <a:lnTo>
                  <a:pt x="456261" y="933514"/>
                </a:lnTo>
                <a:lnTo>
                  <a:pt x="434942" y="895031"/>
                </a:lnTo>
                <a:lnTo>
                  <a:pt x="398509" y="855629"/>
                </a:lnTo>
                <a:lnTo>
                  <a:pt x="348758" y="813600"/>
                </a:lnTo>
                <a:lnTo>
                  <a:pt x="288893" y="767491"/>
                </a:lnTo>
                <a:lnTo>
                  <a:pt x="223292" y="716250"/>
                </a:lnTo>
                <a:lnTo>
                  <a:pt x="157188" y="659339"/>
                </a:lnTo>
                <a:lnTo>
                  <a:pt x="96284" y="596813"/>
                </a:lnTo>
                <a:lnTo>
                  <a:pt x="46330" y="529336"/>
                </a:lnTo>
                <a:lnTo>
                  <a:pt x="12702" y="458163"/>
                </a:lnTo>
                <a:lnTo>
                  <a:pt x="0" y="385064"/>
                </a:lnTo>
                <a:lnTo>
                  <a:pt x="11715" y="312208"/>
                </a:lnTo>
                <a:lnTo>
                  <a:pt x="49974" y="242014"/>
                </a:lnTo>
                <a:lnTo>
                  <a:pt x="115390" y="176979"/>
                </a:lnTo>
                <a:lnTo>
                  <a:pt x="207026" y="119494"/>
                </a:lnTo>
                <a:lnTo>
                  <a:pt x="322477" y="71672"/>
                </a:lnTo>
                <a:lnTo>
                  <a:pt x="458056" y="35186"/>
                </a:lnTo>
                <a:lnTo>
                  <a:pt x="609082" y="11144"/>
                </a:lnTo>
                <a:lnTo>
                  <a:pt x="770235" y="0"/>
                </a:lnTo>
                <a:lnTo>
                  <a:pt x="935954" y="1523"/>
                </a:lnTo>
                <a:lnTo>
                  <a:pt x="1100852" y="14798"/>
                </a:lnTo>
                <a:lnTo>
                  <a:pt x="1260109" y="38300"/>
                </a:lnTo>
                <a:lnTo>
                  <a:pt x="1409811" y="69996"/>
                </a:lnTo>
                <a:lnTo>
                  <a:pt x="1547219" y="107492"/>
                </a:lnTo>
                <a:lnTo>
                  <a:pt x="1670938" y="148204"/>
                </a:lnTo>
                <a:lnTo>
                  <a:pt x="1780972" y="189549"/>
                </a:lnTo>
                <a:lnTo>
                  <a:pt x="1878675" y="229123"/>
                </a:lnTo>
                <a:lnTo>
                  <a:pt x="1966579" y="264878"/>
                </a:lnTo>
                <a:lnTo>
                  <a:pt x="2048135" y="295260"/>
                </a:lnTo>
                <a:lnTo>
                  <a:pt x="2127381" y="319316"/>
                </a:lnTo>
                <a:lnTo>
                  <a:pt x="2208548" y="336754"/>
                </a:lnTo>
                <a:lnTo>
                  <a:pt x="2295663" y="347948"/>
                </a:lnTo>
                <a:lnTo>
                  <a:pt x="2392162" y="353895"/>
                </a:lnTo>
                <a:lnTo>
                  <a:pt x="2500538" y="356129"/>
                </a:lnTo>
                <a:lnTo>
                  <a:pt x="2622079" y="356585"/>
                </a:lnTo>
                <a:lnTo>
                  <a:pt x="2756684" y="357441"/>
                </a:lnTo>
                <a:lnTo>
                  <a:pt x="2902804" y="360942"/>
                </a:lnTo>
                <a:lnTo>
                  <a:pt x="3057481" y="369214"/>
                </a:lnTo>
                <a:lnTo>
                  <a:pt x="3216518" y="384095"/>
                </a:lnTo>
                <a:lnTo>
                  <a:pt x="3374736" y="406987"/>
                </a:lnTo>
                <a:lnTo>
                  <a:pt x="3526318" y="438741"/>
                </a:lnTo>
                <a:lnTo>
                  <a:pt x="3665209" y="479592"/>
                </a:lnTo>
                <a:lnTo>
                  <a:pt x="3785538" y="529131"/>
                </a:lnTo>
                <a:lnTo>
                  <a:pt x="3882040" y="586344"/>
                </a:lnTo>
                <a:lnTo>
                  <a:pt x="3950430" y="649678"/>
                </a:lnTo>
                <a:lnTo>
                  <a:pt x="3987715" y="717172"/>
                </a:lnTo>
                <a:lnTo>
                  <a:pt x="3992415" y="786596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73936" y="2212848"/>
            <a:ext cx="4498848" cy="3474720"/>
          </a:xfrm>
          <a:prstGeom prst="ellipse">
            <a:avLst/>
          </a:prstGeom>
          <a:noFill/>
          <a:ln w="25400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96312" y="3401568"/>
            <a:ext cx="1316736" cy="1316736"/>
          </a:xfrm>
          <a:prstGeom prst="ellipse">
            <a:avLst/>
          </a:prstGeom>
          <a:solidFill>
            <a:srgbClr val="C6E0B4"/>
          </a:solidFill>
          <a:ln w="25400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154680" y="4059936"/>
            <a:ext cx="658368" cy="0"/>
          </a:xfrm>
          <a:prstGeom prst="line">
            <a:avLst/>
          </a:prstGeom>
          <a:ln w="22225">
            <a:solidFill>
              <a:srgbClr val="5494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51760" y="4014216"/>
            <a:ext cx="100584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300" b="1" i="0">
                <a:solidFill>
                  <a:srgbClr val="549435"/>
                </a:solidFill>
                <a:latin typeface="맑은 고딕"/>
                <a:ea typeface="맑은 고딕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86000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SmallestCircle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745736"/>
            <a:ext cx="23774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49435"/>
                </a:solidFill>
                <a:latin typeface="맑은 고딕"/>
                <a:ea typeface="맑은 고딕"/>
              </a:rPr>
              <a:t>InnerCircle r = 두께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3317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예) 뭉친 이물: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 = 52, r = 18 → 통통함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예) 가는 크랙: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 = 90, r = 2.5 → 매우 얇음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InnerCircle 반경 = '불량의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가장 두꺼운 곳' — 겉 크기만으로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못 가르는 굵기를 잰다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InnerOuterRatio = r/R (p.17) — 1에 가까우면 둥근 덩어리, 0.1 이하면 가늘고 긴 크랙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InnerRect 최대 내접 사각형 (신규, Phase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Region 안에 들어가는 가장 큰 '축평행' 사각형 — L자·꺾인 형상에서 몸통을 찾아낸다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5288" y="1371600"/>
            <a:ext cx="89611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InnerRect = (Row1,Col1)~(Row2,Col2)      FillRatio = 내접사각형 면적 / BBox 면적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331720" y="2514600"/>
            <a:ext cx="3017520" cy="2606040"/>
          </a:xfrm>
          <a:custGeom>
            <a:avLst/>
            <a:gdLst/>
            <a:ahLst/>
            <a:cxnLst/>
            <a:rect l="l" t="t" r="r" b="b"/>
            <a:pathLst>
              <a:path w="3017520" h="2606040">
                <a:moveTo>
                  <a:pt x="0" y="0"/>
                </a:moveTo>
                <a:lnTo>
                  <a:pt x="1325880" y="0"/>
                </a:lnTo>
                <a:lnTo>
                  <a:pt x="1325880" y="1554480"/>
                </a:lnTo>
                <a:lnTo>
                  <a:pt x="3017520" y="1554480"/>
                </a:lnTo>
                <a:lnTo>
                  <a:pt x="3017520" y="2606040"/>
                </a:lnTo>
                <a:lnTo>
                  <a:pt x="0" y="2606040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58568" y="2441448"/>
            <a:ext cx="3163824" cy="2752344"/>
          </a:xfrm>
          <a:prstGeom prst="rect">
            <a:avLst/>
          </a:prstGeom>
          <a:noFill/>
          <a:ln w="19050">
            <a:solidFill>
              <a:srgbClr val="2E55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86584" y="2569464"/>
            <a:ext cx="1216152" cy="2496312"/>
          </a:xfrm>
          <a:prstGeom prst="rect">
            <a:avLst/>
          </a:prstGeom>
          <a:noFill/>
          <a:ln w="31750">
            <a:solidFill>
              <a:srgbClr val="5494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057400"/>
            <a:ext cx="237744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2E5597"/>
                </a:solidFill>
                <a:latin typeface="맑은 고딕"/>
                <a:ea typeface="맑은 고딕"/>
              </a:rPr>
              <a:t>BBox (전체 상자)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926080"/>
            <a:ext cx="2377440" cy="68580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549435"/>
                </a:solidFill>
                <a:latin typeface="맑은 고딕"/>
                <a:ea typeface="맑은 고딕"/>
              </a:rPr>
              <a:t>InnerRect =</a:t>
            </a:r>
          </a:p>
          <a:p>
            <a:pPr algn="l"/>
            <a:r>
              <a:rPr sz="1250" b="1" i="0">
                <a:solidFill>
                  <a:srgbClr val="549435"/>
                </a:solidFill>
                <a:latin typeface="맑은 고딕"/>
                <a:ea typeface="맑은 고딕"/>
              </a:rPr>
              <a:t>가장 큰 팔(몸통)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267712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FillRatio ≈ 0.35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317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완전한 사각형이면 내접사각형 =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자기 자신 → FillRatio = 1.0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L자·ㄷ자처럼 꺾이면 몸통만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잡혀 FillRatio 가 뚝 떨어진다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Rectangularity(회전 허용)와 달리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'축평행' 충실도를 잰다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— 히스토그램 스택 O(W·H) 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검증 완료: 정사각형 → 자기 자신(FillRatio ≈ 1), L자 → 큰 팔 일치.  꺾임/분기형 불량 감별에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AspectRatio 종횡비 · FillRatio 충진율 · InnerOuterRatio 내외접비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이미 구한 도형들에서 나오는 '공짜' 비율 3종 — 숫자 3개로 모양이 요약된다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768" y="1371600"/>
            <a:ext cx="10424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AspectRatio = Rect2 장변/단변     FillRatio = A / Rect2 면적     InnerOuterRatio = r내접 / R외접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0248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29016" y="2103120"/>
            <a:ext cx="3630168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74863" y="3095184"/>
            <a:ext cx="2703402" cy="1216272"/>
          </a:xfrm>
          <a:custGeom>
            <a:avLst/>
            <a:gdLst/>
            <a:ahLst/>
            <a:cxnLst/>
            <a:rect l="l" t="t" r="r" b="b"/>
            <a:pathLst>
              <a:path w="2703402" h="1216272">
                <a:moveTo>
                  <a:pt x="0" y="686326"/>
                </a:moveTo>
                <a:lnTo>
                  <a:pt x="2561403" y="0"/>
                </a:lnTo>
                <a:lnTo>
                  <a:pt x="2703402" y="529946"/>
                </a:lnTo>
                <a:lnTo>
                  <a:pt x="141999" y="1216272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945862" y="3927085"/>
            <a:ext cx="2561404" cy="686326"/>
          </a:xfrm>
          <a:prstGeom prst="line">
            <a:avLst/>
          </a:prstGeom>
          <a:ln w="22225">
            <a:solidFill>
              <a:srgbClr val="ED7D31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12164" y="4480560"/>
            <a:ext cx="1828800" cy="3200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250" b="1" i="0">
                <a:solidFill>
                  <a:srgbClr val="ED7D31"/>
                </a:solidFill>
                <a:latin typeface="맑은 고딕"/>
                <a:ea typeface="맑은 고딕"/>
              </a:rPr>
              <a:t>장변 8 : 단변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2249424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= 8.0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1.0 = 정사각/원형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클수록 길쭉 (크랙·띠)</a:t>
            </a:r>
          </a:p>
        </p:txBody>
      </p:sp>
      <p:sp>
        <p:nvSpPr>
          <p:cNvPr id="17" name="Freeform 16"/>
          <p:cNvSpPr/>
          <p:nvPr/>
        </p:nvSpPr>
        <p:spPr>
          <a:xfrm>
            <a:off x="4850892" y="2834640"/>
            <a:ext cx="2468880" cy="1737360"/>
          </a:xfrm>
          <a:custGeom>
            <a:avLst/>
            <a:gdLst/>
            <a:ahLst/>
            <a:cxnLst/>
            <a:rect l="l" t="t" r="r" b="b"/>
            <a:pathLst>
              <a:path w="2468880" h="1737360">
                <a:moveTo>
                  <a:pt x="0" y="0"/>
                </a:moveTo>
                <a:lnTo>
                  <a:pt x="2468880" y="0"/>
                </a:lnTo>
                <a:lnTo>
                  <a:pt x="2468880" y="1737360"/>
                </a:lnTo>
                <a:lnTo>
                  <a:pt x="0" y="1737360"/>
                </a:lnTo>
                <a:close/>
              </a:path>
            </a:pathLst>
          </a:custGeom>
          <a:noFill/>
          <a:ln w="222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45090" y="2825260"/>
            <a:ext cx="2550093" cy="1719414"/>
          </a:xfrm>
          <a:custGeom>
            <a:avLst/>
            <a:gdLst/>
            <a:ahLst/>
            <a:cxnLst/>
            <a:rect l="l" t="t" r="r" b="b"/>
            <a:pathLst>
              <a:path w="2550093" h="1719414">
                <a:moveTo>
                  <a:pt x="2513104" y="878060"/>
                </a:moveTo>
                <a:lnTo>
                  <a:pt x="2550093" y="939623"/>
                </a:lnTo>
                <a:lnTo>
                  <a:pt x="2534529" y="1000321"/>
                </a:lnTo>
                <a:lnTo>
                  <a:pt x="2468939" y="1053599"/>
                </a:lnTo>
                <a:lnTo>
                  <a:pt x="2367203" y="1095260"/>
                </a:lnTo>
                <a:lnTo>
                  <a:pt x="2250700" y="1125254"/>
                </a:lnTo>
                <a:lnTo>
                  <a:pt x="2142517" y="1148068"/>
                </a:lnTo>
                <a:lnTo>
                  <a:pt x="2061350" y="1171506"/>
                </a:lnTo>
                <a:lnTo>
                  <a:pt x="2016810" y="1204214"/>
                </a:lnTo>
                <a:lnTo>
                  <a:pt x="2007392" y="1252684"/>
                </a:lnTo>
                <a:lnTo>
                  <a:pt x="2021575" y="1318720"/>
                </a:lnTo>
                <a:lnTo>
                  <a:pt x="2041621" y="1398211"/>
                </a:lnTo>
                <a:lnTo>
                  <a:pt x="2048882" y="1481692"/>
                </a:lnTo>
                <a:lnTo>
                  <a:pt x="2029019" y="1556636"/>
                </a:lnTo>
                <a:lnTo>
                  <a:pt x="1975640" y="1610866"/>
                </a:lnTo>
                <a:lnTo>
                  <a:pt x="1891398" y="1636114"/>
                </a:lnTo>
                <a:lnTo>
                  <a:pt x="1786366" y="1630658"/>
                </a:lnTo>
                <a:lnTo>
                  <a:pt x="1674337" y="1600213"/>
                </a:lnTo>
                <a:lnTo>
                  <a:pt x="1568320" y="1556724"/>
                </a:lnTo>
                <a:lnTo>
                  <a:pt x="1476642" y="1515341"/>
                </a:lnTo>
                <a:lnTo>
                  <a:pt x="1400879" y="1490382"/>
                </a:lnTo>
                <a:lnTo>
                  <a:pt x="1336153" y="1491401"/>
                </a:lnTo>
                <a:lnTo>
                  <a:pt x="1273620" y="1520496"/>
                </a:lnTo>
                <a:lnTo>
                  <a:pt x="1204208" y="1571618"/>
                </a:lnTo>
                <a:lnTo>
                  <a:pt x="1122328" y="1632110"/>
                </a:lnTo>
                <a:lnTo>
                  <a:pt x="1028272" y="1686056"/>
                </a:lnTo>
                <a:lnTo>
                  <a:pt x="928477" y="1718508"/>
                </a:lnTo>
                <a:lnTo>
                  <a:pt x="833517" y="1719414"/>
                </a:lnTo>
                <a:lnTo>
                  <a:pt x="754486" y="1686155"/>
                </a:lnTo>
                <a:lnTo>
                  <a:pt x="698931" y="1624026"/>
                </a:lnTo>
                <a:lnTo>
                  <a:pt x="667733" y="1544556"/>
                </a:lnTo>
                <a:lnTo>
                  <a:pt x="654029" y="1462207"/>
                </a:lnTo>
                <a:lnTo>
                  <a:pt x="644673" y="1390421"/>
                </a:lnTo>
                <a:lnTo>
                  <a:pt x="623903" y="1338143"/>
                </a:lnTo>
                <a:lnTo>
                  <a:pt x="578184" y="1307781"/>
                </a:lnTo>
                <a:lnTo>
                  <a:pt x="500756" y="1295119"/>
                </a:lnTo>
                <a:lnTo>
                  <a:pt x="394445" y="1291090"/>
                </a:lnTo>
                <a:lnTo>
                  <a:pt x="271764" y="1284815"/>
                </a:lnTo>
                <a:lnTo>
                  <a:pt x="152130" y="1266928"/>
                </a:lnTo>
                <a:lnTo>
                  <a:pt x="56857" y="1232190"/>
                </a:lnTo>
                <a:lnTo>
                  <a:pt x="3329" y="1180653"/>
                </a:lnTo>
                <a:lnTo>
                  <a:pt x="0" y="1117092"/>
                </a:lnTo>
                <a:lnTo>
                  <a:pt x="43710" y="1049004"/>
                </a:lnTo>
                <a:lnTo>
                  <a:pt x="120158" y="983865"/>
                </a:lnTo>
                <a:lnTo>
                  <a:pt x="207478" y="926600"/>
                </a:lnTo>
                <a:lnTo>
                  <a:pt x="281968" y="878060"/>
                </a:lnTo>
                <a:lnTo>
                  <a:pt x="324392" y="835015"/>
                </a:lnTo>
                <a:lnTo>
                  <a:pt x="325106" y="791615"/>
                </a:lnTo>
                <a:lnTo>
                  <a:pt x="286558" y="741811"/>
                </a:lnTo>
                <a:lnTo>
                  <a:pt x="222497" y="681909"/>
                </a:lnTo>
                <a:lnTo>
                  <a:pt x="154118" y="612355"/>
                </a:lnTo>
                <a:lnTo>
                  <a:pt x="104273" y="538119"/>
                </a:lnTo>
                <a:lnTo>
                  <a:pt x="91374" y="467479"/>
                </a:lnTo>
                <a:lnTo>
                  <a:pt x="124700" y="409539"/>
                </a:lnTo>
                <a:lnTo>
                  <a:pt x="202365" y="371232"/>
                </a:lnTo>
                <a:lnTo>
                  <a:pt x="312425" y="354785"/>
                </a:lnTo>
                <a:lnTo>
                  <a:pt x="436676" y="356490"/>
                </a:lnTo>
                <a:lnTo>
                  <a:pt x="555961" y="367260"/>
                </a:lnTo>
                <a:lnTo>
                  <a:pt x="655394" y="374922"/>
                </a:lnTo>
                <a:lnTo>
                  <a:pt x="728004" y="367628"/>
                </a:lnTo>
                <a:lnTo>
                  <a:pt x="775830" y="337408"/>
                </a:lnTo>
                <a:lnTo>
                  <a:pt x="808300" y="282812"/>
                </a:lnTo>
                <a:lnTo>
                  <a:pt x="838539" y="209794"/>
                </a:lnTo>
                <a:lnTo>
                  <a:pt x="878861" y="130505"/>
                </a:lnTo>
                <a:lnTo>
                  <a:pt x="936882" y="60270"/>
                </a:lnTo>
                <a:lnTo>
                  <a:pt x="1013446" y="13548"/>
                </a:lnTo>
                <a:lnTo>
                  <a:pt x="1102936" y="0"/>
                </a:lnTo>
                <a:lnTo>
                  <a:pt x="1195754" y="21794"/>
                </a:lnTo>
                <a:lnTo>
                  <a:pt x="1282074" y="72915"/>
                </a:lnTo>
                <a:lnTo>
                  <a:pt x="1355545" y="140709"/>
                </a:lnTo>
                <a:lnTo>
                  <a:pt x="1415705" y="209222"/>
                </a:lnTo>
                <a:lnTo>
                  <a:pt x="1468237" y="263437"/>
                </a:lnTo>
                <a:lnTo>
                  <a:pt x="1522976" y="293194"/>
                </a:lnTo>
                <a:lnTo>
                  <a:pt x="1590284" y="295735"/>
                </a:lnTo>
                <a:lnTo>
                  <a:pt x="1676997" y="276180"/>
                </a:lnTo>
                <a:lnTo>
                  <a:pt x="1783301" y="245850"/>
                </a:lnTo>
                <a:lnTo>
                  <a:pt x="1901664" y="218969"/>
                </a:lnTo>
                <a:lnTo>
                  <a:pt x="2018297" y="208708"/>
                </a:lnTo>
                <a:lnTo>
                  <a:pt x="2116825" y="223711"/>
                </a:lnTo>
                <a:lnTo>
                  <a:pt x="2183129" y="266061"/>
                </a:lnTo>
                <a:lnTo>
                  <a:pt x="2209906" y="331184"/>
                </a:lnTo>
                <a:lnTo>
                  <a:pt x="2199472" y="409638"/>
                </a:lnTo>
                <a:lnTo>
                  <a:pt x="2163875" y="490140"/>
                </a:lnTo>
                <a:lnTo>
                  <a:pt x="2122106" y="562901"/>
                </a:lnTo>
                <a:lnTo>
                  <a:pt x="2095101" y="622242"/>
                </a:lnTo>
                <a:lnTo>
                  <a:pt x="2099911" y="667754"/>
                </a:lnTo>
                <a:lnTo>
                  <a:pt x="2144706" y="703742"/>
                </a:lnTo>
                <a:lnTo>
                  <a:pt x="2226090" y="737216"/>
                </a:lnTo>
                <a:lnTo>
                  <a:pt x="2329581" y="775159"/>
                </a:lnTo>
                <a:lnTo>
                  <a:pt x="2433179" y="821992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6" y="2249424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= 0.62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Rect2 안을 얼마나 채우나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1.0 = 꽉 참, 낮으면 성김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2560320"/>
            <a:ext cx="2286000" cy="2286000"/>
          </a:xfrm>
          <a:prstGeom prst="ellipse">
            <a:avLst/>
          </a:prstGeom>
          <a:noFill/>
          <a:ln w="22225">
            <a:solidFill>
              <a:srgbClr val="ED7D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97502" y="2953799"/>
            <a:ext cx="2293196" cy="1499042"/>
          </a:xfrm>
          <a:custGeom>
            <a:avLst/>
            <a:gdLst/>
            <a:ahLst/>
            <a:cxnLst/>
            <a:rect l="l" t="t" r="r" b="b"/>
            <a:pathLst>
              <a:path w="2293196" h="1499042">
                <a:moveTo>
                  <a:pt x="2293196" y="749521"/>
                </a:moveTo>
                <a:lnTo>
                  <a:pt x="2283832" y="801573"/>
                </a:lnTo>
                <a:lnTo>
                  <a:pt x="2258699" y="851824"/>
                </a:lnTo>
                <a:lnTo>
                  <a:pt x="2219596" y="898805"/>
                </a:lnTo>
                <a:lnTo>
                  <a:pt x="2169235" y="941458"/>
                </a:lnTo>
                <a:lnTo>
                  <a:pt x="2110942" y="979261"/>
                </a:lnTo>
                <a:lnTo>
                  <a:pt x="2048302" y="1012298"/>
                </a:lnTo>
                <a:lnTo>
                  <a:pt x="1984779" y="1041232"/>
                </a:lnTo>
                <a:lnTo>
                  <a:pt x="1923360" y="1067221"/>
                </a:lnTo>
                <a:lnTo>
                  <a:pt x="1866257" y="1091759"/>
                </a:lnTo>
                <a:lnTo>
                  <a:pt x="1814715" y="1116470"/>
                </a:lnTo>
                <a:lnTo>
                  <a:pt x="1768927" y="1142887"/>
                </a:lnTo>
                <a:lnTo>
                  <a:pt x="1728081" y="1172228"/>
                </a:lnTo>
                <a:lnTo>
                  <a:pt x="1690528" y="1205215"/>
                </a:lnTo>
                <a:lnTo>
                  <a:pt x="1654034" y="1241939"/>
                </a:lnTo>
                <a:lnTo>
                  <a:pt x="1616109" y="1281809"/>
                </a:lnTo>
                <a:lnTo>
                  <a:pt x="1574351" y="1323572"/>
                </a:lnTo>
                <a:lnTo>
                  <a:pt x="1526772" y="1365424"/>
                </a:lnTo>
                <a:lnTo>
                  <a:pt x="1472069" y="1405178"/>
                </a:lnTo>
                <a:lnTo>
                  <a:pt x="1409799" y="1440487"/>
                </a:lnTo>
                <a:lnTo>
                  <a:pt x="1340443" y="1469096"/>
                </a:lnTo>
                <a:lnTo>
                  <a:pt x="1265353" y="1489077"/>
                </a:lnTo>
                <a:lnTo>
                  <a:pt x="1186586" y="1499042"/>
                </a:lnTo>
                <a:lnTo>
                  <a:pt x="1106650" y="1498294"/>
                </a:lnTo>
                <a:lnTo>
                  <a:pt x="1028193" y="1486900"/>
                </a:lnTo>
                <a:lnTo>
                  <a:pt x="953671" y="1465688"/>
                </a:lnTo>
                <a:lnTo>
                  <a:pt x="885046" y="1436157"/>
                </a:lnTo>
                <a:lnTo>
                  <a:pt x="823544" y="1400309"/>
                </a:lnTo>
                <a:lnTo>
                  <a:pt x="769503" y="1360437"/>
                </a:lnTo>
                <a:lnTo>
                  <a:pt x="722343" y="1318878"/>
                </a:lnTo>
                <a:lnTo>
                  <a:pt x="680648" y="1277771"/>
                </a:lnTo>
                <a:lnTo>
                  <a:pt x="642356" y="1238839"/>
                </a:lnTo>
                <a:lnTo>
                  <a:pt x="605045" y="1203223"/>
                </a:lnTo>
                <a:lnTo>
                  <a:pt x="566259" y="1171397"/>
                </a:lnTo>
                <a:lnTo>
                  <a:pt x="523857" y="1143148"/>
                </a:lnTo>
                <a:lnTo>
                  <a:pt x="476326" y="1117654"/>
                </a:lnTo>
                <a:lnTo>
                  <a:pt x="423028" y="1093618"/>
                </a:lnTo>
                <a:lnTo>
                  <a:pt x="364341" y="1069469"/>
                </a:lnTo>
                <a:lnTo>
                  <a:pt x="301685" y="1043575"/>
                </a:lnTo>
                <a:lnTo>
                  <a:pt x="237423" y="1014475"/>
                </a:lnTo>
                <a:lnTo>
                  <a:pt x="174644" y="981074"/>
                </a:lnTo>
                <a:lnTo>
                  <a:pt x="116856" y="942791"/>
                </a:lnTo>
                <a:lnTo>
                  <a:pt x="67622" y="899637"/>
                </a:lnTo>
                <a:lnTo>
                  <a:pt x="30182" y="852221"/>
                </a:lnTo>
                <a:lnTo>
                  <a:pt x="7102" y="801676"/>
                </a:lnTo>
                <a:lnTo>
                  <a:pt x="0" y="749521"/>
                </a:lnTo>
                <a:lnTo>
                  <a:pt x="9364" y="697469"/>
                </a:lnTo>
                <a:lnTo>
                  <a:pt x="34497" y="647218"/>
                </a:lnTo>
                <a:lnTo>
                  <a:pt x="73600" y="600237"/>
                </a:lnTo>
                <a:lnTo>
                  <a:pt x="123961" y="557584"/>
                </a:lnTo>
                <a:lnTo>
                  <a:pt x="182254" y="519781"/>
                </a:lnTo>
                <a:lnTo>
                  <a:pt x="244894" y="486744"/>
                </a:lnTo>
                <a:lnTo>
                  <a:pt x="308417" y="457810"/>
                </a:lnTo>
                <a:lnTo>
                  <a:pt x="369836" y="431821"/>
                </a:lnTo>
                <a:lnTo>
                  <a:pt x="426939" y="407283"/>
                </a:lnTo>
                <a:lnTo>
                  <a:pt x="478481" y="382572"/>
                </a:lnTo>
                <a:lnTo>
                  <a:pt x="524269" y="356155"/>
                </a:lnTo>
                <a:lnTo>
                  <a:pt x="565115" y="326814"/>
                </a:lnTo>
                <a:lnTo>
                  <a:pt x="602668" y="293827"/>
                </a:lnTo>
                <a:lnTo>
                  <a:pt x="639162" y="257103"/>
                </a:lnTo>
                <a:lnTo>
                  <a:pt x="677087" y="217233"/>
                </a:lnTo>
                <a:lnTo>
                  <a:pt x="718845" y="175470"/>
                </a:lnTo>
                <a:lnTo>
                  <a:pt x="766424" y="133618"/>
                </a:lnTo>
                <a:lnTo>
                  <a:pt x="821127" y="93864"/>
                </a:lnTo>
                <a:lnTo>
                  <a:pt x="883397" y="58555"/>
                </a:lnTo>
                <a:lnTo>
                  <a:pt x="952753" y="29946"/>
                </a:lnTo>
                <a:lnTo>
                  <a:pt x="1027843" y="9965"/>
                </a:lnTo>
                <a:lnTo>
                  <a:pt x="1106610" y="0"/>
                </a:lnTo>
                <a:lnTo>
                  <a:pt x="1186546" y="748"/>
                </a:lnTo>
                <a:lnTo>
                  <a:pt x="1265003" y="12142"/>
                </a:lnTo>
                <a:lnTo>
                  <a:pt x="1339525" y="33354"/>
                </a:lnTo>
                <a:lnTo>
                  <a:pt x="1408150" y="62885"/>
                </a:lnTo>
                <a:lnTo>
                  <a:pt x="1469652" y="98733"/>
                </a:lnTo>
                <a:lnTo>
                  <a:pt x="1523693" y="138605"/>
                </a:lnTo>
                <a:lnTo>
                  <a:pt x="1570853" y="180164"/>
                </a:lnTo>
                <a:lnTo>
                  <a:pt x="1612548" y="221271"/>
                </a:lnTo>
                <a:lnTo>
                  <a:pt x="1650840" y="260203"/>
                </a:lnTo>
                <a:lnTo>
                  <a:pt x="1688151" y="295819"/>
                </a:lnTo>
                <a:lnTo>
                  <a:pt x="1726937" y="327645"/>
                </a:lnTo>
                <a:lnTo>
                  <a:pt x="1769339" y="355894"/>
                </a:lnTo>
                <a:lnTo>
                  <a:pt x="1816870" y="381388"/>
                </a:lnTo>
                <a:lnTo>
                  <a:pt x="1870168" y="405424"/>
                </a:lnTo>
                <a:lnTo>
                  <a:pt x="1928855" y="429573"/>
                </a:lnTo>
                <a:lnTo>
                  <a:pt x="1991511" y="455467"/>
                </a:lnTo>
                <a:lnTo>
                  <a:pt x="2055773" y="484567"/>
                </a:lnTo>
                <a:lnTo>
                  <a:pt x="2118552" y="517968"/>
                </a:lnTo>
                <a:lnTo>
                  <a:pt x="2176340" y="556251"/>
                </a:lnTo>
                <a:lnTo>
                  <a:pt x="2225574" y="599405"/>
                </a:lnTo>
                <a:lnTo>
                  <a:pt x="2263014" y="646821"/>
                </a:lnTo>
                <a:lnTo>
                  <a:pt x="2286094" y="697366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68028" y="3310128"/>
            <a:ext cx="877824" cy="877824"/>
          </a:xfrm>
          <a:prstGeom prst="ellipse">
            <a:avLst/>
          </a:prstGeom>
          <a:solidFill>
            <a:srgbClr val="C6E0B4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96144" y="2249424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= 0.38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5303520"/>
            <a:ext cx="3410712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내접원 ÷ 외접원 반지름</a:t>
            </a:r>
          </a:p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1.0 = 원, 0.05 = 가는 크랙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예) 원형 핀홀: 1.0 / 0.78 / 1.0   vs   크랙: 8.0 / 0.3 / 0.05 — 비율 3개만 봐도 모양이 그려진다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Connect·Holes·Euler 위상 — 기포 군집 vs 단일 핀홀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모양이 아니라 '조각 수와 구멍 수'를 센다 — Euler = 성분 수 − 구멍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1048" y="1371600"/>
            <a:ext cx="82296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Connect = 연결 성분 수     Holes = 구멍 수     Euler = Connect − Holes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5623560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103120"/>
            <a:ext cx="5623560" cy="324612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726698" y="2613283"/>
            <a:ext cx="3088090" cy="1886097"/>
          </a:xfrm>
          <a:custGeom>
            <a:avLst/>
            <a:gdLst/>
            <a:ahLst/>
            <a:cxnLst/>
            <a:rect l="l" t="t" r="r" b="b"/>
            <a:pathLst>
              <a:path w="3088090" h="1886097">
                <a:moveTo>
                  <a:pt x="3053854" y="907157"/>
                </a:moveTo>
                <a:lnTo>
                  <a:pt x="3082569" y="975086"/>
                </a:lnTo>
                <a:lnTo>
                  <a:pt x="3088090" y="1044158"/>
                </a:lnTo>
                <a:lnTo>
                  <a:pt x="3068517" y="1111811"/>
                </a:lnTo>
                <a:lnTo>
                  <a:pt x="3024589" y="1175527"/>
                </a:lnTo>
                <a:lnTo>
                  <a:pt x="2959544" y="1233302"/>
                </a:lnTo>
                <a:lnTo>
                  <a:pt x="2878594" y="1284041"/>
                </a:lnTo>
                <a:lnTo>
                  <a:pt x="2788108" y="1327778"/>
                </a:lnTo>
                <a:lnTo>
                  <a:pt x="2694637" y="1365699"/>
                </a:lnTo>
                <a:lnTo>
                  <a:pt x="2603935" y="1399946"/>
                </a:lnTo>
                <a:lnTo>
                  <a:pt x="2520151" y="1433229"/>
                </a:lnTo>
                <a:lnTo>
                  <a:pt x="2445308" y="1468325"/>
                </a:lnTo>
                <a:lnTo>
                  <a:pt x="2379150" y="1507537"/>
                </a:lnTo>
                <a:lnTo>
                  <a:pt x="2319377" y="1552215"/>
                </a:lnTo>
                <a:lnTo>
                  <a:pt x="2262213" y="1602421"/>
                </a:lnTo>
                <a:lnTo>
                  <a:pt x="2203191" y="1656806"/>
                </a:lnTo>
                <a:lnTo>
                  <a:pt x="2138036" y="1712728"/>
                </a:lnTo>
                <a:lnTo>
                  <a:pt x="2063468" y="1766581"/>
                </a:lnTo>
                <a:lnTo>
                  <a:pt x="1977792" y="1814314"/>
                </a:lnTo>
                <a:lnTo>
                  <a:pt x="1881189" y="1852032"/>
                </a:lnTo>
                <a:lnTo>
                  <a:pt x="1775644" y="1876593"/>
                </a:lnTo>
                <a:lnTo>
                  <a:pt x="1664547" y="1886097"/>
                </a:lnTo>
                <a:lnTo>
                  <a:pt x="1552038" y="1880198"/>
                </a:lnTo>
                <a:lnTo>
                  <a:pt x="1442228" y="1860161"/>
                </a:lnTo>
                <a:lnTo>
                  <a:pt x="1338429" y="1828684"/>
                </a:lnTo>
                <a:lnTo>
                  <a:pt x="1242555" y="1789490"/>
                </a:lnTo>
                <a:lnTo>
                  <a:pt x="1154788" y="1746760"/>
                </a:lnTo>
                <a:lnTo>
                  <a:pt x="1073583" y="1704507"/>
                </a:lnTo>
                <a:lnTo>
                  <a:pt x="996012" y="1665985"/>
                </a:lnTo>
                <a:lnTo>
                  <a:pt x="918389" y="1633233"/>
                </a:lnTo>
                <a:lnTo>
                  <a:pt x="837059" y="1606811"/>
                </a:lnTo>
                <a:lnTo>
                  <a:pt x="749215" y="1585799"/>
                </a:lnTo>
                <a:lnTo>
                  <a:pt x="653594" y="1568014"/>
                </a:lnTo>
                <a:lnTo>
                  <a:pt x="550908" y="1550438"/>
                </a:lnTo>
                <a:lnTo>
                  <a:pt x="443942" y="1529765"/>
                </a:lnTo>
                <a:lnTo>
                  <a:pt x="337280" y="1502968"/>
                </a:lnTo>
                <a:lnTo>
                  <a:pt x="236687" y="1467811"/>
                </a:lnTo>
                <a:lnTo>
                  <a:pt x="148268" y="1423193"/>
                </a:lnTo>
                <a:lnTo>
                  <a:pt x="77516" y="1369300"/>
                </a:lnTo>
                <a:lnTo>
                  <a:pt x="28427" y="1307521"/>
                </a:lnTo>
                <a:lnTo>
                  <a:pt x="2821" y="1240159"/>
                </a:lnTo>
                <a:lnTo>
                  <a:pt x="0" y="1170001"/>
                </a:lnTo>
                <a:lnTo>
                  <a:pt x="16799" y="1099809"/>
                </a:lnTo>
                <a:lnTo>
                  <a:pt x="48031" y="1031848"/>
                </a:lnTo>
                <a:lnTo>
                  <a:pt x="87259" y="967518"/>
                </a:lnTo>
                <a:lnTo>
                  <a:pt x="127774" y="907157"/>
                </a:lnTo>
                <a:lnTo>
                  <a:pt x="163616" y="850067"/>
                </a:lnTo>
                <a:lnTo>
                  <a:pt x="190486" y="794728"/>
                </a:lnTo>
                <a:lnTo>
                  <a:pt x="206379" y="739187"/>
                </a:lnTo>
                <a:lnTo>
                  <a:pt x="211861" y="681523"/>
                </a:lnTo>
                <a:lnTo>
                  <a:pt x="209928" y="620325"/>
                </a:lnTo>
                <a:lnTo>
                  <a:pt x="205487" y="555077"/>
                </a:lnTo>
                <a:lnTo>
                  <a:pt x="204533" y="486379"/>
                </a:lnTo>
                <a:lnTo>
                  <a:pt x="213181" y="415965"/>
                </a:lnTo>
                <a:lnTo>
                  <a:pt x="236687" y="346503"/>
                </a:lnTo>
                <a:lnTo>
                  <a:pt x="278644" y="281210"/>
                </a:lnTo>
                <a:lnTo>
                  <a:pt x="340462" y="223342"/>
                </a:lnTo>
                <a:lnTo>
                  <a:pt x="421220" y="175655"/>
                </a:lnTo>
                <a:lnTo>
                  <a:pt x="517903" y="139923"/>
                </a:lnTo>
                <a:lnTo>
                  <a:pt x="625970" y="116600"/>
                </a:lnTo>
                <a:lnTo>
                  <a:pt x="740151" y="104695"/>
                </a:lnTo>
                <a:lnTo>
                  <a:pt x="855327" y="101887"/>
                </a:lnTo>
                <a:lnTo>
                  <a:pt x="967339" y="104859"/>
                </a:lnTo>
                <a:lnTo>
                  <a:pt x="1073583" y="109807"/>
                </a:lnTo>
                <a:lnTo>
                  <a:pt x="1173306" y="113045"/>
                </a:lnTo>
                <a:lnTo>
                  <a:pt x="1267535" y="111597"/>
                </a:lnTo>
                <a:lnTo>
                  <a:pt x="1358688" y="103691"/>
                </a:lnTo>
                <a:lnTo>
                  <a:pt x="1449920" y="89065"/>
                </a:lnTo>
                <a:lnTo>
                  <a:pt x="1544347" y="69028"/>
                </a:lnTo>
                <a:lnTo>
                  <a:pt x="1644288" y="46278"/>
                </a:lnTo>
                <a:lnTo>
                  <a:pt x="1750664" y="24494"/>
                </a:lnTo>
                <a:lnTo>
                  <a:pt x="1862671" y="7772"/>
                </a:lnTo>
                <a:lnTo>
                  <a:pt x="1977792" y="0"/>
                </a:lnTo>
                <a:lnTo>
                  <a:pt x="2092141" y="4264"/>
                </a:lnTo>
                <a:lnTo>
                  <a:pt x="2201098" y="22392"/>
                </a:lnTo>
                <a:lnTo>
                  <a:pt x="2300099" y="54700"/>
                </a:lnTo>
                <a:lnTo>
                  <a:pt x="2385458" y="99978"/>
                </a:lnTo>
                <a:lnTo>
                  <a:pt x="2455069" y="155722"/>
                </a:lnTo>
                <a:lnTo>
                  <a:pt x="2508837" y="218556"/>
                </a:lnTo>
                <a:lnTo>
                  <a:pt x="2548788" y="284782"/>
                </a:lnTo>
                <a:lnTo>
                  <a:pt x="2578787" y="350949"/>
                </a:lnTo>
                <a:lnTo>
                  <a:pt x="2603935" y="414368"/>
                </a:lnTo>
                <a:lnTo>
                  <a:pt x="2629724" y="473459"/>
                </a:lnTo>
                <a:lnTo>
                  <a:pt x="2661092" y="527902"/>
                </a:lnTo>
                <a:lnTo>
                  <a:pt x="2701534" y="578558"/>
                </a:lnTo>
                <a:lnTo>
                  <a:pt x="2752437" y="627183"/>
                </a:lnTo>
                <a:lnTo>
                  <a:pt x="2812728" y="675997"/>
                </a:lnTo>
                <a:lnTo>
                  <a:pt x="2878937" y="727184"/>
                </a:lnTo>
                <a:lnTo>
                  <a:pt x="2945634" y="782419"/>
                </a:lnTo>
                <a:lnTo>
                  <a:pt x="3006211" y="842498"/>
                </a:lnTo>
                <a:close/>
              </a:path>
            </a:pathLst>
          </a:cu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82012" y="3177540"/>
            <a:ext cx="548640" cy="4663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354580" y="3273552"/>
            <a:ext cx="164592" cy="2743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491740" y="3273552"/>
            <a:ext cx="164592" cy="2743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28900" y="3273552"/>
            <a:ext cx="164592" cy="274320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96996" y="3405226"/>
            <a:ext cx="658368" cy="559613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391510" y="3520440"/>
            <a:ext cx="197510" cy="329184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528670" y="3520440"/>
            <a:ext cx="197510" cy="329184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665830" y="3520440"/>
            <a:ext cx="197510" cy="329184"/>
          </a:xfrm>
          <a:prstGeom prst="line">
            <a:avLst/>
          </a:prstGeom>
          <a:ln w="9525">
            <a:solidFill>
              <a:srgbClr val="ED7D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54680" y="2231136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ED7D31"/>
                </a:solidFill>
                <a:latin typeface="맑은 고딕"/>
                <a:ea typeface="맑은 고딕"/>
              </a:rPr>
              <a:t>1 − 2 → Euler = −1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617720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구멍 2개 = 기포 군집(껍질형) — Holes = 2</a:t>
            </a:r>
          </a:p>
        </p:txBody>
      </p:sp>
      <p:sp>
        <p:nvSpPr>
          <p:cNvPr id="22" name="Oval 21"/>
          <p:cNvSpPr/>
          <p:nvPr/>
        </p:nvSpPr>
        <p:spPr>
          <a:xfrm>
            <a:off x="8417052" y="2990088"/>
            <a:ext cx="1133856" cy="1060704"/>
          </a:xfrm>
          <a:prstGeom prst="ellipse">
            <a:avLst/>
          </a:prstGeom>
          <a:solidFill>
            <a:srgbClr val="C9D8F0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2231136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5494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50" b="1" i="0">
                <a:solidFill>
                  <a:srgbClr val="549435"/>
                </a:solidFill>
                <a:latin typeface="맑은 고딕"/>
                <a:ea typeface="맑은 고딕"/>
              </a:rPr>
              <a:t>1 − 0 → Euler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617720"/>
            <a:ext cx="5404104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ctr"/>
            <a:r>
              <a:rPr sz="1300" b="1" i="0">
                <a:solidFill>
                  <a:srgbClr val="595959"/>
                </a:solidFill>
                <a:latin typeface="맑은 고딕"/>
                <a:ea typeface="맑은 고딕"/>
              </a:rPr>
              <a:t>속이 꽉 찬 단일 핀홀 — Holes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32120"/>
            <a:ext cx="11375136" cy="548640"/>
          </a:xfrm>
          <a:prstGeom prst="roundRect">
            <a:avLst>
              <a:gd name="adj" fmla="val 300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250" b="1" i="0">
                <a:solidFill>
                  <a:srgbClr val="595959"/>
                </a:solidFill>
                <a:latin typeface="맑은 고딕"/>
                <a:ea typeface="맑은 고딕"/>
              </a:rPr>
              <a:t>함께 계산되는 Hu 모멘트 7종(hu[0..6]) — 크기·회전에 안 변하는 '모양 지문'. 룰 임계보다는 향후 AI 분류기의 입력 벡터용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룰 예: Euler &lt; 0 (구멍 존재) 이면 기포/링 불량, Euler = 1 이면 단일 핀홀 — 형상 계수로는 못 가르는 구분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NumRuns·KFactor·LFactor·MeanRunLength 런길이 통계 (신규)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런 = 한 행(Row)에서 연속으로 이어진 전경 픽셀 구간 — 행마다 몇 토막인지 센다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208" y="1371600"/>
            <a:ext cx="10241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500" b="1" i="0">
                <a:solidFill>
                  <a:srgbClr val="1F3864"/>
                </a:solidFill>
                <a:latin typeface="맑은 고딕"/>
                <a:ea typeface="맑은 고딕"/>
              </a:rPr>
              <a:t>KFactor = NumRuns/√Area     LFactor = NumRuns/높이     MeanRunLength = Area/NumRuns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722376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103120"/>
            <a:ext cx="3977640" cy="397764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2395728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5888" y="2395728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2633472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75888" y="2633472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2871216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75888" y="2871216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3108960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5888" y="3108960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346704"/>
            <a:ext cx="2377440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0" y="3584448"/>
            <a:ext cx="2377440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3822192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5888" y="3822192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4059936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75888" y="4059936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0" y="4297680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5888" y="4297680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4535424"/>
            <a:ext cx="713232" cy="237744"/>
          </a:xfrm>
          <a:prstGeom prst="rect">
            <a:avLst/>
          </a:prstGeom>
          <a:solidFill>
            <a:srgbClr val="9DC3E6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75888" y="4535424"/>
            <a:ext cx="713232" cy="237744"/>
          </a:xfrm>
          <a:prstGeom prst="rect">
            <a:avLst/>
          </a:prstGeom>
          <a:solidFill>
            <a:srgbClr val="C9D8F0"/>
          </a:solidFill>
          <a:ln w="6350">
            <a:solidFill>
              <a:srgbClr val="2E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414016"/>
            <a:ext cx="2377440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  <a:latin typeface="맑은 고딕"/>
                <a:ea typeface="맑은 고딕"/>
              </a:rPr>
              <a:t>← 이 행은 런 2개</a:t>
            </a:r>
          </a:p>
          <a:p>
            <a:pPr algn="l"/>
            <a:r>
              <a:rPr sz="1200" b="1" i="0">
                <a:solidFill>
                  <a:srgbClr val="ED7D31"/>
                </a:solidFill>
                <a:latin typeface="맑은 고딕"/>
                <a:ea typeface="맑은 고딕"/>
              </a:rPr>
              <a:t>(H자 양쪽 기둥)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00984"/>
            <a:ext cx="2377440" cy="5486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00" b="1" i="0">
                <a:solidFill>
                  <a:srgbClr val="549435"/>
                </a:solidFill>
                <a:latin typeface="맑은 고딕"/>
                <a:ea typeface="맑은 고딕"/>
              </a:rPr>
              <a:t>← 이 행은 런 1개</a:t>
            </a:r>
          </a:p>
          <a:p>
            <a:pPr algn="l"/>
            <a:r>
              <a:rPr sz="1200" b="1" i="0">
                <a:solidFill>
                  <a:srgbClr val="549435"/>
                </a:solidFill>
                <a:latin typeface="맑은 고딕"/>
                <a:ea typeface="맑은 고딕"/>
              </a:rPr>
              <a:t>(가로대)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882896"/>
            <a:ext cx="493776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맑은 고딕"/>
                <a:ea typeface="맑은 고딕"/>
              </a:rPr>
              <a:t>H자: NumRuns = 18, Area = 68 → KFactor = 2.2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331720"/>
            <a:ext cx="3657600" cy="329184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비교) 꽉 찬 정사각형 10×10: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NumRuns = 10 (행마다 1개)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KFactor = 10/√100 = 1.0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LFactor = 10/10 = 1.0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MeanRunLength = 100/10 = 10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매끈한 덩어리는 KFactor ≈ 1,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빗살·줄무늬는 행마다 토막나</a:t>
            </a:r>
          </a:p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맑은 고딕"/>
                <a:ea typeface="맑은 고딕"/>
              </a:rPr>
              <a:t>2~3 이상으로 커진다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빗살/찢김처럼 '토막난' 불량은 NumRuns·KFactor 급증 — Region이 런렝스로 저장돼 있어 계산 비용 거의 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4114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241280" cy="56692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맑은 고딕"/>
                <a:ea typeface="맑은 고딕"/>
              </a:rPr>
              <a:t>공정별 주력 특징값 매핑 — 어떤 불량을 어떤 값으로 가르나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01168"/>
            <a:ext cx="777240" cy="365760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r"/>
            <a:r>
              <a:rPr sz="1300" b="0" i="0">
                <a:solidFill>
                  <a:srgbClr val="BFBFB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11384280" cy="3840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1450" b="1" i="0">
                <a:solidFill>
                  <a:srgbClr val="2E5597"/>
                </a:solidFill>
                <a:latin typeface="맑은 고딕"/>
                <a:ea typeface="맑은 고딕"/>
              </a:rPr>
              <a:t>초기 가설 룰 — CSV 수집 데이터로 vMin/vMax와 임계를 현장 튜닝한다 (ScoreNormalizer 기본 테이블 내장)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93408"/>
            <a:ext cx="5486400" cy="155448"/>
          </a:xfrm>
          <a:prstGeom prst="rect">
            <a:avLst/>
          </a:prstGeom>
          <a:noFill/>
        </p:spPr>
        <p:txBody>
          <a:bodyPr wrap="square" anchor="t" lIns="27432" rIns="27432" tIns="13716" bIns="13716">
            <a:spAutoFit/>
          </a:bodyPr>
          <a:lstStyle/>
          <a:p>
            <a:pPr algn="l"/>
            <a:r>
              <a:rPr sz="850" b="0" i="0">
                <a:solidFill>
                  <a:srgbClr val="BFBFBF"/>
                </a:solidFill>
                <a:latin typeface="맑은 고딕"/>
                <a:ea typeface="맑은 고딕"/>
              </a:rPr>
              <a:t>GlimRegionFeatures — 특징값 한글 설명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81328"/>
          <a:ext cx="1137513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3063240"/>
                <a:gridCol w="456285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공정</a:t>
                      </a:r>
                    </a:p>
                  </a:txBody>
                  <a:tcPr anchor="ctr" marL="64008" marR="6400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대표 불량</a:t>
                      </a:r>
                    </a:p>
                  </a:txBody>
                  <a:tcPr anchor="ctr" marL="64008" marR="6400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주력 특징값</a:t>
                      </a:r>
                    </a:p>
                  </a:txBody>
                  <a:tcPr anchor="ctr" marL="64008" marR="6400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룰 감(예시 수치)</a:t>
                      </a:r>
                    </a:p>
                  </a:txBody>
                  <a:tcPr anchor="ctr" marL="64008" marR="64008"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코터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핀홀 · Tear · 기포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Circularity 원형도</a:t>
                      </a:r>
                    </a:p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Convexity 볼록도</a:t>
                      </a:r>
                    </a:p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Euler 위상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핀홀 = Circ ≥ 0.7, Area 20~2000</a:t>
                      </a:r>
                    </a:p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Tear = Conv ≤ 0.6</a:t>
                      </a:r>
                    </a:p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기포 군집 = Euler &lt; 0 (구멍 존재)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롤프레스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주름 · 크랙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Anisometry 길쭉함</a:t>
                      </a:r>
                    </a:p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Orientation 방향각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주름 = Aniso ≥ 5, |Ori| ≈ 0°(가로)</a:t>
                      </a:r>
                    </a:p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크랙 = Aniso ≥ 5 + InnerCircle r ≤ 3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슬리터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Burr(버)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Roundness 외곽 균일도</a:t>
                      </a:r>
                    </a:p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Sides 변 수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Burr = Roundness ≤ 0.9</a:t>
                      </a:r>
                    </a:p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(경계 톱니 → Sides ↑)</a:t>
                      </a:r>
                    </a:p>
                  </a:txBody>
                  <a:tcPr anchor="ctr" marL="64008" marR="64008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공통 1차 필터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노이즈 제거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Area 면적</a:t>
                      </a:r>
                    </a:p>
                    <a:p>
                      <a:r>
                        <a:rPr sz="1250" b="1" i="0">
                          <a:solidFill>
                            <a:srgbClr val="2E5597"/>
                          </a:solidFill>
                          <a:latin typeface="맑은 고딕"/>
                          <a:ea typeface="맑은 고딕"/>
                        </a:rPr>
                        <a:t>Diameter 최대 지름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Area ≥ 최소 크기(노이즈 컷)</a:t>
                      </a:r>
                    </a:p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</a:rPr>
                        <a:t>Diameter로 최대 길이 상한</a:t>
                      </a:r>
                    </a:p>
                  </a:txBody>
                  <a:tcPr anchor="ctr" marL="64008" marR="64008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6199632"/>
            <a:ext cx="11375136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300" b="1" i="0">
                <a:solidFill>
                  <a:srgbClr val="1A1A1A"/>
                </a:solidFill>
                <a:latin typeface="맑은 고딕"/>
                <a:ea typeface="맑은 고딕"/>
              </a:rPr>
              <a:t>특징값은 32종 전부 CSV로 떨어진다 — 현장 데이터가 쌓이면 이 표의 임계를 튜닝하고, Hu 벡터로 AI 분류까지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